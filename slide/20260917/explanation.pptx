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674a6c239647b2" /><Relationship Type="http://schemas.openxmlformats.org/officeDocument/2006/relationships/extended-properties" Target="/docProps/app.xml" Id="R45e89c45b77f46ad" /><Relationship Type="http://schemas.openxmlformats.org/officeDocument/2006/relationships/officeDocument" Target="/ppt/presentation.xml" Id="Rd1dbd2c668104c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efbb42c4954ae0"/>
  </p:sldMasterIdLst>
  <p:notesMasterIdLst>
    <p:notesMasterId xmlns:r="http://schemas.openxmlformats.org/officeDocument/2006/relationships" r:id="Rac9802798e6e4bb1"/>
  </p:notesMasterIdLst>
  <p:sldIdLst>
    <p:sldId xmlns:r="http://schemas.openxmlformats.org/officeDocument/2006/relationships" id="256" r:id="Rc89811f24d5f47a8"/>
    <p:sldId xmlns:r="http://schemas.openxmlformats.org/officeDocument/2006/relationships" id="257" r:id="R7e087082ad2249af"/>
    <p:sldId xmlns:r="http://schemas.openxmlformats.org/officeDocument/2006/relationships" id="258" r:id="R57c762e08b514ae6"/>
    <p:sldId xmlns:r="http://schemas.openxmlformats.org/officeDocument/2006/relationships" id="259" r:id="R0a85c6080eb84d86"/>
    <p:sldId xmlns:r="http://schemas.openxmlformats.org/officeDocument/2006/relationships" id="260" r:id="Rf5078ebc84fe4cbe"/>
    <p:sldId xmlns:r="http://schemas.openxmlformats.org/officeDocument/2006/relationships" id="261" r:id="R4540c980b2eb4043"/>
    <p:sldId xmlns:r="http://schemas.openxmlformats.org/officeDocument/2006/relationships" id="262" r:id="R59739588e1c24917"/>
    <p:sldId xmlns:r="http://schemas.openxmlformats.org/officeDocument/2006/relationships" id="263" r:id="Reebacb8a53d548f6"/>
    <p:sldId xmlns:r="http://schemas.openxmlformats.org/officeDocument/2006/relationships" id="264" r:id="Rcee0764318e8413c"/>
    <p:sldId xmlns:r="http://schemas.openxmlformats.org/officeDocument/2006/relationships" id="265" r:id="Rf7217bde410b40aa"/>
    <p:sldId xmlns:r="http://schemas.openxmlformats.org/officeDocument/2006/relationships" id="266" r:id="R5d3827056a154bde"/>
    <p:sldId xmlns:r="http://schemas.openxmlformats.org/officeDocument/2006/relationships" id="267" r:id="R6a2be514896749d8"/>
    <p:sldId xmlns:r="http://schemas.openxmlformats.org/officeDocument/2006/relationships" id="268" r:id="Rab54f013758e4073"/>
    <p:sldId xmlns:r="http://schemas.openxmlformats.org/officeDocument/2006/relationships" id="269" r:id="R465ff3b97cb1439d"/>
    <p:sldId xmlns:r="http://schemas.openxmlformats.org/officeDocument/2006/relationships" id="270" r:id="Rf57f8946f2694c4b"/>
    <p:sldId xmlns:r="http://schemas.openxmlformats.org/officeDocument/2006/relationships" id="271" r:id="R8a809e3fc3b64717"/>
    <p:sldId xmlns:r="http://schemas.openxmlformats.org/officeDocument/2006/relationships" id="272" r:id="R19dbf000d14348b9"/>
    <p:sldId xmlns:r="http://schemas.openxmlformats.org/officeDocument/2006/relationships" id="273" r:id="R57ed4d92c8b44d8c"/>
    <p:sldId xmlns:r="http://schemas.openxmlformats.org/officeDocument/2006/relationships" id="274" r:id="Rc2ddee3adea24ee9"/>
    <p:sldId xmlns:r="http://schemas.openxmlformats.org/officeDocument/2006/relationships" id="275" r:id="R16d645f5581a409a"/>
    <p:sldId xmlns:r="http://schemas.openxmlformats.org/officeDocument/2006/relationships" id="276" r:id="R82212e4b5548412b"/>
    <p:sldId xmlns:r="http://schemas.openxmlformats.org/officeDocument/2006/relationships" id="277" r:id="R1ba44ba5539a4771"/>
    <p:sldId xmlns:r="http://schemas.openxmlformats.org/officeDocument/2006/relationships" id="278" r:id="R7d81e8ee904147cc"/>
    <p:sldId xmlns:r="http://schemas.openxmlformats.org/officeDocument/2006/relationships" id="279" r:id="R7c453a072ce14c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efbb42c4954ae0" /><Relationship Type="http://schemas.openxmlformats.org/officeDocument/2006/relationships/theme" Target="/ppt/theme/theme1.xml" Id="Ra1273c5ea5f74f04" /><Relationship Type="http://schemas.openxmlformats.org/officeDocument/2006/relationships/notesMaster" Target="/ppt/notesMasters/notesMaster1.xml" Id="Rac9802798e6e4bb1" /><Relationship Type="http://schemas.openxmlformats.org/officeDocument/2006/relationships/presProps" Target="/ppt/presProps.xml" Id="R40ff5e05cac8440d" /><Relationship Type="http://schemas.openxmlformats.org/officeDocument/2006/relationships/viewProps" Target="/ppt/viewProps.xml" Id="R824fe6df91b14f26" /><Relationship Type="http://schemas.openxmlformats.org/officeDocument/2006/relationships/tableStyles" Target="/ppt/tableStyles.xml" Id="Rc8769f482a4d4f41" /><Relationship Type="http://schemas.openxmlformats.org/officeDocument/2006/relationships/slide" Target="/ppt/slides/slide1.xml" Id="Rc89811f24d5f47a8" /><Relationship Type="http://schemas.openxmlformats.org/officeDocument/2006/relationships/slide" Target="/ppt/slides/slide2.xml" Id="R7e087082ad2249af" /><Relationship Type="http://schemas.openxmlformats.org/officeDocument/2006/relationships/slide" Target="/ppt/slides/slide3.xml" Id="R57c762e08b514ae6" /><Relationship Type="http://schemas.openxmlformats.org/officeDocument/2006/relationships/slide" Target="/ppt/slides/slide4.xml" Id="R0a85c6080eb84d86" /><Relationship Type="http://schemas.openxmlformats.org/officeDocument/2006/relationships/slide" Target="/ppt/slides/slide5.xml" Id="Rf5078ebc84fe4cbe" /><Relationship Type="http://schemas.openxmlformats.org/officeDocument/2006/relationships/slide" Target="/ppt/slides/slide6.xml" Id="R4540c980b2eb4043" /><Relationship Type="http://schemas.openxmlformats.org/officeDocument/2006/relationships/slide" Target="/ppt/slides/slide7.xml" Id="R59739588e1c24917" /><Relationship Type="http://schemas.openxmlformats.org/officeDocument/2006/relationships/slide" Target="/ppt/slides/slide8.xml" Id="Reebacb8a53d548f6" /><Relationship Type="http://schemas.openxmlformats.org/officeDocument/2006/relationships/slide" Target="/ppt/slides/slide9.xml" Id="Rcee0764318e8413c" /><Relationship Type="http://schemas.openxmlformats.org/officeDocument/2006/relationships/slide" Target="/ppt/slides/slide10.xml" Id="Rf7217bde410b40aa" /><Relationship Type="http://schemas.openxmlformats.org/officeDocument/2006/relationships/slide" Target="/ppt/slides/slide11.xml" Id="R5d3827056a154bde" /><Relationship Type="http://schemas.openxmlformats.org/officeDocument/2006/relationships/slide" Target="/ppt/slides/slide12.xml" Id="R6a2be514896749d8" /><Relationship Type="http://schemas.openxmlformats.org/officeDocument/2006/relationships/slide" Target="/ppt/slides/slide13.xml" Id="Rab54f013758e4073" /><Relationship Type="http://schemas.openxmlformats.org/officeDocument/2006/relationships/slide" Target="/ppt/slides/slide14.xml" Id="R465ff3b97cb1439d" /><Relationship Type="http://schemas.openxmlformats.org/officeDocument/2006/relationships/slide" Target="/ppt/slides/slide15.xml" Id="Rf57f8946f2694c4b" /><Relationship Type="http://schemas.openxmlformats.org/officeDocument/2006/relationships/slide" Target="/ppt/slides/slide16.xml" Id="R8a809e3fc3b64717" /><Relationship Type="http://schemas.openxmlformats.org/officeDocument/2006/relationships/slide" Target="/ppt/slides/slide17.xml" Id="R19dbf000d14348b9" /><Relationship Type="http://schemas.openxmlformats.org/officeDocument/2006/relationships/slide" Target="/ppt/slides/slide18.xml" Id="R57ed4d92c8b44d8c" /><Relationship Type="http://schemas.openxmlformats.org/officeDocument/2006/relationships/slide" Target="/ppt/slides/slide19.xml" Id="Rc2ddee3adea24ee9" /><Relationship Type="http://schemas.openxmlformats.org/officeDocument/2006/relationships/slide" Target="/ppt/slides/slide20.xml" Id="R16d645f5581a409a" /><Relationship Type="http://schemas.openxmlformats.org/officeDocument/2006/relationships/slide" Target="/ppt/slides/slide21.xml" Id="R82212e4b5548412b" /><Relationship Type="http://schemas.openxmlformats.org/officeDocument/2006/relationships/slide" Target="/ppt/slides/slide22.xml" Id="R1ba44ba5539a4771" /><Relationship Type="http://schemas.openxmlformats.org/officeDocument/2006/relationships/slide" Target="/ppt/slides/slide23.xml" Id="R7d81e8ee904147cc" /><Relationship Type="http://schemas.openxmlformats.org/officeDocument/2006/relationships/slide" Target="/ppt/slides/slide24.xml" Id="R7c453a072ce14c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e35ca0070b341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6a4b772a984fc4" /><Relationship Type="http://schemas.openxmlformats.org/officeDocument/2006/relationships/notesMaster" Target="/ppt/notesMasters/notesMaster1.xml" Id="R9d0c8b9066484f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34927ecba04db8" /><Relationship Type="http://schemas.openxmlformats.org/officeDocument/2006/relationships/notesMaster" Target="/ppt/notesMasters/notesMaster1.xml" Id="R77effeb4dced4e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32e2e67f4243a0" /><Relationship Type="http://schemas.openxmlformats.org/officeDocument/2006/relationships/notesMaster" Target="/ppt/notesMasters/notesMaster1.xml" Id="R543c2e3c1e5640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535098be3c43fb" /><Relationship Type="http://schemas.openxmlformats.org/officeDocument/2006/relationships/notesMaster" Target="/ppt/notesMasters/notesMaster1.xml" Id="R0517579d210348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1f834225494af9" /><Relationship Type="http://schemas.openxmlformats.org/officeDocument/2006/relationships/notesMaster" Target="/ppt/notesMasters/notesMaster1.xml" Id="Ra4a7e52d231340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1b2a6348a7407e" /><Relationship Type="http://schemas.openxmlformats.org/officeDocument/2006/relationships/notesMaster" Target="/ppt/notesMasters/notesMaster1.xml" Id="Rb748001ffb2e41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3c26e067cb4e18" /><Relationship Type="http://schemas.openxmlformats.org/officeDocument/2006/relationships/notesMaster" Target="/ppt/notesMasters/notesMaster1.xml" Id="Rb9b54538f78045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108c64030b4f1f" /><Relationship Type="http://schemas.openxmlformats.org/officeDocument/2006/relationships/notesMaster" Target="/ppt/notesMasters/notesMaster1.xml" Id="R73195451593549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c13d6796f849ae" /><Relationship Type="http://schemas.openxmlformats.org/officeDocument/2006/relationships/notesMaster" Target="/ppt/notesMasters/notesMaster1.xml" Id="R62aac5e9fa5d4a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c4978aaee44ff9" /><Relationship Type="http://schemas.openxmlformats.org/officeDocument/2006/relationships/notesMaster" Target="/ppt/notesMasters/notesMaster1.xml" Id="R54c52df926654b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a796a4494e43a0" /><Relationship Type="http://schemas.openxmlformats.org/officeDocument/2006/relationships/notesMaster" Target="/ppt/notesMasters/notesMaster1.xml" Id="R4cc79b0e11dc43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033fd968334d37" /><Relationship Type="http://schemas.openxmlformats.org/officeDocument/2006/relationships/notesMaster" Target="/ppt/notesMasters/notesMaster1.xml" Id="R84eb1dbc713e44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e1ae21299d40b2" /><Relationship Type="http://schemas.openxmlformats.org/officeDocument/2006/relationships/notesMaster" Target="/ppt/notesMasters/notesMaster1.xml" Id="Rbf0d165402124d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9f46ecefe04188" /><Relationship Type="http://schemas.openxmlformats.org/officeDocument/2006/relationships/notesMaster" Target="/ppt/notesMasters/notesMaster1.xml" Id="R908e0b11f4ce46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3b83df488145e2" /><Relationship Type="http://schemas.openxmlformats.org/officeDocument/2006/relationships/notesMaster" Target="/ppt/notesMasters/notesMaster1.xml" Id="Rf144c34e39894b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8afe26a64e4286" /><Relationship Type="http://schemas.openxmlformats.org/officeDocument/2006/relationships/notesMaster" Target="/ppt/notesMasters/notesMaster1.xml" Id="R96262bd0466e40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73b0d58a70a4b4f" /><Relationship Type="http://schemas.openxmlformats.org/officeDocument/2006/relationships/notesMaster" Target="/ppt/notesMasters/notesMaster1.xml" Id="Rca22b07ef74841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402cffc1194445" /><Relationship Type="http://schemas.openxmlformats.org/officeDocument/2006/relationships/notesMaster" Target="/ppt/notesMasters/notesMaster1.xml" Id="R2fb16adf2a1c438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5a647f090524f9e" /><Relationship Type="http://schemas.openxmlformats.org/officeDocument/2006/relationships/notesMaster" Target="/ppt/notesMasters/notesMaster1.xml" Id="R3e41b420e0514b2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15ffb690eb64dda" /><Relationship Type="http://schemas.openxmlformats.org/officeDocument/2006/relationships/notesMaster" Target="/ppt/notesMasters/notesMaster1.xml" Id="R60380ca140ed4a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3c73421e19b4a8c" /><Relationship Type="http://schemas.openxmlformats.org/officeDocument/2006/relationships/notesMaster" Target="/ppt/notesMasters/notesMaster1.xml" Id="R9f4ad0392ef446d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97f98218084a4f" /><Relationship Type="http://schemas.openxmlformats.org/officeDocument/2006/relationships/notesMaster" Target="/ppt/notesMasters/notesMaster1.xml" Id="R697c9d682521492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ae25576bdc54c33" /><Relationship Type="http://schemas.openxmlformats.org/officeDocument/2006/relationships/notesMaster" Target="/ppt/notesMasters/notesMaster1.xml" Id="Rf659367b30944dd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7fafd3dbf434d26" /><Relationship Type="http://schemas.openxmlformats.org/officeDocument/2006/relationships/notesMaster" Target="/ppt/notesMasters/notesMaster1.xml" Id="R161fc88f27964d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縦断図から、照査に使う値を取り出す</a:t>
            </a:r>
          </a:p>
          <a:p xmlns:a="http://schemas.openxmlformats.org/drawingml/2006/main">
            <a:r>
              <a:t>縦断図DXF → 抽出処理 → 幾何構造表（一般道）Excel</a:t>
            </a:r>
          </a:p>
          <a:p xmlns:a="http://schemas.openxmlformats.org/drawingml/2006/main">
            <a:r>
              <a:t>根拠: 現行ソース確認：2026-09-17。現行Pythonソースと同梱テンプレートの確認に基づく。図解・数値例は説明用。実図での正確性を保証しない。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抽出・転記はツール、照査の結論は人が担う</a:t>
            </a:r>
          </a:p>
          <a:p xmlns:a="http://schemas.openxmlformats.org/drawingml/2006/main">
            <a:r>
              <a:t>ExcelのOK/NGはテンプレート数式の参考判定です。</a:t>
            </a:r>
          </a:p>
          <a:p xmlns:a="http://schemas.openxmlformats.org/drawingml/2006/main">
            <a:r>
              <a:t>根拠: 出典：メイン／Excelテンプレート。現行Pythonソースと同梱テンプレートの確認に基づく。図解・数値例は説明用。実図での正確性を保証しない。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探す・選ぶ・転記する、3つの作業を自動化</a:t>
            </a:r>
          </a:p>
          <a:p xmlns:a="http://schemas.openxmlformats.org/drawingml/2006/main">
            <a:r>
              <a:t>図面の文字と位置関係を、決められた規則で読み取ります。数値は説明用の例です。</a:t>
            </a:r>
          </a:p>
          <a:p xmlns:a="http://schemas.openxmlformats.org/drawingml/2006/main">
            <a:r>
              <a:t>根拠: 出典：メイン process_single_dxf。現行Pythonソースと同梱テンプレートの確認に基づく。図解・数値例は説明用。実図での正確性を保証しない。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日常操作は、配置 → 実行 → 結果確認</a:t>
            </a:r>
          </a:p>
          <a:p xmlns:a="http://schemas.openxmlformats.org/drawingml/2006/main">
            <a:r>
              <a:t>input直下のDXFをまとめて処理し、DXFごとのExcelを作成します。</a:t>
            </a:r>
          </a:p>
          <a:p xmlns:a="http://schemas.openxmlformats.org/drawingml/2006/main">
            <a:r>
              <a:t>根拠: 出典：メイン proc／README。現行Pythonソースと同梱テンプレートの確認に基づく。図解・数値例は説明用。実図での正確性を保証しない。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文字と線を整えてから、4系統の値を抽出する</a:t>
            </a:r>
          </a:p>
          <a:p xmlns:a="http://schemas.openxmlformats.org/drawingml/2006/main">
            <a:r>
              <a:t>処理順は現行コードに対応。図面倍率を自動補正する工程はありません。</a:t>
            </a:r>
          </a:p>
          <a:p xmlns:a="http://schemas.openxmlformats.org/drawingml/2006/main">
            <a:r>
              <a:t>根拠: 出典：メイン L467–532。現行Pythonソースと同梱テンプレートの確認に基づく。図解・数値例は説明用。実図での正確性を保証しない。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読むのは、図面内部の文字・線・レイヤー</a:t>
            </a:r>
          </a:p>
          <a:p xmlns:a="http://schemas.openxmlformats.org/drawingml/2006/main">
            <a:r>
              <a:t>モデル空間を処理します。下図と数値は説明用の概念・例です。</a:t>
            </a:r>
          </a:p>
          <a:p xmlns:a="http://schemas.openxmlformats.org/drawingml/2006/main">
            <a:r>
              <a:t>根拠: 出典：polyline_to_line_keep_others／sanitize_dxf_text。現行Pythonソースと同梱テンプレートの確認に基づく。図解・数値例は説明用。実図での正確性を保証しない。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帯タイトルの上下にある罫線で、読む高さを決める</a:t>
            </a:r>
          </a:p>
          <a:p xmlns:a="http://schemas.openxmlformats.org/drawingml/2006/main">
            <a:r>
              <a:t>文字の挿入点Y座標で帯内を判定します。文字枠全体の収まり判定ではありません。</a:t>
            </a:r>
          </a:p>
          <a:p xmlns:a="http://schemas.openxmlformats.org/drawingml/2006/main">
            <a:r>
              <a:t>根拠: 出典：find_belt_edges_by_text／belt_utils。現行Pythonソースと同梱テンプレートの確認に基づく。図解・数値例は説明用。実図での正確性を保証しない。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R・A・Lの表記を拾い、X位置で組にする</a:t>
            </a:r>
          </a:p>
          <a:p xmlns:a="http://schemas.openxmlformats.org/drawingml/2006/main">
            <a:r>
              <a:t>接頭辞と数値化、件数、位置の順に確認します。数値は説明用の例です。</a:t>
            </a:r>
          </a:p>
          <a:p xmlns:a="http://schemas.openxmlformats.org/drawingml/2006/main">
            <a:r>
              <a:t>根拠: 出典：get_curvature L66–87,224–271,704–773。現行Pythonソースと同梱テンプレートの確認に基づく。図解・数値例は説明用。実図での正確性を保証しない。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取得元は、平面線形・片勾配・縦断線形の3系統</a:t>
            </a:r>
          </a:p>
          <a:p xmlns:a="http://schemas.openxmlformats.org/drawingml/2006/main">
            <a:r>
              <a:t>同じ「R=」でも、指定レイヤーと処理が異なります。</a:t>
            </a:r>
          </a:p>
          <a:p xmlns:a="http://schemas.openxmlformats.org/drawingml/2006/main">
            <a:r>
              <a:t>根拠: 出典：controller／各抽出モジュール。現行Pythonソースと同梱テンプレートの確認に基づく。図解・数値例は説明用。実図での正確性を保証しない。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対応付けたRとLから、最小値を選ぶ</a:t>
            </a:r>
          </a:p>
          <a:p xmlns:a="http://schemas.openxmlformats.org/drawingml/2006/main">
            <a:r>
              <a:t>緩和曲線の省略欄は、Aの並びから候補を選びます。法的な省略可否の判断ではありません。</a:t>
            </a:r>
          </a:p>
          <a:p xmlns:a="http://schemas.openxmlformats.org/drawingml/2006/main">
            <a:r>
              <a:t>根拠: 出典：get_curvature L395–502。現行Pythonソースと同梱テンプレートの確認に基づく。図解・数値例は説明用。実図での正確性を保証しない。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曲線長は、80km/h未満・以上の2区分を計算する</a:t>
            </a:r>
          </a:p>
          <a:p xmlns:a="http://schemas.openxmlformats.org/drawingml/2006/main">
            <a:r>
              <a:t>設計速度をDXFから選ぶ処理はありません。以下は同方向A–R–Rの説明用例です。</a:t>
            </a:r>
          </a:p>
          <a:p xmlns:a="http://schemas.openxmlformats.org/drawingml/2006/main">
            <a:r>
              <a:t>根拠: 出典：get_curvature L543–659／テンプレート U11。現行Pythonソースと同梱テンプレートの確認に基づく。図解・数値例は説明用。実図での正確性を保証しない。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片勾配摺付率は、帯内の分数を比較して選ぶ</a:t>
            </a:r>
          </a:p>
          <a:p xmlns:a="http://schemas.openxmlformats.org/drawingml/2006/main">
            <a:r>
              <a:t>図形の傾きや延長から率を新たに計算する処理ではありません。</a:t>
            </a:r>
          </a:p>
          <a:p xmlns:a="http://schemas.openxmlformats.org/drawingml/2006/main">
            <a:r>
              <a:t>根拠: 出典：get_superelevation_runoff_rate L31–109。現行Pythonソースと同梱テンプレートの確認に基づく。図解・数値例は説明用。実図での正確性を保証しない。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最急縦断勾配は、i=の数値を比較する</a:t>
            </a:r>
          </a:p>
          <a:p xmlns:a="http://schemas.openxmlformats.org/drawingml/2006/main">
            <a:r>
              <a:t>%がなければ100倍。現行処理は符号付きの最大値を選びます。</a:t>
            </a:r>
          </a:p>
          <a:p xmlns:a="http://schemas.openxmlformats.org/drawingml/2006/main">
            <a:r>
              <a:t>根拠: 出典：get_slope L43–85,126–140。現行Pythonソースと同梱テンプレートの確認に基づく。図解・数値例は説明用。実図での正確性を保証しない。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半径文字を挟む勾配の大小で、凸・凹を分ける</a:t>
            </a:r>
          </a:p>
          <a:p xmlns:a="http://schemas.openxmlformats.org/drawingml/2006/main">
            <a:r>
              <a:t>図と数値は説明用の例。VCR/RはX位置で分類し、VCLは指定レイヤー内の最小値を採用します。</a:t>
            </a:r>
          </a:p>
          <a:p xmlns:a="http://schemas.openxmlformats.org/drawingml/2006/main">
            <a:r>
              <a:t>根拠: 出典：get_vertical_curve／get_slope。現行Pythonソースと同梱テンプレートの確認に基づく。図解・数値例は説明用。実図での正確性を保証しない。</a:t>
            </a:r>
          </a:p>
          <a:p xmlns:a="http://schemas.openxmlformats.org/drawingml/2006/main">
            <a:r>
              <a:t>凸凹分類時だけ、勾配文字の回転角が270°超・360°未満なら符号を反転する。VCRとVCLはD-STR-DIM/D-STR-HTXTのY全域から取得。VCLは凸凹に分類せず最小。縦断勾配2段の場合は取得制約あり。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「-」はゼロでも、合格でもない</a:t>
            </a:r>
          </a:p>
          <a:p xmlns:a="http://schemas.openxmlformats.org/drawingml/2006/main">
            <a:r>
              <a:t>同じ記号が「固定の未対応」と「抽出できなかった値」の両方に使われます。</a:t>
            </a:r>
          </a:p>
          <a:p xmlns:a="http://schemas.openxmlformats.org/drawingml/2006/main">
            <a:r>
              <a:t>根拠: 出典：メイン L494–532／各数値変換関数。現行Pythonソースと同梱テンプレートの確認に基づく。図解・数値例は説明用。実図での正確性を保証しない。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15欄へ転記し、既存の帳票数式へ引き継ぐ</a:t>
            </a:r>
          </a:p>
          <a:p xmlns:a="http://schemas.openxmlformats.org/drawingml/2006/main">
            <a:r>
              <a:t>テンプレートの「使用値」A1:B15を更新します。数式の再計算はExcel側で確認します。</a:t>
            </a:r>
          </a:p>
          <a:p xmlns:a="http://schemas.openxmlformats.org/drawingml/2006/main">
            <a:r>
              <a:t>根拠: 出典：メイン L632–647／テンプレートXML。現行Pythonソースと同梱テンプレートの確認に基づく。図解・数値例は説明用。実図での正確性を保証しない。</a:t>
            </a:r>
          </a:p>
          <a:p xmlns:a="http://schemas.openxmlformats.org/drawingml/2006/main">
            <a:r>
              <a:t>同梱テンプレート初期値はN1=50、Z1=0。U11=IF(N1&lt;80,使用値!B4,使用値!B5)。判定式例Y6=IF(U6&lt;I7,"NG","OK")。欠損を統一的に非判定へする保護はない。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Excel保存の成功は、全項目の取得成功を意味しない</a:t>
            </a:r>
          </a:p>
          <a:p xmlns:a="http://schemas.openxmlformats.org/drawingml/2006/main">
            <a:r>
              <a:t>取得値が「-」でも、Excelを保存してDXFをusedへ移す場合があります。</a:t>
            </a:r>
          </a:p>
          <a:p xmlns:a="http://schemas.openxmlformats.org/drawingml/2006/main">
            <a:r>
              <a:t>根拠: 出典：メイン L597–657／合成入力検証。現行Pythonソースと同梱テンプレートの確認に基づく。図解・数値例は説明用。実図での正確性を保証しない。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複合曲線と2段の縦断図は、元図で重点確認する</a:t>
            </a:r>
          </a:p>
          <a:p xmlns:a="http://schemas.openxmlformats.org/drawingml/2006/main">
            <a:r>
              <a:t>現行実装で確認した注意点です。数値は説明用の合成入力で、現場の実測値ではありません。</a:t>
            </a:r>
          </a:p>
          <a:p xmlns:a="http://schemas.openxmlformats.org/drawingml/2006/main">
            <a:r>
              <a:t>根拠: 出典：get_curvature L602–650／README／合成入力検証。現行Pythonソースと同梱テンプレートの確認に基づく。図解・数値例は説明用。実図での正確性を保証しない。</a:t>
            </a:r>
          </a:p>
          <a:p xmlns:a="http://schemas.openxmlformats.org/drawingml/2006/main">
            <a:r>
              <a:t>A-R-Aの合成例はL=[30,80,40]で80/80。A-R-A-R-AはR/A値=[80,100,80,200,90]、L=[30,80,40,100,50]で440/440。正しい計算例ではなく実装上の制約として提示。今回の資料制作ではコード変更しない。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確認したのは、合成入力に対する現行の挙動</a:t>
            </a:r>
          </a:p>
          <a:p xmlns:a="http://schemas.openxmlformats.org/drawingml/2006/main">
            <a:r>
              <a:t>実図サンプルによる精度検証とは分けて扱います。</a:t>
            </a:r>
          </a:p>
          <a:p xmlns:a="http://schemas.openxmlformats.org/drawingml/2006/main">
            <a:r>
              <a:t>根拠: 出典：今回の合成入力検証記録（2026-09-17）。現行Pythonソースと同梱テンプレートの確認に基づく。図解・数値例は説明用。実図での正確性を保証しない。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元図・使用値・設計条件を照合して、照査を完了する</a:t>
            </a:r>
          </a:p>
          <a:p xmlns:a="http://schemas.openxmlformats.org/drawingml/2006/main">
            <a:r>
              <a:t>帳票のOK表示だけで、確認を終えないでください。</a:t>
            </a:r>
          </a:p>
          <a:p xmlns:a="http://schemas.openxmlformats.org/drawingml/2006/main">
            <a:r>
              <a:t>根拠: 出典：実装・テンプレートの確認事項から整理。現行Pythonソースと同梱テンプレートの確認に基づく。図解・数値例は説明用。実図での正確性を保証しない。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付録：読み取りに必要なDXFの条件</a:t>
            </a:r>
          </a:p>
          <a:p xmlns:a="http://schemas.openxmlformats.org/drawingml/2006/main">
            <a:r>
              <a:t>現在のcontroller.py設定。表記やレイヤーが異なる場合は、管理担当者へ確認します。</a:t>
            </a:r>
          </a:p>
          <a:p xmlns:a="http://schemas.openxmlformats.org/drawingml/2006/main">
            <a:r>
              <a:t>根拠: 出典：controller／README／前処理モジュール。現行Pythonソースと同梱テンプレートの確認に基づく。図解・数値例は説明用。実図での正確性を保証しない。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付録：15欄の取得元と採用規則 ①</a:t>
            </a:r>
          </a:p>
          <a:p xmlns:a="http://schemas.openxmlformats.org/drawingml/2006/main">
            <a:r>
              <a:t>B1〜B8。「使用値」シートへ入る値の一覧です。</a:t>
            </a:r>
          </a:p>
          <a:p xmlns:a="http://schemas.openxmlformats.org/drawingml/2006/main">
            <a:r>
              <a:t>根拠: 出典：メイン L518–532／各抽出モジュール。現行Pythonソースと同梱テンプレートの確認に基づく。図解・数値例は説明用。実図での正確性を保証しない。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付録：15欄の取得元と採用規則 ②</a:t>
            </a:r>
          </a:p>
          <a:p xmlns:a="http://schemas.openxmlformats.org/drawingml/2006/main">
            <a:r>
              <a:t>B9〜B15。固定の「-」は、今回の実装で値を取得しない欄です。</a:t>
            </a:r>
          </a:p>
          <a:p xmlns:a="http://schemas.openxmlformats.org/drawingml/2006/main">
            <a:r>
              <a:t>根拠: 出典：メイン L494–532／get_vertical_curve。現行Pythonソースと同梱テンプレートの確認に基づく。図解・数値例は説明用。実図での正確性を保証しない。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付録：未取得・異常時は、元図と記録をそろえる</a:t>
            </a:r>
          </a:p>
          <a:p xmlns:a="http://schemas.openxmlformats.org/drawingml/2006/main">
            <a:r>
              <a:t>図面・帳票・ログはローカルで保管し、組織内の管理担当者へ引き継ぎます。</a:t>
            </a:r>
          </a:p>
          <a:p xmlns:a="http://schemas.openxmlformats.org/drawingml/2006/main">
            <a:r>
              <a:t>根拠: 出典：README エラー対応／メインのログ・保存処理。現行Pythonソースと同梱テンプレートの確認に基づく。図解・数値例は説明用。実図での正確性を保証しない。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4d52b4b29475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4c918b23154402d" /><Relationship Type="http://schemas.openxmlformats.org/officeDocument/2006/relationships/slideLayout" Target="/ppt/slideLayouts/slideLayout2.xml" Id="R7ffd2e097b604a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fd2e097b604a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2091f189e24a86" /><Relationship Type="http://schemas.openxmlformats.org/officeDocument/2006/relationships/notesSlide" Target="/ppt/notesSlides/notesSlide1.xml" Id="R275b83f3d77b4c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b7743431b74946" /><Relationship Type="http://schemas.openxmlformats.org/officeDocument/2006/relationships/notesSlide" Target="/ppt/notesSlides/notesSlide2.xml" Id="Racf91e932ea24d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924f40f8db465f" /><Relationship Type="http://schemas.openxmlformats.org/officeDocument/2006/relationships/notesSlide" Target="/ppt/notesSlides/notesSlide3.xml" Id="R16b0e67cd4ea42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bf59489d594551" /><Relationship Type="http://schemas.openxmlformats.org/officeDocument/2006/relationships/notesSlide" Target="/ppt/notesSlides/notesSlide4.xml" Id="R6d1ee387f3fd46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395fa750af49d6" /><Relationship Type="http://schemas.openxmlformats.org/officeDocument/2006/relationships/notesSlide" Target="/ppt/notesSlides/notesSlide5.xml" Id="R084eaa8e421848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753b9950c34f1d" /><Relationship Type="http://schemas.openxmlformats.org/officeDocument/2006/relationships/notesSlide" Target="/ppt/notesSlides/notesSlide6.xml" Id="Rc23513e7276e4f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0c16e00bc34d76" /><Relationship Type="http://schemas.openxmlformats.org/officeDocument/2006/relationships/notesSlide" Target="/ppt/notesSlides/notesSlide7.xml" Id="Rd4d295b55d064d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64e5b6d4bc4603" /><Relationship Type="http://schemas.openxmlformats.org/officeDocument/2006/relationships/notesSlide" Target="/ppt/notesSlides/notesSlide8.xml" Id="R7dc85a0f7be744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87f13cc71f49ff" /><Relationship Type="http://schemas.openxmlformats.org/officeDocument/2006/relationships/notesSlide" Target="/ppt/notesSlides/notesSlide9.xml" Id="R48cee22ed99e46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b19a2630bf42fb" /><Relationship Type="http://schemas.openxmlformats.org/officeDocument/2006/relationships/notesSlide" Target="/ppt/notesSlides/notesSlide10.xml" Id="Re775bb48e4df42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537a0a1c4b41f9" /><Relationship Type="http://schemas.openxmlformats.org/officeDocument/2006/relationships/notesSlide" Target="/ppt/notesSlides/notesSlide11.xml" Id="R7ac00299de7145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12cd761ea44221" /><Relationship Type="http://schemas.openxmlformats.org/officeDocument/2006/relationships/notesSlide" Target="/ppt/notesSlides/notesSlide12.xml" Id="Rd6f85416abd34d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80048b274b4f51" /><Relationship Type="http://schemas.openxmlformats.org/officeDocument/2006/relationships/notesSlide" Target="/ppt/notesSlides/notesSlide13.xml" Id="Rb5bd877df9c84c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899ec917db42a3" /><Relationship Type="http://schemas.openxmlformats.org/officeDocument/2006/relationships/notesSlide" Target="/ppt/notesSlides/notesSlide14.xml" Id="R239b350108d045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8cec2354464f24" /><Relationship Type="http://schemas.openxmlformats.org/officeDocument/2006/relationships/notesSlide" Target="/ppt/notesSlides/notesSlide15.xml" Id="R1b32cef544cb48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b5315d92ff4e01" /><Relationship Type="http://schemas.openxmlformats.org/officeDocument/2006/relationships/notesSlide" Target="/ppt/notesSlides/notesSlide16.xml" Id="R75ba2b63a40b41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07d50ce7424c0c" /><Relationship Type="http://schemas.openxmlformats.org/officeDocument/2006/relationships/notesSlide" Target="/ppt/notesSlides/notesSlide17.xml" Id="Ra93695ecb06b453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d2dd71f60f4244" /><Relationship Type="http://schemas.openxmlformats.org/officeDocument/2006/relationships/notesSlide" Target="/ppt/notesSlides/notesSlide18.xml" Id="Rbe051b909ecb4c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bbc4c3db0d4426" /><Relationship Type="http://schemas.openxmlformats.org/officeDocument/2006/relationships/notesSlide" Target="/ppt/notesSlides/notesSlide19.xml" Id="R4a93be5990e2461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fb1252b5fe4b47" /><Relationship Type="http://schemas.openxmlformats.org/officeDocument/2006/relationships/notesSlide" Target="/ppt/notesSlides/notesSlide20.xml" Id="Rcbb3407cd9c5448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62026902c04758" /><Relationship Type="http://schemas.openxmlformats.org/officeDocument/2006/relationships/notesSlide" Target="/ppt/notesSlides/notesSlide21.xml" Id="Rbda26316f22a4ac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e4b0de383e479c" /><Relationship Type="http://schemas.openxmlformats.org/officeDocument/2006/relationships/notesSlide" Target="/ppt/notesSlides/notesSlide22.xml" Id="Rc990177cfa47462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e55347a3e34f35" /><Relationship Type="http://schemas.openxmlformats.org/officeDocument/2006/relationships/notesSlide" Target="/ppt/notesSlides/notesSlide23.xml" Id="Rec174ea347af4ab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e744736f7e44ae" /><Relationship Type="http://schemas.openxmlformats.org/officeDocument/2006/relationships/notesSlide" Target="/ppt/notesSlides/notesSlide24.xml" Id="R38ad2605e8e147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22B736E-0928-4425-A455-C206DBA6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4632C05-E7D5-4208-B0B1-D8F3A167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01  OVERVIEW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B908D1ED-966D-4FAB-9176-9E399694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縦断図から、照査に使う値を取り出す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7741C5C-E9A7-433A-A516-9D4328A3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縦断図DXF → 抽出処理 → 幾何構造表（一般道）Excel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2745052B-71A0-43FB-A730-17C62DDB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CCC137C-DA19-4D56-A299-54C067C1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6347485-FC40-46A9-8CB6-EEB88AAB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現行ソース確認：2026-09-17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8EE9C175-60EB-42E1-A02E-A66A83A9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3F0E7B5-93E1-4114-BD99-A79F82FA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715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CAD図面評価者のための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DFA2A3D3-A9BF-4E7D-88F0-DB44289A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715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処理と確認のガイド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A8D53AAD-C07D-45F3-A448-BD0D83F5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571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v1.0.1  |  現行実装の説明</a:t>
            </a:r>
          </a:p>
        </p:txBody>
      </p:sp>
      <p:sp>
        <p:nvSpPr>
          <p:cNvPr id="12" name="shape-10">
            <a:extLst xmlns:a="http://schemas.openxmlformats.org/drawingml/2006/main">
              <a:ext uri="{FF2B5EF4-FFF2-40B4-BE49-F238E27FC236}">
                <a16:creationId xmlns:a16="http://schemas.microsoft.com/office/drawing/2014/main" id="{F8324E10-6E51-47C9-8867-63FBD5EF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382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13" name="shape-11">
            <a:extLst xmlns:a="http://schemas.openxmlformats.org/drawingml/2006/main">
              <a:ext uri="{FF2B5EF4-FFF2-40B4-BE49-F238E27FC236}">
                <a16:creationId xmlns:a16="http://schemas.microsoft.com/office/drawing/2014/main" id="{E622F222-73F9-4584-950D-D53DA94B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3F5D60D0-A088-45D0-84AA-63308C09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933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38F597CC-CDA6-4674-9AC6-DB32F888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14775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R=200   L=80</a:t>
            </a:r>
          </a:p>
        </p:txBody>
      </p:sp>
      <p:sp>
        <p:nvSpPr>
          <p:cNvPr id="16" name="shape-14">
            <a:extLst xmlns:a="http://schemas.openxmlformats.org/drawingml/2006/main">
              <a:ext uri="{FF2B5EF4-FFF2-40B4-BE49-F238E27FC236}">
                <a16:creationId xmlns:a16="http://schemas.microsoft.com/office/drawing/2014/main" id="{762827C6-D7CE-4DFE-8928-F643C668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382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17" name="shape-15">
            <a:extLst xmlns:a="http://schemas.openxmlformats.org/drawingml/2006/main">
              <a:ext uri="{FF2B5EF4-FFF2-40B4-BE49-F238E27FC236}">
                <a16:creationId xmlns:a16="http://schemas.microsoft.com/office/drawing/2014/main" id="{023CF12E-6F73-42AC-968A-E80973CA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6DBDD8DA-D149-4028-91E1-31B1B58A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933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</a:t>
            </a:r>
          </a:p>
        </p:txBody>
      </p:sp>
      <p:sp>
        <p:nvSpPr>
          <p:cNvPr id="19" name="text-17">
            <a:extLst xmlns:a="http://schemas.openxmlformats.org/drawingml/2006/main">
              <a:ext uri="{FF2B5EF4-FFF2-40B4-BE49-F238E27FC236}">
                <a16:creationId xmlns:a16="http://schemas.microsoft.com/office/drawing/2014/main" id="{D21CF140-3D54-4354-BD38-C49AFAE9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43425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1/150</a:t>
            </a:r>
          </a:p>
        </p:txBody>
      </p:sp>
      <p:sp>
        <p:nvSpPr>
          <p:cNvPr id="20" name="shape-18">
            <a:extLst xmlns:a="http://schemas.openxmlformats.org/drawingml/2006/main">
              <a:ext uri="{FF2B5EF4-FFF2-40B4-BE49-F238E27FC236}">
                <a16:creationId xmlns:a16="http://schemas.microsoft.com/office/drawing/2014/main" id="{8C396C4A-8969-4D02-92D6-DBA3FA24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382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21" name="shape-19">
            <a:extLst xmlns:a="http://schemas.openxmlformats.org/drawingml/2006/main">
              <a:ext uri="{FF2B5EF4-FFF2-40B4-BE49-F238E27FC236}">
                <a16:creationId xmlns:a16="http://schemas.microsoft.com/office/drawing/2014/main" id="{4F97ACF2-72CF-4693-8558-810A338D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A7DB7C78-033D-4FC2-B4DD-67704D8F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933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勾配</a:t>
            </a:r>
          </a:p>
        </p:txBody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E368317A-83D4-405D-9B16-CC85ADFD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72075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i=3.5%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EE2C13E7-08BE-4085-A07E-2EF76CE0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382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縦断図DXF（概念・数値例）</a:t>
            </a:r>
          </a:p>
        </p:txBody>
      </p:sp>
      <p:sp>
        <p:nvSpPr>
          <p:cNvPr id="25" name="shape-23">
            <a:extLst xmlns:a="http://schemas.openxmlformats.org/drawingml/2006/main">
              <a:ext uri="{FF2B5EF4-FFF2-40B4-BE49-F238E27FC236}">
                <a16:creationId xmlns:a16="http://schemas.microsoft.com/office/drawing/2014/main" id="{3D711420-079B-4CBD-B96E-2BD6F377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572000"/>
            <a:ext cx="552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hape-24">
            <a:extLst xmlns:a="http://schemas.openxmlformats.org/drawingml/2006/main">
              <a:ext uri="{FF2B5EF4-FFF2-40B4-BE49-F238E27FC236}">
                <a16:creationId xmlns:a16="http://schemas.microsoft.com/office/drawing/2014/main" id="{943EECEB-5A6F-47D3-B8DA-12514E25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24300"/>
            <a:ext cx="2095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E4C31C30-776E-4E6D-97B1-6182BB13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95750"/>
            <a:ext cx="17145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表記・位置</a:t>
            </a:r>
          </a:p>
        </p:txBody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4940B41F-077C-43BE-8ED0-969081E7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505325"/>
            <a:ext cx="17145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選択規則</a:t>
            </a:r>
          </a:p>
        </p:txBody>
      </p:sp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1D72A3FD-9CAC-4037-83D4-FE42EFAC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9530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抽出処理</a:t>
            </a:r>
          </a:p>
        </p:txBody>
      </p:sp>
      <p:sp>
        <p:nvSpPr>
          <p:cNvPr id="30" name="shape-28">
            <a:extLst xmlns:a="http://schemas.openxmlformats.org/drawingml/2006/main">
              <a:ext uri="{FF2B5EF4-FFF2-40B4-BE49-F238E27FC236}">
                <a16:creationId xmlns:a16="http://schemas.microsoft.com/office/drawing/2014/main" id="{5F239A68-BDE4-4779-B306-30FA4AF2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572000"/>
            <a:ext cx="552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hape-29">
            <a:extLst xmlns:a="http://schemas.openxmlformats.org/drawingml/2006/main">
              <a:ext uri="{FF2B5EF4-FFF2-40B4-BE49-F238E27FC236}">
                <a16:creationId xmlns:a16="http://schemas.microsoft.com/office/drawing/2014/main" id="{3E34CBE3-E3AA-4615-B047-04F14D93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24200"/>
            <a:ext cx="27908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32" name="shape-30">
            <a:extLst xmlns:a="http://schemas.openxmlformats.org/drawingml/2006/main">
              <a:ext uri="{FF2B5EF4-FFF2-40B4-BE49-F238E27FC236}">
                <a16:creationId xmlns:a16="http://schemas.microsoft.com/office/drawing/2014/main" id="{553B6000-A790-47A0-A68C-FB24945D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24200"/>
            <a:ext cx="2790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hape-31">
            <a:extLst xmlns:a="http://schemas.openxmlformats.org/drawingml/2006/main">
              <a:ext uri="{FF2B5EF4-FFF2-40B4-BE49-F238E27FC236}">
                <a16:creationId xmlns:a16="http://schemas.microsoft.com/office/drawing/2014/main" id="{308F7354-B7E0-479B-A21F-AAE705A2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778250"/>
            <a:ext cx="2790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hape-32">
            <a:extLst xmlns:a="http://schemas.openxmlformats.org/drawingml/2006/main">
              <a:ext uri="{FF2B5EF4-FFF2-40B4-BE49-F238E27FC236}">
                <a16:creationId xmlns:a16="http://schemas.microsoft.com/office/drawing/2014/main" id="{91795E03-9B7E-4969-838B-AD52D413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165600"/>
            <a:ext cx="2790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hape-33">
            <a:extLst xmlns:a="http://schemas.openxmlformats.org/drawingml/2006/main">
              <a:ext uri="{FF2B5EF4-FFF2-40B4-BE49-F238E27FC236}">
                <a16:creationId xmlns:a16="http://schemas.microsoft.com/office/drawing/2014/main" id="{409A9581-9C43-4114-BC06-D24DA7F2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52950"/>
            <a:ext cx="2790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hape-34">
            <a:extLst xmlns:a="http://schemas.openxmlformats.org/drawingml/2006/main">
              <a:ext uri="{FF2B5EF4-FFF2-40B4-BE49-F238E27FC236}">
                <a16:creationId xmlns:a16="http://schemas.microsoft.com/office/drawing/2014/main" id="{3CEC8B4E-1839-44F7-95DF-F277EA0A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940300"/>
            <a:ext cx="2790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hape-35">
            <a:extLst xmlns:a="http://schemas.openxmlformats.org/drawingml/2006/main">
              <a:ext uri="{FF2B5EF4-FFF2-40B4-BE49-F238E27FC236}">
                <a16:creationId xmlns:a16="http://schemas.microsoft.com/office/drawing/2014/main" id="{03F79FC3-716F-4849-AFBA-E445D592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327650"/>
            <a:ext cx="2790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hape-36">
            <a:extLst xmlns:a="http://schemas.openxmlformats.org/drawingml/2006/main">
              <a:ext uri="{FF2B5EF4-FFF2-40B4-BE49-F238E27FC236}">
                <a16:creationId xmlns:a16="http://schemas.microsoft.com/office/drawing/2014/main" id="{6700A23C-F60C-459D-BC34-B3F08E0D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715000"/>
            <a:ext cx="2790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hape-37">
            <a:extLst xmlns:a="http://schemas.openxmlformats.org/drawingml/2006/main">
              <a:ext uri="{FF2B5EF4-FFF2-40B4-BE49-F238E27FC236}">
                <a16:creationId xmlns:a16="http://schemas.microsoft.com/office/drawing/2014/main" id="{A6165934-953A-41B0-A4D4-9EA48F6F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5611" y="3124200"/>
            <a:ext cx="95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-38">
            <a:extLst xmlns:a="http://schemas.openxmlformats.org/drawingml/2006/main">
              <a:ext uri="{FF2B5EF4-FFF2-40B4-BE49-F238E27FC236}">
                <a16:creationId xmlns:a16="http://schemas.microsoft.com/office/drawing/2014/main" id="{0DC9CDCD-B64F-4A5A-A8A8-A183C1C1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24200"/>
            <a:ext cx="167449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項目</a:t>
            </a:r>
          </a:p>
        </p:txBody>
      </p:sp>
      <p:sp>
        <p:nvSpPr>
          <p:cNvPr id="41" name="text-39">
            <a:extLst xmlns:a="http://schemas.openxmlformats.org/drawingml/2006/main">
              <a:ext uri="{FF2B5EF4-FFF2-40B4-BE49-F238E27FC236}">
                <a16:creationId xmlns:a16="http://schemas.microsoft.com/office/drawing/2014/main" id="{11A44A87-B3D7-4849-B3B9-6138F1CF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428" y="3124200"/>
            <a:ext cx="837247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使用値</a:t>
            </a:r>
          </a:p>
        </p:txBody>
      </p:sp>
      <p:sp>
        <p:nvSpPr>
          <p:cNvPr id="42" name="text-40">
            <a:extLst xmlns:a="http://schemas.openxmlformats.org/drawingml/2006/main">
              <a:ext uri="{FF2B5EF4-FFF2-40B4-BE49-F238E27FC236}">
                <a16:creationId xmlns:a16="http://schemas.microsoft.com/office/drawing/2014/main" id="{87430AD6-25C6-4749-B91D-3D65DAD2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86050"/>
            <a:ext cx="2790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幾何構造表Excel</a:t>
            </a:r>
          </a:p>
        </p:txBody>
      </p:sp>
      <p:sp>
        <p:nvSpPr>
          <p:cNvPr id="43" name="text-41">
            <a:extLst xmlns:a="http://schemas.openxmlformats.org/drawingml/2006/main">
              <a:ext uri="{FF2B5EF4-FFF2-40B4-BE49-F238E27FC236}">
                <a16:creationId xmlns:a16="http://schemas.microsoft.com/office/drawing/2014/main" id="{B1E6A190-8320-4098-9CE0-C769D34D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38525"/>
            <a:ext cx="1638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最小半径</a:t>
            </a:r>
          </a:p>
        </p:txBody>
      </p:sp>
      <p:sp>
        <p:nvSpPr>
          <p:cNvPr id="44" name="text-42">
            <a:extLst xmlns:a="http://schemas.openxmlformats.org/drawingml/2006/main">
              <a:ext uri="{FF2B5EF4-FFF2-40B4-BE49-F238E27FC236}">
                <a16:creationId xmlns:a16="http://schemas.microsoft.com/office/drawing/2014/main" id="{55C9765B-F5F1-4F1F-A74B-12A1631B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819525"/>
            <a:ext cx="1638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緩和曲線長</a:t>
            </a:r>
          </a:p>
        </p:txBody>
      </p:sp>
      <p:sp>
        <p:nvSpPr>
          <p:cNvPr id="45" name="text-43">
            <a:extLst xmlns:a="http://schemas.openxmlformats.org/drawingml/2006/main">
              <a:ext uri="{FF2B5EF4-FFF2-40B4-BE49-F238E27FC236}">
                <a16:creationId xmlns:a16="http://schemas.microsoft.com/office/drawing/2014/main" id="{80A58172-EED2-4769-AD60-EFB1EA04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00525"/>
            <a:ext cx="1638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曲線長</a:t>
            </a:r>
          </a:p>
        </p:txBody>
      </p:sp>
      <p:sp>
        <p:nvSpPr>
          <p:cNvPr id="46" name="text-44">
            <a:extLst xmlns:a="http://schemas.openxmlformats.org/drawingml/2006/main">
              <a:ext uri="{FF2B5EF4-FFF2-40B4-BE49-F238E27FC236}">
                <a16:creationId xmlns:a16="http://schemas.microsoft.com/office/drawing/2014/main" id="{51C10897-8436-407C-8DD6-F0772D48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581525"/>
            <a:ext cx="1638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</a:t>
            </a:r>
          </a:p>
        </p:txBody>
      </p:sp>
      <p:sp>
        <p:nvSpPr>
          <p:cNvPr id="47" name="text-45">
            <a:extLst xmlns:a="http://schemas.openxmlformats.org/drawingml/2006/main">
              <a:ext uri="{FF2B5EF4-FFF2-40B4-BE49-F238E27FC236}">
                <a16:creationId xmlns:a16="http://schemas.microsoft.com/office/drawing/2014/main" id="{60D4BC96-3EC0-4672-A4B7-35229686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962525"/>
            <a:ext cx="1638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縦断線形</a:t>
            </a:r>
          </a:p>
        </p:txBody>
      </p:sp>
      <p:sp>
        <p:nvSpPr>
          <p:cNvPr id="48" name="text-46">
            <a:extLst xmlns:a="http://schemas.openxmlformats.org/drawingml/2006/main">
              <a:ext uri="{FF2B5EF4-FFF2-40B4-BE49-F238E27FC236}">
                <a16:creationId xmlns:a16="http://schemas.microsoft.com/office/drawing/2014/main" id="{DD00EDF0-C3E2-4801-ABD8-4B517DCB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43525"/>
            <a:ext cx="1638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未対応欄</a:t>
            </a:r>
          </a:p>
        </p:txBody>
      </p:sp>
      <p:sp>
        <p:nvSpPr>
          <p:cNvPr id="49" name="text-47">
            <a:extLst xmlns:a="http://schemas.openxmlformats.org/drawingml/2006/main">
              <a:ext uri="{FF2B5EF4-FFF2-40B4-BE49-F238E27FC236}">
                <a16:creationId xmlns:a16="http://schemas.microsoft.com/office/drawing/2014/main" id="{16ABCB1C-2242-45CB-AF85-C5AFDF1F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829300"/>
            <a:ext cx="27908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照査の材料を作成</a:t>
            </a:r>
          </a:p>
        </p:txBody>
      </p:sp>
    </p:spTree>
    <p:extLst>
      <p:ext uri="{BB962C8B-B14F-4D97-AF65-F5344CB8AC3E}">
        <p14:creationId xmlns:p14="http://schemas.microsoft.com/office/powerpoint/2010/main" val="2086567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85693E8-4E24-42C5-A1AA-9157A91F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D9C8F4A-2685-414F-95CF-53F57D54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02  ROLE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BD7CD1FD-E1A8-4159-886B-DED67B59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抽出・転記はツール、照査の結論は人が担う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5D1744B-894E-4969-8D9A-E04DA936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ExcelのOK/NGはテンプレート数式の参考判定です。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812FCD39-9FA5-438C-B92A-0656A348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F49E659-DB5A-4337-BC2C-4C70C298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BEF48D0-3B0E-46AD-8932-AF71B265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出典：メイン／Excelテンプレート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C32239F-5252-44F1-B8EE-732F482C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9" name="shape-7">
            <a:extLst xmlns:a="http://schemas.openxmlformats.org/drawingml/2006/main">
              <a:ext uri="{FF2B5EF4-FFF2-40B4-BE49-F238E27FC236}">
                <a16:creationId xmlns:a16="http://schemas.microsoft.com/office/drawing/2014/main" id="{548D22A1-0BF1-41EA-8EFD-A527451B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52197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-8">
            <a:extLst xmlns:a="http://schemas.openxmlformats.org/drawingml/2006/main">
              <a:ext uri="{FF2B5EF4-FFF2-40B4-BE49-F238E27FC236}">
                <a16:creationId xmlns:a16="http://schemas.microsoft.com/office/drawing/2014/main" id="{C65CDEF1-E68C-47CE-BFDE-D66F55F6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62175"/>
            <a:ext cx="5429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24A184F5-2D98-45C6-B210-E22E9026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4724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ツールが担うこと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11EA69E1-FBC1-4329-ADD8-CA5F5190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52675"/>
            <a:ext cx="4895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評価者が担うこと</a:t>
            </a:r>
          </a:p>
        </p:txBody>
      </p:sp>
      <p:sp>
        <p:nvSpPr>
          <p:cNvPr id="13" name="shape-11">
            <a:extLst xmlns:a="http://schemas.openxmlformats.org/drawingml/2006/main">
              <a:ext uri="{FF2B5EF4-FFF2-40B4-BE49-F238E27FC236}">
                <a16:creationId xmlns:a16="http://schemas.microsoft.com/office/drawing/2014/main" id="{D4E8C718-618E-4A39-9D37-28963120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" y="310705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DE2B56E1-D220-4C34-82B1-61FC683F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4495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指定の帯・文字を探す</a:t>
            </a:r>
          </a:p>
        </p:txBody>
      </p:sp>
      <p:sp>
        <p:nvSpPr>
          <p:cNvPr id="15" name="shape-13">
            <a:extLst xmlns:a="http://schemas.openxmlformats.org/drawingml/2006/main">
              <a:ext uri="{FF2B5EF4-FFF2-40B4-BE49-F238E27FC236}">
                <a16:creationId xmlns:a16="http://schemas.microsoft.com/office/drawing/2014/main" id="{4DFCA206-BB66-4540-94EE-D1F37633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" y="364998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F4F8F93F-4B55-4A0C-AA5A-DBB6A71B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76625"/>
            <a:ext cx="4495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条件に沿って値を選ぶ</a:t>
            </a:r>
          </a:p>
        </p:txBody>
      </p:sp>
      <p:sp>
        <p:nvSpPr>
          <p:cNvPr id="17" name="shape-15">
            <a:extLst xmlns:a="http://schemas.openxmlformats.org/drawingml/2006/main">
              <a:ext uri="{FF2B5EF4-FFF2-40B4-BE49-F238E27FC236}">
                <a16:creationId xmlns:a16="http://schemas.microsoft.com/office/drawing/2014/main" id="{792F8CD6-BAF6-47B4-A4ED-66BFC569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" y="419290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C7C32983-2F83-4364-A6E3-EA4D162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4495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15欄へ転記する</a:t>
            </a:r>
          </a:p>
        </p:txBody>
      </p:sp>
      <p:sp>
        <p:nvSpPr>
          <p:cNvPr id="19" name="shape-17">
            <a:extLst xmlns:a="http://schemas.openxmlformats.org/drawingml/2006/main">
              <a:ext uri="{FF2B5EF4-FFF2-40B4-BE49-F238E27FC236}">
                <a16:creationId xmlns:a16="http://schemas.microsoft.com/office/drawing/2014/main" id="{9FC51D74-273C-4B70-A6C7-3ADEEF2D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" y="473583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8">
            <a:extLst xmlns:a="http://schemas.openxmlformats.org/drawingml/2006/main">
              <a:ext uri="{FF2B5EF4-FFF2-40B4-BE49-F238E27FC236}">
                <a16:creationId xmlns:a16="http://schemas.microsoft.com/office/drawing/2014/main" id="{DA71832B-0981-4E5D-BEB7-121D3D94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62475"/>
            <a:ext cx="4495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帳票の既存数式へ渡す</a:t>
            </a:r>
          </a:p>
        </p:txBody>
      </p:sp>
      <p:sp>
        <p:nvSpPr>
          <p:cNvPr id="21" name="shape-19">
            <a:extLst xmlns:a="http://schemas.openxmlformats.org/drawingml/2006/main">
              <a:ext uri="{FF2B5EF4-FFF2-40B4-BE49-F238E27FC236}">
                <a16:creationId xmlns:a16="http://schemas.microsoft.com/office/drawing/2014/main" id="{60CDE086-F382-47CE-9325-AA76CC7A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430" y="310705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DD8B2A34-4CE8-4D27-9D70-DCF31956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33700"/>
            <a:ext cx="4667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元図と抽出値を照合する</a:t>
            </a:r>
          </a:p>
        </p:txBody>
      </p:sp>
      <p:sp>
        <p:nvSpPr>
          <p:cNvPr id="23" name="shape-21">
            <a:extLst xmlns:a="http://schemas.openxmlformats.org/drawingml/2006/main">
              <a:ext uri="{FF2B5EF4-FFF2-40B4-BE49-F238E27FC236}">
                <a16:creationId xmlns:a16="http://schemas.microsoft.com/office/drawing/2014/main" id="{6599D960-206D-4431-81B4-73788792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430" y="364998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3B2D6786-66D3-4601-8922-7F5DEB48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76625"/>
            <a:ext cx="4667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設計速度・道路区分を確認する</a:t>
            </a:r>
          </a:p>
        </p:txBody>
      </p:sp>
      <p:sp>
        <p:nvSpPr>
          <p:cNvPr id="25" name="shape-23">
            <a:extLst xmlns:a="http://schemas.openxmlformats.org/drawingml/2006/main">
              <a:ext uri="{FF2B5EF4-FFF2-40B4-BE49-F238E27FC236}">
                <a16:creationId xmlns:a16="http://schemas.microsoft.com/office/drawing/2014/main" id="{5D2EF955-5219-4B6A-8B24-38633999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430" y="419290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A97D9626-DB4B-4605-861A-894D0215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19550"/>
            <a:ext cx="4667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未取得・未対応欄を補う</a:t>
            </a:r>
          </a:p>
        </p:txBody>
      </p:sp>
      <p:sp>
        <p:nvSpPr>
          <p:cNvPr id="27" name="shape-25">
            <a:extLst xmlns:a="http://schemas.openxmlformats.org/drawingml/2006/main">
              <a:ext uri="{FF2B5EF4-FFF2-40B4-BE49-F238E27FC236}">
                <a16:creationId xmlns:a16="http://schemas.microsoft.com/office/drawing/2014/main" id="{F44B86B9-1421-4922-8AF9-22F5C026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430" y="473583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1060AB9C-3A42-42F8-84BB-488CB2D6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62475"/>
            <a:ext cx="4667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適用基準と最終の採否を判断する</a:t>
            </a:r>
          </a:p>
        </p:txBody>
      </p:sp>
      <p:sp>
        <p:nvSpPr>
          <p:cNvPr id="29" name="shape-27">
            <a:extLst xmlns:a="http://schemas.openxmlformats.org/drawingml/2006/main">
              <a:ext uri="{FF2B5EF4-FFF2-40B4-BE49-F238E27FC236}">
                <a16:creationId xmlns:a16="http://schemas.microsoft.com/office/drawing/2014/main" id="{40D235DD-AB3B-4063-87A2-069E755D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28">
            <a:extLst xmlns:a="http://schemas.openxmlformats.org/drawingml/2006/main">
              <a:ext uri="{FF2B5EF4-FFF2-40B4-BE49-F238E27FC236}">
                <a16:creationId xmlns:a16="http://schemas.microsoft.com/office/drawing/2014/main" id="{38CDBE83-11FF-426C-A7D1-F2A43A87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「抽出値」「参考判定」「最終照査」を、別の確認として扱う</a:t>
            </a:r>
          </a:p>
        </p:txBody>
      </p:sp>
    </p:spTree>
    <p:extLst>
      <p:ext uri="{BB962C8B-B14F-4D97-AF65-F5344CB8AC3E}">
        <p14:creationId xmlns:p14="http://schemas.microsoft.com/office/powerpoint/2010/main" val="1964731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A771EDE-7681-4CEB-9DC1-0248E37F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D7F2E59-D9DF-4C46-926C-DDAD56D9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03  AUTOMATION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629DB1ED-0445-49C7-9EAA-69F50628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探す・選ぶ・転記する、3つの作業を自動化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315FCA9-A1FD-4CF5-BAC1-3A092E00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図面の文字と位置関係を、決められた規則で読み取ります。数値は説明用の例です。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E07C9140-0DCE-4FC4-B575-AE674AC2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53E09A0-5B7C-4217-8940-5095D25A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6A908D5B-F521-45FF-A823-F1A0FB71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出典：メイン process_single_dxf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021EA91-7AD7-4BBE-8A0C-360B5185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9" name="shape-7">
            <a:extLst xmlns:a="http://schemas.openxmlformats.org/drawingml/2006/main">
              <a:ext uri="{FF2B5EF4-FFF2-40B4-BE49-F238E27FC236}">
                <a16:creationId xmlns:a16="http://schemas.microsoft.com/office/drawing/2014/main" id="{C23AEFB5-686C-4FB1-BAEB-B489C886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75070EA-EF94-46D3-88C4-B1DA2815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6A239307-6522-4573-B129-7AC97B86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27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対象を探す</a:t>
            </a:r>
          </a:p>
        </p:txBody>
      </p:sp>
      <p:sp>
        <p:nvSpPr>
          <p:cNvPr id="12" name="shape-10">
            <a:extLst xmlns:a="http://schemas.openxmlformats.org/drawingml/2006/main">
              <a:ext uri="{FF2B5EF4-FFF2-40B4-BE49-F238E27FC236}">
                <a16:creationId xmlns:a16="http://schemas.microsoft.com/office/drawing/2014/main" id="{FE44D96C-AFB4-4E60-9167-38CF51F7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327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-11">
            <a:extLst xmlns:a="http://schemas.openxmlformats.org/drawingml/2006/main">
              <a:ext uri="{FF2B5EF4-FFF2-40B4-BE49-F238E27FC236}">
                <a16:creationId xmlns:a16="http://schemas.microsoft.com/office/drawing/2014/main" id="{825D942E-5BF6-4202-B8E7-CAE14E5C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62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BC85A856-24C8-47A1-979A-D90E0B92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62175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1F027EF3-D420-4E72-A6E9-4F581AF0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67000"/>
            <a:ext cx="327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値を読み取り、選ぶ</a:t>
            </a:r>
          </a:p>
        </p:txBody>
      </p:sp>
      <p:sp>
        <p:nvSpPr>
          <p:cNvPr id="16" name="shape-14">
            <a:extLst xmlns:a="http://schemas.openxmlformats.org/drawingml/2006/main">
              <a:ext uri="{FF2B5EF4-FFF2-40B4-BE49-F238E27FC236}">
                <a16:creationId xmlns:a16="http://schemas.microsoft.com/office/drawing/2014/main" id="{0D1622EC-0406-46DD-A559-3D4CE99D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14950"/>
            <a:ext cx="327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pe-15">
            <a:extLst xmlns:a="http://schemas.openxmlformats.org/drawingml/2006/main">
              <a:ext uri="{FF2B5EF4-FFF2-40B4-BE49-F238E27FC236}">
                <a16:creationId xmlns:a16="http://schemas.microsoft.com/office/drawing/2014/main" id="{7C762D9C-1F25-4066-BDF1-149400F4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62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3BDDD21E-C14E-4E41-855E-6CC61854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62175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9" name="text-17">
            <a:extLst xmlns:a="http://schemas.openxmlformats.org/drawingml/2006/main">
              <a:ext uri="{FF2B5EF4-FFF2-40B4-BE49-F238E27FC236}">
                <a16:creationId xmlns:a16="http://schemas.microsoft.com/office/drawing/2014/main" id="{4F444BEA-B6BB-43AB-A15F-8F5BDD7F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7000"/>
            <a:ext cx="327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帳票へ反映</a:t>
            </a:r>
          </a:p>
        </p:txBody>
      </p:sp>
      <p:sp>
        <p:nvSpPr>
          <p:cNvPr id="20" name="shape-18">
            <a:extLst xmlns:a="http://schemas.openxmlformats.org/drawingml/2006/main">
              <a:ext uri="{FF2B5EF4-FFF2-40B4-BE49-F238E27FC236}">
                <a16:creationId xmlns:a16="http://schemas.microsoft.com/office/drawing/2014/main" id="{D3F1D640-EAB7-4ACA-AED5-4D67E3AF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14950"/>
            <a:ext cx="327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pe-19">
            <a:extLst xmlns:a="http://schemas.openxmlformats.org/drawingml/2006/main">
              <a:ext uri="{FF2B5EF4-FFF2-40B4-BE49-F238E27FC236}">
                <a16:creationId xmlns:a16="http://schemas.microsoft.com/office/drawing/2014/main" id="{62BCF1FB-632B-418F-A493-29991A02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3276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22" name="shape-20">
            <a:extLst xmlns:a="http://schemas.openxmlformats.org/drawingml/2006/main">
              <a:ext uri="{FF2B5EF4-FFF2-40B4-BE49-F238E27FC236}">
                <a16:creationId xmlns:a16="http://schemas.microsoft.com/office/drawing/2014/main" id="{922BE82E-A599-42B1-AB37-65957260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143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18737C3E-8E2F-44D6-BF7E-B4F6C40B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9334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9717BA38-6D6B-45B5-9D77-8A356E06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71875"/>
            <a:ext cx="18669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R=200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3609CF5F-2349-4479-BF8D-898426B7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05250"/>
            <a:ext cx="18669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L=80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337910C2-A7F8-47D9-88A1-3FD1804A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276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レイヤー・帯タイトル</a:t>
            </a:r>
          </a:p>
        </p:txBody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E8F1254A-23E0-4A7E-82A1-DA15D32C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3276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上下の罫線</a:t>
            </a:r>
          </a:p>
        </p:txBody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881C2C93-55CF-484E-AE2F-5F193725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81375"/>
            <a:ext cx="327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R=200  /  R=100</a:t>
            </a:r>
          </a:p>
        </p:txBody>
      </p:sp>
      <p:sp>
        <p:nvSpPr>
          <p:cNvPr id="29" name="shape-27">
            <a:extLst xmlns:a="http://schemas.openxmlformats.org/drawingml/2006/main">
              <a:ext uri="{FF2B5EF4-FFF2-40B4-BE49-F238E27FC236}">
                <a16:creationId xmlns:a16="http://schemas.microsoft.com/office/drawing/2014/main" id="{6AA7A89D-D464-411E-9A07-3FA39D24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914775"/>
            <a:ext cx="1714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28">
            <a:extLst xmlns:a="http://schemas.openxmlformats.org/drawingml/2006/main">
              <a:ext uri="{FF2B5EF4-FFF2-40B4-BE49-F238E27FC236}">
                <a16:creationId xmlns:a16="http://schemas.microsoft.com/office/drawing/2014/main" id="{AE5DEFE6-B77B-4304-BECE-63670643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14825"/>
            <a:ext cx="3276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最小半径 100</a:t>
            </a:r>
          </a:p>
        </p:txBody>
      </p:sp>
      <p:sp>
        <p:nvSpPr>
          <p:cNvPr id="31" name="text-29">
            <a:extLst xmlns:a="http://schemas.openxmlformats.org/drawingml/2006/main">
              <a:ext uri="{FF2B5EF4-FFF2-40B4-BE49-F238E27FC236}">
                <a16:creationId xmlns:a16="http://schemas.microsoft.com/office/drawing/2014/main" id="{0E77EE4E-4B4B-4F65-BC68-C1C0EBC1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95850"/>
            <a:ext cx="3276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候補と条件から採用</a:t>
            </a:r>
          </a:p>
        </p:txBody>
      </p:sp>
      <p:sp>
        <p:nvSpPr>
          <p:cNvPr id="32" name="shape-30">
            <a:extLst xmlns:a="http://schemas.openxmlformats.org/drawingml/2006/main">
              <a:ext uri="{FF2B5EF4-FFF2-40B4-BE49-F238E27FC236}">
                <a16:creationId xmlns:a16="http://schemas.microsoft.com/office/drawing/2014/main" id="{EDD51CB1-1B38-4294-998C-B874B16E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32766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33" name="shape-31">
            <a:extLst xmlns:a="http://schemas.openxmlformats.org/drawingml/2006/main">
              <a:ext uri="{FF2B5EF4-FFF2-40B4-BE49-F238E27FC236}">
                <a16:creationId xmlns:a16="http://schemas.microsoft.com/office/drawing/2014/main" id="{34516E8E-33EB-446A-878A-DE4EEE21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hape-32">
            <a:extLst xmlns:a="http://schemas.openxmlformats.org/drawingml/2006/main">
              <a:ext uri="{FF2B5EF4-FFF2-40B4-BE49-F238E27FC236}">
                <a16:creationId xmlns:a16="http://schemas.microsoft.com/office/drawing/2014/main" id="{627D23B3-838F-4E74-B1B9-8B2FAD95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29075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hape-33">
            <a:extLst xmlns:a="http://schemas.openxmlformats.org/drawingml/2006/main">
              <a:ext uri="{FF2B5EF4-FFF2-40B4-BE49-F238E27FC236}">
                <a16:creationId xmlns:a16="http://schemas.microsoft.com/office/drawing/2014/main" id="{764BE791-F008-4070-8630-F0F522D1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5770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hape-34">
            <a:extLst xmlns:a="http://schemas.openxmlformats.org/drawingml/2006/main">
              <a:ext uri="{FF2B5EF4-FFF2-40B4-BE49-F238E27FC236}">
                <a16:creationId xmlns:a16="http://schemas.microsoft.com/office/drawing/2014/main" id="{4BC8D2E0-0EE2-4B6F-9B62-24A516D4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86325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hape-35">
            <a:extLst xmlns:a="http://schemas.openxmlformats.org/drawingml/2006/main">
              <a:ext uri="{FF2B5EF4-FFF2-40B4-BE49-F238E27FC236}">
                <a16:creationId xmlns:a16="http://schemas.microsoft.com/office/drawing/2014/main" id="{FBEB9187-E9C6-4961-8CAD-64B1F674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590" y="3333750"/>
            <a:ext cx="952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36">
            <a:extLst xmlns:a="http://schemas.openxmlformats.org/drawingml/2006/main">
              <a:ext uri="{FF2B5EF4-FFF2-40B4-BE49-F238E27FC236}">
                <a16:creationId xmlns:a16="http://schemas.microsoft.com/office/drawing/2014/main" id="{7FA0AE0C-C0B0-4F6E-A9E5-E0F72680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196596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項目</a:t>
            </a:r>
          </a:p>
        </p:txBody>
      </p:sp>
      <p:sp>
        <p:nvSpPr>
          <p:cNvPr id="39" name="text-37">
            <a:extLst xmlns:a="http://schemas.openxmlformats.org/drawingml/2006/main">
              <a:ext uri="{FF2B5EF4-FFF2-40B4-BE49-F238E27FC236}">
                <a16:creationId xmlns:a16="http://schemas.microsoft.com/office/drawing/2014/main" id="{4CC84CE4-1324-4D89-A176-E9D129E9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122" y="3333750"/>
            <a:ext cx="98298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使用値</a:t>
            </a:r>
          </a:p>
        </p:txBody>
      </p:sp>
      <p:sp>
        <p:nvSpPr>
          <p:cNvPr id="40" name="text-38">
            <a:extLst xmlns:a="http://schemas.openxmlformats.org/drawingml/2006/main">
              <a:ext uri="{FF2B5EF4-FFF2-40B4-BE49-F238E27FC236}">
                <a16:creationId xmlns:a16="http://schemas.microsoft.com/office/drawing/2014/main" id="{1665B5FA-63A1-474C-BC6B-4BCB4F6A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3276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テンプレートの使用値へ転記</a:t>
            </a:r>
          </a:p>
        </p:txBody>
      </p:sp>
      <p:sp>
        <p:nvSpPr>
          <p:cNvPr id="41" name="shape-39">
            <a:extLst xmlns:a="http://schemas.openxmlformats.org/drawingml/2006/main">
              <a:ext uri="{FF2B5EF4-FFF2-40B4-BE49-F238E27FC236}">
                <a16:creationId xmlns:a16="http://schemas.microsoft.com/office/drawing/2014/main" id="{F4B3D730-7334-4F82-9521-4E0CF464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724275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hape-40">
            <a:extLst xmlns:a="http://schemas.openxmlformats.org/drawingml/2006/main">
              <a:ext uri="{FF2B5EF4-FFF2-40B4-BE49-F238E27FC236}">
                <a16:creationId xmlns:a16="http://schemas.microsoft.com/office/drawing/2014/main" id="{4C539CB6-A354-417F-A63E-6D55DE8E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724275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hape-41">
            <a:extLst xmlns:a="http://schemas.openxmlformats.org/drawingml/2006/main">
              <a:ext uri="{FF2B5EF4-FFF2-40B4-BE49-F238E27FC236}">
                <a16:creationId xmlns:a16="http://schemas.microsoft.com/office/drawing/2014/main" id="{90067964-814B-4076-BB48-77303B48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-42">
            <a:extLst xmlns:a="http://schemas.openxmlformats.org/drawingml/2006/main">
              <a:ext uri="{FF2B5EF4-FFF2-40B4-BE49-F238E27FC236}">
                <a16:creationId xmlns:a16="http://schemas.microsoft.com/office/drawing/2014/main" id="{0789EA35-3993-48AB-9C28-0CFF1D67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繰り返しの探索と転記を支援し、評価者が照合に集中できる形へ</a:t>
            </a:r>
          </a:p>
        </p:txBody>
      </p:sp>
    </p:spTree>
    <p:extLst>
      <p:ext uri="{BB962C8B-B14F-4D97-AF65-F5344CB8AC3E}">
        <p14:creationId xmlns:p14="http://schemas.microsoft.com/office/powerpoint/2010/main" val="1981402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2652AFB-152C-4E71-8E0D-5D11C62A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B6FB1C7-F7E1-4AEF-B682-F3B6BEDD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04  OPERATION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2B60004-3A72-4F33-900A-1C6612B0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日常操作は、配置 → 実行 → 結果確認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05650E7-9859-4E6F-9507-FA71400E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input直下のDXFをまとめて処理し、DXFごとのExcelを作成します。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FA3CD7DC-4585-474C-BC11-541DFA38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4D945E8-356C-4E22-846F-77CEAE26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A890A83F-35DE-4779-9A40-445DEB72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出典：メイン proc／README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E3DFF026-2913-4F4A-8B81-CCCD18F3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9" name="shape-7">
            <a:extLst xmlns:a="http://schemas.openxmlformats.org/drawingml/2006/main">
              <a:ext uri="{FF2B5EF4-FFF2-40B4-BE49-F238E27FC236}">
                <a16:creationId xmlns:a16="http://schemas.microsoft.com/office/drawing/2014/main" id="{E69DCC56-16F8-4AC4-B224-38118BBA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C9546C3-AB89-4FD9-9D52-122FFF9E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D8189BFC-07E0-4F40-A480-C2FCDA51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27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input に配置</a:t>
            </a:r>
          </a:p>
        </p:txBody>
      </p:sp>
      <p:sp>
        <p:nvSpPr>
          <p:cNvPr id="12" name="shape-10">
            <a:extLst xmlns:a="http://schemas.openxmlformats.org/drawingml/2006/main">
              <a:ext uri="{FF2B5EF4-FFF2-40B4-BE49-F238E27FC236}">
                <a16:creationId xmlns:a16="http://schemas.microsoft.com/office/drawing/2014/main" id="{531E6472-589D-4E95-9E71-A0CEB463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D794E4BA-3721-4D5A-AD0B-0CD97A4B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81225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778192C3-581B-41E3-8745-DEA34CC1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67000"/>
            <a:ext cx="327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実行する</a:t>
            </a:r>
          </a:p>
        </p:txBody>
      </p:sp>
      <p:sp>
        <p:nvSpPr>
          <p:cNvPr id="15" name="shape-13">
            <a:extLst xmlns:a="http://schemas.openxmlformats.org/drawingml/2006/main">
              <a:ext uri="{FF2B5EF4-FFF2-40B4-BE49-F238E27FC236}">
                <a16:creationId xmlns:a16="http://schemas.microsoft.com/office/drawing/2014/main" id="{3E2B0C78-91F5-4BD9-A738-471D661D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C09BCBBF-791B-436D-BB53-AA454DB8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81225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2D937328-0675-43B8-B9EF-F27862C7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7000"/>
            <a:ext cx="327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output を確認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12271CCC-5FC5-428E-B0CE-A5A2E472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27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input / *.dxf</a:t>
            </a:r>
          </a:p>
        </p:txBody>
      </p:sp>
      <p:sp>
        <p:nvSpPr>
          <p:cNvPr id="19" name="text-17">
            <a:extLst xmlns:a="http://schemas.openxmlformats.org/drawingml/2006/main">
              <a:ext uri="{FF2B5EF4-FFF2-40B4-BE49-F238E27FC236}">
                <a16:creationId xmlns:a16="http://schemas.microsoft.com/office/drawing/2014/main" id="{F6DBA200-9A64-4C85-8531-70350504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32766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直下のDXFが対象</a:t>
            </a:r>
          </a:p>
        </p:txBody>
      </p:sp>
      <p:sp>
        <p:nvSpPr>
          <p:cNvPr id="20" name="text-18">
            <a:extLst xmlns:a="http://schemas.openxmlformats.org/drawingml/2006/main">
              <a:ext uri="{FF2B5EF4-FFF2-40B4-BE49-F238E27FC236}">
                <a16:creationId xmlns:a16="http://schemas.microsoft.com/office/drawing/2014/main" id="{5288360F-2E8B-47C7-AE81-45B494A2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2766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サブフォルダは対象外</a:t>
            </a:r>
          </a:p>
        </p:txBody>
      </p:sp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B15282FA-A774-44E7-A588-40261C23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52800"/>
            <a:ext cx="327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exe または 01_run.bat</a:t>
            </a:r>
          </a:p>
        </p:txBody>
      </p:sp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39D00CAC-CC17-447C-A0FA-23690A11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24300"/>
            <a:ext cx="32766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処理確認で OK</a:t>
            </a:r>
          </a:p>
        </p:txBody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D1849819-D540-4E35-97EE-4C68C7DD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38625"/>
            <a:ext cx="32766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完了表示とログを確認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E84762D8-A324-4907-80D3-C9105746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327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output / exec_日時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73CA952F-AEE6-413C-B5BD-7A9F9EC3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24300"/>
            <a:ext cx="32766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DXFごとのExcel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AAD70C6C-4AA9-45C5-9907-6DB05B47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38625"/>
            <a:ext cx="32766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抽出値と欠損を確認</a:t>
            </a:r>
          </a:p>
        </p:txBody>
      </p:sp>
      <p:sp>
        <p:nvSpPr>
          <p:cNvPr id="27" name="shape-25">
            <a:extLst xmlns:a="http://schemas.openxmlformats.org/drawingml/2006/main">
              <a:ext uri="{FF2B5EF4-FFF2-40B4-BE49-F238E27FC236}">
                <a16:creationId xmlns:a16="http://schemas.microsoft.com/office/drawing/2014/main" id="{0974DA25-B703-42EA-A655-B2ECF3EA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71875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hape-26">
            <a:extLst xmlns:a="http://schemas.openxmlformats.org/drawingml/2006/main">
              <a:ext uri="{FF2B5EF4-FFF2-40B4-BE49-F238E27FC236}">
                <a16:creationId xmlns:a16="http://schemas.microsoft.com/office/drawing/2014/main" id="{A2C443DD-C416-4302-ACC8-3CEF6CB7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71875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hape-27">
            <a:extLst xmlns:a="http://schemas.openxmlformats.org/drawingml/2006/main">
              <a:ext uri="{FF2B5EF4-FFF2-40B4-BE49-F238E27FC236}">
                <a16:creationId xmlns:a16="http://schemas.microsoft.com/office/drawing/2014/main" id="{D026950D-5384-4EEE-A528-0531FA47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28">
            <a:extLst xmlns:a="http://schemas.openxmlformats.org/drawingml/2006/main">
              <a:ext uri="{FF2B5EF4-FFF2-40B4-BE49-F238E27FC236}">
                <a16:creationId xmlns:a16="http://schemas.microsoft.com/office/drawing/2014/main" id="{252222F0-5BD2-485B-9462-A1E97099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885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Excel保存後</a:t>
            </a:r>
          </a:p>
        </p:txBody>
      </p:sp>
      <p:sp>
        <p:nvSpPr>
          <p:cNvPr id="31" name="shape-29">
            <a:extLst xmlns:a="http://schemas.openxmlformats.org/drawingml/2006/main">
              <a:ext uri="{FF2B5EF4-FFF2-40B4-BE49-F238E27FC236}">
                <a16:creationId xmlns:a16="http://schemas.microsoft.com/office/drawing/2014/main" id="{11EA5B2F-67F7-4B2A-BAFA-80B43310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00675"/>
            <a:ext cx="457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hape-30">
            <a:extLst xmlns:a="http://schemas.openxmlformats.org/drawingml/2006/main">
              <a:ext uri="{FF2B5EF4-FFF2-40B4-BE49-F238E27FC236}">
                <a16:creationId xmlns:a16="http://schemas.microsoft.com/office/drawing/2014/main" id="{52D4AAD6-3576-4DAF-9EED-A1A3FC9C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57800"/>
            <a:ext cx="451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F9D4DDA2-E7CF-4F8F-B95F-B8155CBF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57800"/>
            <a:ext cx="428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input / used_日時 へ移動</a:t>
            </a:r>
          </a:p>
        </p:txBody>
      </p:sp>
      <p:sp>
        <p:nvSpPr>
          <p:cNvPr id="34" name="text-32">
            <a:extLst xmlns:a="http://schemas.openxmlformats.org/drawingml/2006/main">
              <a:ext uri="{FF2B5EF4-FFF2-40B4-BE49-F238E27FC236}">
                <a16:creationId xmlns:a16="http://schemas.microsoft.com/office/drawing/2014/main" id="{34BEF125-E30C-4B93-B1F4-3B8AF6FD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57800"/>
            <a:ext cx="327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移動後も元図として照合</a:t>
            </a:r>
          </a:p>
        </p:txBody>
      </p:sp>
      <p:sp>
        <p:nvSpPr>
          <p:cNvPr id="35" name="shape-33">
            <a:extLst xmlns:a="http://schemas.openxmlformats.org/drawingml/2006/main">
              <a:ext uri="{FF2B5EF4-FFF2-40B4-BE49-F238E27FC236}">
                <a16:creationId xmlns:a16="http://schemas.microsoft.com/office/drawing/2014/main" id="{7A2FF26E-B4D8-4061-B756-929DC508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34">
            <a:extLst xmlns:a="http://schemas.openxmlformats.org/drawingml/2006/main">
              <a:ext uri="{FF2B5EF4-FFF2-40B4-BE49-F238E27FC236}">
                <a16:creationId xmlns:a16="http://schemas.microsoft.com/office/drawing/2014/main" id="{F2527C55-935E-499B-990E-F9544C16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usedへの移動は「全項目が正しく読めた」という保証ではない</a:t>
            </a:r>
          </a:p>
        </p:txBody>
      </p:sp>
    </p:spTree>
    <p:extLst>
      <p:ext uri="{BB962C8B-B14F-4D97-AF65-F5344CB8AC3E}">
        <p14:creationId xmlns:p14="http://schemas.microsoft.com/office/powerpoint/2010/main" val="15631436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7918739-4E8F-4BB3-8281-CC5D2CEE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730FAB9-14A2-436A-A547-0F42D82B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05  PIPELINE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1262A4D9-540F-4AF4-883E-F3D04303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文字と線を整えてから、4系統の値を抽出する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660AB558-A107-480A-9797-113797DE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処理順は現行コードに対応。図面倍率を自動補正する工程はありません。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F24B59DE-1BAC-4A43-A6DC-9C6DCE61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197EB4C-B0CF-4E85-B774-A0FB353C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1B412AF-0ED4-4D61-B0CF-4E3AC373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出典：メイン L467–532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3940E69-0CFA-45DF-9BBC-57C8AEA0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9" name="shape-7">
            <a:extLst xmlns:a="http://schemas.openxmlformats.org/drawingml/2006/main">
              <a:ext uri="{FF2B5EF4-FFF2-40B4-BE49-F238E27FC236}">
                <a16:creationId xmlns:a16="http://schemas.microsoft.com/office/drawing/2014/main" id="{23A0701A-B926-4998-BCE7-2C4CBD84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390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1264BA30-8327-4A4F-9451-7AD7C956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C5EF4613-DC66-4067-B1CD-C78AFCC0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11620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DXF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D79B532C-D15B-4C7A-8F36-47604668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11620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読込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C3E6D2F3-9BC1-4847-A363-7A44BC37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1466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レイアウト数も取得</a:t>
            </a:r>
          </a:p>
        </p:txBody>
      </p:sp>
      <p:sp>
        <p:nvSpPr>
          <p:cNvPr id="14" name="shape-12">
            <a:extLst xmlns:a="http://schemas.openxmlformats.org/drawingml/2006/main">
              <a:ext uri="{FF2B5EF4-FFF2-40B4-BE49-F238E27FC236}">
                <a16:creationId xmlns:a16="http://schemas.microsoft.com/office/drawing/2014/main" id="{54688B3F-7AAA-4BBC-AA5F-D2BFB380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3375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hape-13">
            <a:extLst xmlns:a="http://schemas.openxmlformats.org/drawingml/2006/main">
              <a:ext uri="{FF2B5EF4-FFF2-40B4-BE49-F238E27FC236}">
                <a16:creationId xmlns:a16="http://schemas.microsoft.com/office/drawing/2014/main" id="{38AEFCA5-6F19-43FC-82E6-E9416672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09850"/>
            <a:ext cx="1390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8B3650D4-2F74-4CDA-ACEB-D5AEE4E3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14625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59B6F7B1-9CDD-44D7-AAB6-E5B2E0C8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67050"/>
            <a:ext cx="1162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前処理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360A868A-AFB8-42F6-94A8-2D458112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00550"/>
            <a:ext cx="1466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線・文字を整える</a:t>
            </a:r>
          </a:p>
        </p:txBody>
      </p:sp>
      <p:sp>
        <p:nvSpPr>
          <p:cNvPr id="19" name="shape-17">
            <a:extLst xmlns:a="http://schemas.openxmlformats.org/drawingml/2006/main">
              <a:ext uri="{FF2B5EF4-FFF2-40B4-BE49-F238E27FC236}">
                <a16:creationId xmlns:a16="http://schemas.microsoft.com/office/drawing/2014/main" id="{CFF46CD5-A894-41A7-8014-A000684D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hape-18">
            <a:extLst xmlns:a="http://schemas.openxmlformats.org/drawingml/2006/main">
              <a:ext uri="{FF2B5EF4-FFF2-40B4-BE49-F238E27FC236}">
                <a16:creationId xmlns:a16="http://schemas.microsoft.com/office/drawing/2014/main" id="{369C74EB-CA79-4E35-8FE4-924C9FBE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09850"/>
            <a:ext cx="1390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3A88398B-1A43-42E6-8305-55D2949E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14625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37B35FE9-AF4D-4052-A420-A86857D9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67050"/>
            <a:ext cx="1162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</a:t>
            </a:r>
          </a:p>
        </p:txBody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13573069-2FCF-457E-8643-033E3310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1466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R / A / L</a:t>
            </a:r>
          </a:p>
        </p:txBody>
      </p:sp>
      <p:sp>
        <p:nvSpPr>
          <p:cNvPr id="24" name="shape-22">
            <a:extLst xmlns:a="http://schemas.openxmlformats.org/drawingml/2006/main">
              <a:ext uri="{FF2B5EF4-FFF2-40B4-BE49-F238E27FC236}">
                <a16:creationId xmlns:a16="http://schemas.microsoft.com/office/drawing/2014/main" id="{CE6806E8-9824-4C5F-B8CF-1C4F3E7A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3375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hape-23">
            <a:extLst xmlns:a="http://schemas.openxmlformats.org/drawingml/2006/main">
              <a:ext uri="{FF2B5EF4-FFF2-40B4-BE49-F238E27FC236}">
                <a16:creationId xmlns:a16="http://schemas.microsoft.com/office/drawing/2014/main" id="{E92019FE-D416-4F74-B153-5E1EBAB8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09850"/>
            <a:ext cx="1390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3ADAD2F4-2E6A-44F7-8FCC-429847A1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14625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E80CB68A-1E55-494B-B762-8845190A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67050"/>
            <a:ext cx="1162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</a:t>
            </a:r>
          </a:p>
        </p:txBody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27D8BE93-68A7-4C59-A961-04C8E308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00550"/>
            <a:ext cx="1466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分数の比較</a:t>
            </a:r>
          </a:p>
        </p:txBody>
      </p:sp>
      <p:sp>
        <p:nvSpPr>
          <p:cNvPr id="29" name="shape-27">
            <a:extLst xmlns:a="http://schemas.openxmlformats.org/drawingml/2006/main">
              <a:ext uri="{FF2B5EF4-FFF2-40B4-BE49-F238E27FC236}">
                <a16:creationId xmlns:a16="http://schemas.microsoft.com/office/drawing/2014/main" id="{55DC0895-670A-43FF-9247-442B3B43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3375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hape-28">
            <a:extLst xmlns:a="http://schemas.openxmlformats.org/drawingml/2006/main">
              <a:ext uri="{FF2B5EF4-FFF2-40B4-BE49-F238E27FC236}">
                <a16:creationId xmlns:a16="http://schemas.microsoft.com/office/drawing/2014/main" id="{2A23CC5A-3848-42E9-A4CC-AAA69F45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1390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31" name="text-29">
            <a:extLst xmlns:a="http://schemas.openxmlformats.org/drawingml/2006/main">
              <a:ext uri="{FF2B5EF4-FFF2-40B4-BE49-F238E27FC236}">
                <a16:creationId xmlns:a16="http://schemas.microsoft.com/office/drawing/2014/main" id="{9CA07497-4BC0-4CB8-8810-D31A0048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14625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32" name="text-30">
            <a:extLst xmlns:a="http://schemas.openxmlformats.org/drawingml/2006/main">
              <a:ext uri="{FF2B5EF4-FFF2-40B4-BE49-F238E27FC236}">
                <a16:creationId xmlns:a16="http://schemas.microsoft.com/office/drawing/2014/main" id="{C7F611E5-AE36-40EB-81EF-9916999D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67050"/>
            <a:ext cx="1162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勾配</a:t>
            </a:r>
          </a:p>
        </p:txBody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C6A09A01-136F-4F9F-98F8-CE945595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00550"/>
            <a:ext cx="1466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i= の値</a:t>
            </a:r>
          </a:p>
        </p:txBody>
      </p:sp>
      <p:sp>
        <p:nvSpPr>
          <p:cNvPr id="34" name="shape-32">
            <a:extLst xmlns:a="http://schemas.openxmlformats.org/drawingml/2006/main">
              <a:ext uri="{FF2B5EF4-FFF2-40B4-BE49-F238E27FC236}">
                <a16:creationId xmlns:a16="http://schemas.microsoft.com/office/drawing/2014/main" id="{41E0FDDE-A492-487A-A278-F918B9DD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hape-33">
            <a:extLst xmlns:a="http://schemas.openxmlformats.org/drawingml/2006/main">
              <a:ext uri="{FF2B5EF4-FFF2-40B4-BE49-F238E27FC236}">
                <a16:creationId xmlns:a16="http://schemas.microsoft.com/office/drawing/2014/main" id="{8743A54E-7309-41A2-982E-6DC050F5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9850"/>
            <a:ext cx="1390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36" name="text-34">
            <a:extLst xmlns:a="http://schemas.openxmlformats.org/drawingml/2006/main">
              <a:ext uri="{FF2B5EF4-FFF2-40B4-BE49-F238E27FC236}">
                <a16:creationId xmlns:a16="http://schemas.microsoft.com/office/drawing/2014/main" id="{C2FC6CCD-E054-4783-957E-D9CF37AC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14625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  <p:sp>
        <p:nvSpPr>
          <p:cNvPr id="37" name="text-35">
            <a:extLst xmlns:a="http://schemas.openxmlformats.org/drawingml/2006/main">
              <a:ext uri="{FF2B5EF4-FFF2-40B4-BE49-F238E27FC236}">
                <a16:creationId xmlns:a16="http://schemas.microsoft.com/office/drawing/2014/main" id="{460ED6F2-F4C4-4640-A4AA-A09C9BD5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67050"/>
            <a:ext cx="1162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縦断曲線</a:t>
            </a:r>
          </a:p>
        </p:txBody>
      </p:sp>
      <p:sp>
        <p:nvSpPr>
          <p:cNvPr id="38" name="text-36">
            <a:extLst xmlns:a="http://schemas.openxmlformats.org/drawingml/2006/main">
              <a:ext uri="{FF2B5EF4-FFF2-40B4-BE49-F238E27FC236}">
                <a16:creationId xmlns:a16="http://schemas.microsoft.com/office/drawing/2014/main" id="{219E74AD-7FF0-499C-BF5D-7AA7223B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00550"/>
            <a:ext cx="1466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VCR / VCL</a:t>
            </a:r>
          </a:p>
        </p:txBody>
      </p:sp>
      <p:sp>
        <p:nvSpPr>
          <p:cNvPr id="39" name="shape-37">
            <a:extLst xmlns:a="http://schemas.openxmlformats.org/drawingml/2006/main">
              <a:ext uri="{FF2B5EF4-FFF2-40B4-BE49-F238E27FC236}">
                <a16:creationId xmlns:a16="http://schemas.microsoft.com/office/drawing/2014/main" id="{8AA077BB-AA19-45BD-A0D1-C405D783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3375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hape-38">
            <a:extLst xmlns:a="http://schemas.openxmlformats.org/drawingml/2006/main">
              <a:ext uri="{FF2B5EF4-FFF2-40B4-BE49-F238E27FC236}">
                <a16:creationId xmlns:a16="http://schemas.microsoft.com/office/drawing/2014/main" id="{05361519-37C3-4372-86C5-E5150FBC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09850"/>
            <a:ext cx="1390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41" name="text-39">
            <a:extLst xmlns:a="http://schemas.openxmlformats.org/drawingml/2006/main">
              <a:ext uri="{FF2B5EF4-FFF2-40B4-BE49-F238E27FC236}">
                <a16:creationId xmlns:a16="http://schemas.microsoft.com/office/drawing/2014/main" id="{1E8A31C9-2E20-4640-9580-022B8083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14625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42" name="text-40">
            <a:extLst xmlns:a="http://schemas.openxmlformats.org/drawingml/2006/main">
              <a:ext uri="{FF2B5EF4-FFF2-40B4-BE49-F238E27FC236}">
                <a16:creationId xmlns:a16="http://schemas.microsoft.com/office/drawing/2014/main" id="{C2D656EB-A256-4F24-ADFC-C0E5F36A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67050"/>
            <a:ext cx="11620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Excel</a:t>
            </a:r>
          </a:p>
        </p:txBody>
      </p:sp>
      <p:sp>
        <p:nvSpPr>
          <p:cNvPr id="43" name="text-41">
            <a:extLst xmlns:a="http://schemas.openxmlformats.org/drawingml/2006/main">
              <a:ext uri="{FF2B5EF4-FFF2-40B4-BE49-F238E27FC236}">
                <a16:creationId xmlns:a16="http://schemas.microsoft.com/office/drawing/2014/main" id="{B9DB9084-C963-4EAB-A160-4B5F377C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400425"/>
            <a:ext cx="11620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保存</a:t>
            </a:r>
          </a:p>
        </p:txBody>
      </p:sp>
      <p:sp>
        <p:nvSpPr>
          <p:cNvPr id="44" name="text-42">
            <a:extLst xmlns:a="http://schemas.openxmlformats.org/drawingml/2006/main">
              <a:ext uri="{FF2B5EF4-FFF2-40B4-BE49-F238E27FC236}">
                <a16:creationId xmlns:a16="http://schemas.microsoft.com/office/drawing/2014/main" id="{28E1DFA1-365A-4DB9-B3A9-1C78E8E5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400550"/>
            <a:ext cx="1466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成功後にused移動</a:t>
            </a:r>
          </a:p>
        </p:txBody>
      </p:sp>
      <p:sp>
        <p:nvSpPr>
          <p:cNvPr id="45" name="shape-43">
            <a:extLst xmlns:a="http://schemas.openxmlformats.org/drawingml/2006/main">
              <a:ext uri="{FF2B5EF4-FFF2-40B4-BE49-F238E27FC236}">
                <a16:creationId xmlns:a16="http://schemas.microsoft.com/office/drawing/2014/main" id="{EBDB855D-0FCD-4C76-909A-3AED6B4A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ext-44">
            <a:extLst xmlns:a="http://schemas.openxmlformats.org/drawingml/2006/main">
              <a:ext uri="{FF2B5EF4-FFF2-40B4-BE49-F238E27FC236}">
                <a16:creationId xmlns:a16="http://schemas.microsoft.com/office/drawing/2014/main" id="{A359EC56-A573-4B06-8F6A-25342C67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前処理：LWPOLYLINE → LINE、MTEXT → TEXT、空白除去、重複文字の整理</a:t>
            </a:r>
          </a:p>
        </p:txBody>
      </p:sp>
      <p:sp>
        <p:nvSpPr>
          <p:cNvPr id="47" name="shape-45">
            <a:extLst xmlns:a="http://schemas.openxmlformats.org/drawingml/2006/main">
              <a:ext uri="{FF2B5EF4-FFF2-40B4-BE49-F238E27FC236}">
                <a16:creationId xmlns:a16="http://schemas.microsoft.com/office/drawing/2014/main" id="{6A547D0C-A305-46E0-A40A-5BFCCF0E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ext-46">
            <a:extLst xmlns:a="http://schemas.openxmlformats.org/drawingml/2006/main">
              <a:ext uri="{FF2B5EF4-FFF2-40B4-BE49-F238E27FC236}">
                <a16:creationId xmlns:a16="http://schemas.microsoft.com/office/drawing/2014/main" id="{F4449FF1-04B9-4179-AFAE-E38ABA28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各項目を取得できなくても、「-」を入れて後続へ進むことがある</a:t>
            </a:r>
          </a:p>
        </p:txBody>
      </p:sp>
    </p:spTree>
    <p:extLst>
      <p:ext uri="{BB962C8B-B14F-4D97-AF65-F5344CB8AC3E}">
        <p14:creationId xmlns:p14="http://schemas.microsoft.com/office/powerpoint/2010/main" val="15854061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C2EF73C-A809-4A82-A3C7-39EAE46D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85E9C26-3CC8-4C46-BF5D-7B4823F7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06  DXF READ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5203B09D-4033-4987-8C2C-27E7F061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読むのは、図面内部の文字・線・レイヤー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8B426C6-B48F-49DC-BB6A-35F6E80B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モデル空間を処理します。下図と数値は説明用の概念・例です。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3853EB60-DC6B-4855-B23C-89830E52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8B88B94-DCCE-40C2-90AA-941D179B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AD8F82E-E350-4648-B6A6-589E769D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出典：polyline_to_line_keep_others／sanitize_dxf_text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9B71821-2A1C-43BD-87FB-1AA9B511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  <p:sp>
        <p:nvSpPr>
          <p:cNvPr id="9" name="shape-7">
            <a:extLst xmlns:a="http://schemas.openxmlformats.org/drawingml/2006/main">
              <a:ext uri="{FF2B5EF4-FFF2-40B4-BE49-F238E27FC236}">
                <a16:creationId xmlns:a16="http://schemas.microsoft.com/office/drawing/2014/main" id="{F9C06099-FCFD-4473-9913-897536AA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8389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9B8B6CDE-560D-44F0-8219-D1E61440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縦断図の概念</a:t>
            </a:r>
          </a:p>
        </p:txBody>
      </p:sp>
      <p:sp>
        <p:nvSpPr>
          <p:cNvPr id="11" name="path-9">
            <a:extLst xmlns:a="http://schemas.openxmlformats.org/drawingml/2006/main">
              <a:ext uri="{FF2B5EF4-FFF2-40B4-BE49-F238E27FC236}">
                <a16:creationId xmlns:a16="http://schemas.microsoft.com/office/drawing/2014/main" id="{4BF7B461-1968-4332-88F9-9E71A654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57475"/>
            <a:ext cx="6210300" cy="819150"/>
          </a:xfrm>
          <a:custGeom xmlns:a="http://schemas.openxmlformats.org/drawingml/2006/main">
            <a:pathLst>
              <a:path w="6210300" h="819150">
                <a:moveTo>
                  <a:pt x="0" y="819150"/>
                </a:moveTo>
                <a:lnTo>
                  <a:pt x="1047750" y="257175"/>
                </a:lnTo>
                <a:lnTo>
                  <a:pt x="2171700" y="504825"/>
                </a:lnTo>
                <a:lnTo>
                  <a:pt x="3352800" y="0"/>
                </a:lnTo>
                <a:lnTo>
                  <a:pt x="4495800" y="371475"/>
                </a:lnTo>
                <a:lnTo>
                  <a:pt x="621030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0777A"/>
            </a:solidFill>
            <a:prstDash val="solid"/>
          </a:ln>
        </p:spPr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1553F4F4-58BF-456C-9EEB-B3683991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2571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VCR=1200</a:t>
            </a:r>
          </a:p>
        </p:txBody>
      </p:sp>
      <p:sp>
        <p:nvSpPr>
          <p:cNvPr id="13" name="shape-11">
            <a:extLst xmlns:a="http://schemas.openxmlformats.org/drawingml/2006/main">
              <a:ext uri="{FF2B5EF4-FFF2-40B4-BE49-F238E27FC236}">
                <a16:creationId xmlns:a16="http://schemas.microsoft.com/office/drawing/2014/main" id="{679C71C8-E337-41A9-B396-1F1B356C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636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14" name="shape-12">
            <a:extLst xmlns:a="http://schemas.openxmlformats.org/drawingml/2006/main">
              <a:ext uri="{FF2B5EF4-FFF2-40B4-BE49-F238E27FC236}">
                <a16:creationId xmlns:a16="http://schemas.microsoft.com/office/drawing/2014/main" id="{866E5328-2E01-44EB-840E-9483A0FE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054EBE3B-3E18-4C87-9330-4FC1E063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933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3B6634A5-459E-4E9C-AF2B-5C8290D3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48100"/>
            <a:ext cx="4667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R=200   L=80</a:t>
            </a:r>
          </a:p>
        </p:txBody>
      </p:sp>
      <p:sp>
        <p:nvSpPr>
          <p:cNvPr id="17" name="shape-15">
            <a:extLst xmlns:a="http://schemas.openxmlformats.org/drawingml/2006/main">
              <a:ext uri="{FF2B5EF4-FFF2-40B4-BE49-F238E27FC236}">
                <a16:creationId xmlns:a16="http://schemas.microsoft.com/office/drawing/2014/main" id="{3D4CDDEE-810B-4B8C-A57B-8D6C226A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636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18" name="shape-16">
            <a:extLst xmlns:a="http://schemas.openxmlformats.org/drawingml/2006/main">
              <a:ext uri="{FF2B5EF4-FFF2-40B4-BE49-F238E27FC236}">
                <a16:creationId xmlns:a16="http://schemas.microsoft.com/office/drawing/2014/main" id="{AE78BF49-D7A9-4B1C-A357-0E70D817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17">
            <a:extLst xmlns:a="http://schemas.openxmlformats.org/drawingml/2006/main">
              <a:ext uri="{FF2B5EF4-FFF2-40B4-BE49-F238E27FC236}">
                <a16:creationId xmlns:a16="http://schemas.microsoft.com/office/drawing/2014/main" id="{AC1A38F0-62F8-4E48-8A5B-F1660D54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933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</a:t>
            </a:r>
          </a:p>
        </p:txBody>
      </p:sp>
      <p:sp>
        <p:nvSpPr>
          <p:cNvPr id="20" name="text-18">
            <a:extLst xmlns:a="http://schemas.openxmlformats.org/drawingml/2006/main">
              <a:ext uri="{FF2B5EF4-FFF2-40B4-BE49-F238E27FC236}">
                <a16:creationId xmlns:a16="http://schemas.microsoft.com/office/drawing/2014/main" id="{20CE61C8-C9EE-4950-8D1D-1D88BB83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38650"/>
            <a:ext cx="4667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1/150</a:t>
            </a:r>
          </a:p>
        </p:txBody>
      </p:sp>
      <p:sp>
        <p:nvSpPr>
          <p:cNvPr id="21" name="shape-19">
            <a:extLst xmlns:a="http://schemas.openxmlformats.org/drawingml/2006/main">
              <a:ext uri="{FF2B5EF4-FFF2-40B4-BE49-F238E27FC236}">
                <a16:creationId xmlns:a16="http://schemas.microsoft.com/office/drawing/2014/main" id="{7FF1FB2A-F83E-422A-B60F-2B42ED10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36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22" name="shape-20">
            <a:extLst xmlns:a="http://schemas.openxmlformats.org/drawingml/2006/main">
              <a:ext uri="{FF2B5EF4-FFF2-40B4-BE49-F238E27FC236}">
                <a16:creationId xmlns:a16="http://schemas.microsoft.com/office/drawing/2014/main" id="{208D014C-4CF9-4BFC-A8EA-8D94B3B4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205D92C5-0606-4AE2-B7A8-A66734B5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933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勾配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4364717B-7AE3-43E9-B4EC-06F43D89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29200"/>
            <a:ext cx="4667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i=3.5%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A38F0F5A-7A18-49E3-B84F-087D2698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24075"/>
            <a:ext cx="3600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読み取る手掛かり</a:t>
            </a:r>
          </a:p>
        </p:txBody>
      </p:sp>
      <p:sp>
        <p:nvSpPr>
          <p:cNvPr id="26" name="shape-24">
            <a:extLst xmlns:a="http://schemas.openxmlformats.org/drawingml/2006/main">
              <a:ext uri="{FF2B5EF4-FFF2-40B4-BE49-F238E27FC236}">
                <a16:creationId xmlns:a16="http://schemas.microsoft.com/office/drawing/2014/main" id="{D8810D01-0D0B-4DFE-AD2B-D4B945EA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52725"/>
            <a:ext cx="3600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28FA5E65-382C-42C8-9546-479FC634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67025"/>
            <a:ext cx="97155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要素</a:t>
            </a:r>
          </a:p>
        </p:txBody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239D39E2-DF82-4C43-A4CD-CCB1B627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67025"/>
            <a:ext cx="21717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使い方</a:t>
            </a:r>
          </a:p>
        </p:txBody>
      </p:sp>
      <p:sp>
        <p:nvSpPr>
          <p:cNvPr id="29" name="shape-27">
            <a:extLst xmlns:a="http://schemas.openxmlformats.org/drawingml/2006/main">
              <a:ext uri="{FF2B5EF4-FFF2-40B4-BE49-F238E27FC236}">
                <a16:creationId xmlns:a16="http://schemas.microsoft.com/office/drawing/2014/main" id="{72D3B6C6-4E0B-4116-9661-0F73129A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90975"/>
            <a:ext cx="360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28">
            <a:extLst xmlns:a="http://schemas.openxmlformats.org/drawingml/2006/main">
              <a:ext uri="{FF2B5EF4-FFF2-40B4-BE49-F238E27FC236}">
                <a16:creationId xmlns:a16="http://schemas.microsoft.com/office/drawing/2014/main" id="{587432EE-9F3D-4A4D-A233-101C26E9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97155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TEXT</a:t>
            </a:r>
          </a:p>
        </p:txBody>
      </p:sp>
      <p:sp>
        <p:nvSpPr>
          <p:cNvPr id="31" name="text-29">
            <a:extLst xmlns:a="http://schemas.openxmlformats.org/drawingml/2006/main">
              <a:ext uri="{FF2B5EF4-FFF2-40B4-BE49-F238E27FC236}">
                <a16:creationId xmlns:a16="http://schemas.microsoft.com/office/drawing/2014/main" id="{CA64B4B6-819E-4B2D-A849-6E6CD034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86150"/>
            <a:ext cx="21717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表記・座標・回転</a:t>
            </a:r>
          </a:p>
        </p:txBody>
      </p:sp>
      <p:sp>
        <p:nvSpPr>
          <p:cNvPr id="32" name="shape-30">
            <a:extLst xmlns:a="http://schemas.openxmlformats.org/drawingml/2006/main">
              <a:ext uri="{FF2B5EF4-FFF2-40B4-BE49-F238E27FC236}">
                <a16:creationId xmlns:a16="http://schemas.microsoft.com/office/drawing/2014/main" id="{E2089026-570F-4DA6-9E93-3618895A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90975"/>
            <a:ext cx="3600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hape-31">
            <a:extLst xmlns:a="http://schemas.openxmlformats.org/drawingml/2006/main">
              <a:ext uri="{FF2B5EF4-FFF2-40B4-BE49-F238E27FC236}">
                <a16:creationId xmlns:a16="http://schemas.microsoft.com/office/drawing/2014/main" id="{CACA772E-B623-4038-8100-57E508DF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60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32">
            <a:extLst xmlns:a="http://schemas.openxmlformats.org/drawingml/2006/main">
              <a:ext uri="{FF2B5EF4-FFF2-40B4-BE49-F238E27FC236}">
                <a16:creationId xmlns:a16="http://schemas.microsoft.com/office/drawing/2014/main" id="{CD96F163-4110-4663-8116-EA12E7A2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05275"/>
            <a:ext cx="97155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LINE</a:t>
            </a:r>
          </a:p>
        </p:txBody>
      </p:sp>
      <p:sp>
        <p:nvSpPr>
          <p:cNvPr id="35" name="text-33">
            <a:extLst xmlns:a="http://schemas.openxmlformats.org/drawingml/2006/main">
              <a:ext uri="{FF2B5EF4-FFF2-40B4-BE49-F238E27FC236}">
                <a16:creationId xmlns:a16="http://schemas.microsoft.com/office/drawing/2014/main" id="{49EFAA6A-B866-462C-9BDB-4BB04809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05275"/>
            <a:ext cx="21717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帯の上下の罫線</a:t>
            </a:r>
          </a:p>
        </p:txBody>
      </p:sp>
      <p:sp>
        <p:nvSpPr>
          <p:cNvPr id="36" name="shape-34">
            <a:extLst xmlns:a="http://schemas.openxmlformats.org/drawingml/2006/main">
              <a:ext uri="{FF2B5EF4-FFF2-40B4-BE49-F238E27FC236}">
                <a16:creationId xmlns:a16="http://schemas.microsoft.com/office/drawing/2014/main" id="{45560963-BA50-4F8D-A444-099F4BEB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29225"/>
            <a:ext cx="360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35">
            <a:extLst xmlns:a="http://schemas.openxmlformats.org/drawingml/2006/main">
              <a:ext uri="{FF2B5EF4-FFF2-40B4-BE49-F238E27FC236}">
                <a16:creationId xmlns:a16="http://schemas.microsoft.com/office/drawing/2014/main" id="{8329614E-B412-43AA-90BE-50C9C4E6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24400"/>
            <a:ext cx="97155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レイヤー</a:t>
            </a:r>
          </a:p>
        </p:txBody>
      </p:sp>
      <p:sp>
        <p:nvSpPr>
          <p:cNvPr id="38" name="text-36">
            <a:extLst xmlns:a="http://schemas.openxmlformats.org/drawingml/2006/main">
              <a:ext uri="{FF2B5EF4-FFF2-40B4-BE49-F238E27FC236}">
                <a16:creationId xmlns:a16="http://schemas.microsoft.com/office/drawing/2014/main" id="{DE2701AA-BBD8-4F9F-9A93-1D079118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24400"/>
            <a:ext cx="21717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文字の取得対象</a:t>
            </a:r>
          </a:p>
        </p:txBody>
      </p:sp>
      <p:sp>
        <p:nvSpPr>
          <p:cNvPr id="39" name="shape-37">
            <a:extLst xmlns:a="http://schemas.openxmlformats.org/drawingml/2006/main">
              <a:ext uri="{FF2B5EF4-FFF2-40B4-BE49-F238E27FC236}">
                <a16:creationId xmlns:a16="http://schemas.microsoft.com/office/drawing/2014/main" id="{65CFA5E9-277E-4504-A64F-34165954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29225"/>
            <a:ext cx="3600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hape-38">
            <a:extLst xmlns:a="http://schemas.openxmlformats.org/drawingml/2006/main">
              <a:ext uri="{FF2B5EF4-FFF2-40B4-BE49-F238E27FC236}">
                <a16:creationId xmlns:a16="http://schemas.microsoft.com/office/drawing/2014/main" id="{B85CE6FD-0AC6-4643-969A-F7FB1E6E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848350"/>
            <a:ext cx="360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-39">
            <a:extLst xmlns:a="http://schemas.openxmlformats.org/drawingml/2006/main">
              <a:ext uri="{FF2B5EF4-FFF2-40B4-BE49-F238E27FC236}">
                <a16:creationId xmlns:a16="http://schemas.microsoft.com/office/drawing/2014/main" id="{1ECFAF74-225A-446E-8838-6C383E2A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43525"/>
            <a:ext cx="97155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X / Y座標</a:t>
            </a:r>
          </a:p>
        </p:txBody>
      </p:sp>
      <p:sp>
        <p:nvSpPr>
          <p:cNvPr id="42" name="text-40">
            <a:extLst xmlns:a="http://schemas.openxmlformats.org/drawingml/2006/main">
              <a:ext uri="{FF2B5EF4-FFF2-40B4-BE49-F238E27FC236}">
                <a16:creationId xmlns:a16="http://schemas.microsoft.com/office/drawing/2014/main" id="{029D1BD4-9B7B-4609-917E-DFC88ADE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343525"/>
            <a:ext cx="21717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並び・帯内・前後</a:t>
            </a:r>
          </a:p>
        </p:txBody>
      </p:sp>
      <p:sp>
        <p:nvSpPr>
          <p:cNvPr id="43" name="text-41">
            <a:extLst xmlns:a="http://schemas.openxmlformats.org/drawingml/2006/main">
              <a:ext uri="{FF2B5EF4-FFF2-40B4-BE49-F238E27FC236}">
                <a16:creationId xmlns:a16="http://schemas.microsoft.com/office/drawing/2014/main" id="{B81FC7C5-9728-40EC-B366-2CB8C7E0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943600"/>
            <a:ext cx="360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画像認識（OCR）ではない</a:t>
            </a:r>
          </a:p>
        </p:txBody>
      </p:sp>
    </p:spTree>
    <p:extLst>
      <p:ext uri="{BB962C8B-B14F-4D97-AF65-F5344CB8AC3E}">
        <p14:creationId xmlns:p14="http://schemas.microsoft.com/office/powerpoint/2010/main" val="1219553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B60325B-AAD2-4E7A-831A-7B826DAA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441EEDF-F22D-4C78-A8A8-B7AA4F63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07  BAND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1801EFAE-70DF-42B5-ABE9-31CCAD52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帯タイトルの上下にある罫線で、読む高さを決める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EE4FB33-9191-4E8E-B645-C7F0AA69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文字の挿入点Y座標で帯内を判定します。文字枠全体の収まり判定ではありません。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83F98184-B5B7-4582-8BFB-503C1A05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01E4CC3-D444-424E-A677-204ED634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852D7ACD-1612-447E-9429-E2707D5E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出典：find_belt_edges_by_text／belt_utils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FF67E38-C272-4C35-8C5D-1840D642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D7AC9044-2C42-411D-9B94-9D778719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4291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D-TTL-BAND の文字を確認</a:t>
            </a:r>
          </a:p>
        </p:txBody>
      </p:sp>
      <p:sp>
        <p:nvSpPr>
          <p:cNvPr id="10" name="shape-8">
            <a:extLst xmlns:a="http://schemas.openxmlformats.org/drawingml/2006/main">
              <a:ext uri="{FF2B5EF4-FFF2-40B4-BE49-F238E27FC236}">
                <a16:creationId xmlns:a16="http://schemas.microsoft.com/office/drawing/2014/main" id="{75933FD1-5350-4F03-AFF7-7C9D7411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105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7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-9">
            <a:extLst xmlns:a="http://schemas.openxmlformats.org/drawingml/2006/main">
              <a:ext uri="{FF2B5EF4-FFF2-40B4-BE49-F238E27FC236}">
                <a16:creationId xmlns:a16="http://schemas.microsoft.com/office/drawing/2014/main" id="{463EF531-9DED-4C29-878A-2A964A80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105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7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EF8D9453-90F4-45C4-A9F1-B045ADDC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9975"/>
            <a:ext cx="1047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</a:t>
            </a:r>
          </a:p>
        </p:txBody>
      </p:sp>
      <p:sp>
        <p:nvSpPr>
          <p:cNvPr id="13" name="path-11">
            <a:extLst xmlns:a="http://schemas.openxmlformats.org/drawingml/2006/main">
              <a:ext uri="{FF2B5EF4-FFF2-40B4-BE49-F238E27FC236}">
                <a16:creationId xmlns:a16="http://schemas.microsoft.com/office/drawing/2014/main" id="{85E0A0B3-17EB-47C3-AFF1-3C80C394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"/>
            <a:ext cx="9525" cy="676275"/>
          </a:xfrm>
          <a:custGeom xmlns:a="http://schemas.openxmlformats.org/drawingml/2006/main">
            <a:pathLst>
              <a:path w="9525" h="676275">
                <a:moveTo>
                  <a:pt x="0" y="0"/>
                </a:moveTo>
                <a:lnTo>
                  <a:pt x="0" y="6762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EDD"/>
            </a:solidFill>
            <a:prstDash val="solid"/>
          </a:ln>
        </p:spPr>
      </p:sp>
      <p:sp>
        <p:nvSpPr>
          <p:cNvPr id="14" name="path-12">
            <a:extLst xmlns:a="http://schemas.openxmlformats.org/drawingml/2006/main">
              <a:ext uri="{FF2B5EF4-FFF2-40B4-BE49-F238E27FC236}">
                <a16:creationId xmlns:a16="http://schemas.microsoft.com/office/drawing/2014/main" id="{5D669A7D-3DFD-4A3E-8D79-3D599D34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9525" cy="1057275"/>
          </a:xfrm>
          <a:custGeom xmlns:a="http://schemas.openxmlformats.org/drawingml/2006/main">
            <a:pathLst>
              <a:path w="9525" h="1057275">
                <a:moveTo>
                  <a:pt x="0" y="0"/>
                </a:moveTo>
                <a:lnTo>
                  <a:pt x="0" y="10572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EDD"/>
            </a:solidFill>
            <a:prstDash val="solid"/>
          </a:ln>
        </p:spPr>
      </p:sp>
      <p:sp>
        <p:nvSpPr>
          <p:cNvPr id="15" name="shape-13">
            <a:extLst xmlns:a="http://schemas.openxmlformats.org/drawingml/2006/main">
              <a:ext uri="{FF2B5EF4-FFF2-40B4-BE49-F238E27FC236}">
                <a16:creationId xmlns:a16="http://schemas.microsoft.com/office/drawing/2014/main" id="{042EF6B7-EED2-4A5C-A4A6-A14F43C6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D9DE2207-0DE2-48CD-888A-4038208D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タイトルの挿入点X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CFFA5816-022F-4F12-A5D5-A925BB80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1905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R=200</a:t>
            </a:r>
          </a:p>
        </p:txBody>
      </p:sp>
      <p:sp>
        <p:nvSpPr>
          <p:cNvPr id="18" name="shape-16">
            <a:extLst xmlns:a="http://schemas.openxmlformats.org/drawingml/2006/main">
              <a:ext uri="{FF2B5EF4-FFF2-40B4-BE49-F238E27FC236}">
                <a16:creationId xmlns:a16="http://schemas.microsoft.com/office/drawing/2014/main" id="{BF99E7E2-633E-474C-B62F-5A7A7594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17">
            <a:extLst xmlns:a="http://schemas.openxmlformats.org/drawingml/2006/main">
              <a:ext uri="{FF2B5EF4-FFF2-40B4-BE49-F238E27FC236}">
                <a16:creationId xmlns:a16="http://schemas.microsoft.com/office/drawing/2014/main" id="{75B6F754-7584-45D4-9609-5C7C362B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05765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挿入点が帯内 → 候補</a:t>
            </a:r>
          </a:p>
        </p:txBody>
      </p:sp>
      <p:sp>
        <p:nvSpPr>
          <p:cNvPr id="20" name="text-18">
            <a:extLst xmlns:a="http://schemas.openxmlformats.org/drawingml/2006/main">
              <a:ext uri="{FF2B5EF4-FFF2-40B4-BE49-F238E27FC236}">
                <a16:creationId xmlns:a16="http://schemas.microsoft.com/office/drawing/2014/main" id="{EA1A6761-616F-4DCA-8F1D-DD1289C2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33625"/>
            <a:ext cx="1676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R=80</a:t>
            </a:r>
          </a:p>
        </p:txBody>
      </p:sp>
      <p:sp>
        <p:nvSpPr>
          <p:cNvPr id="21" name="shape-19">
            <a:extLst xmlns:a="http://schemas.openxmlformats.org/drawingml/2006/main">
              <a:ext uri="{FF2B5EF4-FFF2-40B4-BE49-F238E27FC236}">
                <a16:creationId xmlns:a16="http://schemas.microsoft.com/office/drawing/2014/main" id="{6222DA48-22AC-4B68-A9F1-312A131E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7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CE888E57-6147-45E0-80FC-E6FC80FE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90825"/>
            <a:ext cx="2114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帯外 → 対象外</a:t>
            </a:r>
          </a:p>
        </p:txBody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BEEB171B-F6ED-452B-A237-74D23E99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00400"/>
            <a:ext cx="76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上端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323F0F1D-BAE1-468D-A784-4D56C1F4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19600"/>
            <a:ext cx="76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下端</a:t>
            </a:r>
          </a:p>
        </p:txBody>
      </p:sp>
      <p:sp>
        <p:nvSpPr>
          <p:cNvPr id="25" name="shape-23">
            <a:extLst xmlns:a="http://schemas.openxmlformats.org/drawingml/2006/main">
              <a:ext uri="{FF2B5EF4-FFF2-40B4-BE49-F238E27FC236}">
                <a16:creationId xmlns:a16="http://schemas.microsoft.com/office/drawing/2014/main" id="{F971F56F-6E9A-4C44-9D77-16856CF5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555" y="232600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19626F11-1985-410C-B84A-95D64D6C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52650"/>
            <a:ext cx="3171825" cy="293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タイトルと完全一致</a:t>
            </a:r>
          </a:p>
        </p:txBody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EEA68063-6D1A-4079-88CE-8C661330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446020"/>
            <a:ext cx="3171825" cy="293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分割文字も候補にする</a:t>
            </a:r>
          </a:p>
        </p:txBody>
      </p:sp>
      <p:sp>
        <p:nvSpPr>
          <p:cNvPr id="28" name="shape-26">
            <a:extLst xmlns:a="http://schemas.openxmlformats.org/drawingml/2006/main">
              <a:ext uri="{FF2B5EF4-FFF2-40B4-BE49-F238E27FC236}">
                <a16:creationId xmlns:a16="http://schemas.microsoft.com/office/drawing/2014/main" id="{2307EA67-3F6F-4119-99C1-D7B558E9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555" y="339280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57CBEF34-1793-425C-A290-C176463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19450"/>
            <a:ext cx="3171825" cy="293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タイトルXをまたぐ</a:t>
            </a:r>
          </a:p>
        </p:txBody>
      </p:sp>
      <p:sp>
        <p:nvSpPr>
          <p:cNvPr id="30" name="text-28">
            <a:extLst xmlns:a="http://schemas.openxmlformats.org/drawingml/2006/main">
              <a:ext uri="{FF2B5EF4-FFF2-40B4-BE49-F238E27FC236}">
                <a16:creationId xmlns:a16="http://schemas.microsoft.com/office/drawing/2014/main" id="{7CD27F11-E3F4-4B7E-8343-DC5F6B2F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512820"/>
            <a:ext cx="3171825" cy="293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直近の上下水平LINE</a:t>
            </a:r>
          </a:p>
        </p:txBody>
      </p:sp>
      <p:sp>
        <p:nvSpPr>
          <p:cNvPr id="31" name="shape-29">
            <a:extLst xmlns:a="http://schemas.openxmlformats.org/drawingml/2006/main">
              <a:ext uri="{FF2B5EF4-FFF2-40B4-BE49-F238E27FC236}">
                <a16:creationId xmlns:a16="http://schemas.microsoft.com/office/drawing/2014/main" id="{7719C990-49F5-4242-9154-C6B63027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555" y="445960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30">
            <a:extLst xmlns:a="http://schemas.openxmlformats.org/drawingml/2006/main">
              <a:ext uri="{FF2B5EF4-FFF2-40B4-BE49-F238E27FC236}">
                <a16:creationId xmlns:a16="http://schemas.microsoft.com/office/drawing/2014/main" id="{A4AAA763-1AB0-4BDC-8BEF-B9640C1A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286250"/>
            <a:ext cx="3171825" cy="293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罫線は全レイヤー対象</a:t>
            </a:r>
          </a:p>
        </p:txBody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8F53AE80-B92C-4F3C-8EBA-F2825547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579620"/>
            <a:ext cx="3171825" cy="293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左右端のX範囲制限はない</a:t>
            </a:r>
          </a:p>
        </p:txBody>
      </p:sp>
      <p:sp>
        <p:nvSpPr>
          <p:cNvPr id="34" name="shape-32">
            <a:extLst xmlns:a="http://schemas.openxmlformats.org/drawingml/2006/main">
              <a:ext uri="{FF2B5EF4-FFF2-40B4-BE49-F238E27FC236}">
                <a16:creationId xmlns:a16="http://schemas.microsoft.com/office/drawing/2014/main" id="{71CEB06E-5EBB-4110-B25F-57660E39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33">
            <a:extLst xmlns:a="http://schemas.openxmlformats.org/drawingml/2006/main">
              <a:ext uri="{FF2B5EF4-FFF2-40B4-BE49-F238E27FC236}">
                <a16:creationId xmlns:a16="http://schemas.microsoft.com/office/drawing/2014/main" id="{63474C34-400B-4070-ABBC-88BA7A3D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曲率・片勾配は帯の上下端内。勾配は帯の下端以上を、上限なしで取得する</a:t>
            </a:r>
          </a:p>
        </p:txBody>
      </p:sp>
    </p:spTree>
    <p:extLst>
      <p:ext uri="{BB962C8B-B14F-4D97-AF65-F5344CB8AC3E}">
        <p14:creationId xmlns:p14="http://schemas.microsoft.com/office/powerpoint/2010/main" val="3272582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2F0313B-02C5-4B0A-A5EB-D6E32DBC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394AD2E-08AD-4C5F-B436-FB67317C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08  CANDIDATE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97958B2E-72E8-411C-B572-F313E40C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R・A・Lの表記を拾い、X位置で組にする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66DAF79-E559-4F5A-BF10-86522470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接頭辞と数値化、件数、位置の順に確認します。数値は説明用の例です。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82DB0871-6D0A-4AD5-9CE0-11C745B7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1EECD0C-6B10-49FF-94AE-13DF26BC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C3A0430-3FBA-433E-8C8D-6EDF1D87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出典：get_curvature L66–87,224–271,704–773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BB69063F-5780-46A1-A282-0B20E6C1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9" name="shape-7">
            <a:extLst xmlns:a="http://schemas.openxmlformats.org/drawingml/2006/main">
              <a:ext uri="{FF2B5EF4-FFF2-40B4-BE49-F238E27FC236}">
                <a16:creationId xmlns:a16="http://schemas.microsoft.com/office/drawing/2014/main" id="{56AA10F0-1AF7-4C07-B9E0-ACC08A4C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6915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6DE9CD40-A980-480E-AEF2-26704642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候補文字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BF688DBF-8717-4C4E-8C3F-80DB0946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2990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条件確認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31F8A3BE-A0EA-48D8-BAF2-544A2F27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8600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扱い</a:t>
            </a:r>
          </a:p>
        </p:txBody>
      </p:sp>
      <p:sp>
        <p:nvSpPr>
          <p:cNvPr id="13" name="shape-11">
            <a:extLst xmlns:a="http://schemas.openxmlformats.org/drawingml/2006/main">
              <a:ext uri="{FF2B5EF4-FFF2-40B4-BE49-F238E27FC236}">
                <a16:creationId xmlns:a16="http://schemas.microsoft.com/office/drawing/2014/main" id="{1A4FFBC8-C286-4E0E-9F20-339364CB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691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89FF51CF-4B5D-4E45-8F7D-04A98445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R=200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2CB1BF60-C391-47F1-AFEC-7AFECC5E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2990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指定接頭辞＋数値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952E2FC0-C1B3-43CF-ACD0-A21587DF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7655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半径候補</a:t>
            </a:r>
          </a:p>
        </p:txBody>
      </p:sp>
      <p:sp>
        <p:nvSpPr>
          <p:cNvPr id="17" name="shape-15">
            <a:extLst xmlns:a="http://schemas.openxmlformats.org/drawingml/2006/main">
              <a:ext uri="{FF2B5EF4-FFF2-40B4-BE49-F238E27FC236}">
                <a16:creationId xmlns:a16="http://schemas.microsoft.com/office/drawing/2014/main" id="{E9B4A39A-B685-4AEB-84AB-36F0C6CD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6915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hape-16">
            <a:extLst xmlns:a="http://schemas.openxmlformats.org/drawingml/2006/main">
              <a:ext uri="{FF2B5EF4-FFF2-40B4-BE49-F238E27FC236}">
                <a16:creationId xmlns:a16="http://schemas.microsoft.com/office/drawing/2014/main" id="{143584CA-95FE-41CB-9722-CD524B5A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691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17">
            <a:extLst xmlns:a="http://schemas.openxmlformats.org/drawingml/2006/main">
              <a:ext uri="{FF2B5EF4-FFF2-40B4-BE49-F238E27FC236}">
                <a16:creationId xmlns:a16="http://schemas.microsoft.com/office/drawing/2014/main" id="{9792886C-B8ED-4E27-831F-B23DFAE9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A=80</a:t>
            </a:r>
          </a:p>
        </p:txBody>
      </p:sp>
      <p:sp>
        <p:nvSpPr>
          <p:cNvPr id="20" name="text-18">
            <a:extLst xmlns:a="http://schemas.openxmlformats.org/drawingml/2006/main">
              <a:ext uri="{FF2B5EF4-FFF2-40B4-BE49-F238E27FC236}">
                <a16:creationId xmlns:a16="http://schemas.microsoft.com/office/drawing/2014/main" id="{F0A06853-86B8-4441-8C68-9599826B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67100"/>
            <a:ext cx="2990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指定接頭辞＋数値</a:t>
            </a:r>
          </a:p>
        </p:txBody>
      </p:sp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C1B0A9D6-7F10-4C9C-9E69-F6157D25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6710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緩和曲線候補</a:t>
            </a:r>
          </a:p>
        </p:txBody>
      </p:sp>
      <p:sp>
        <p:nvSpPr>
          <p:cNvPr id="22" name="shape-20">
            <a:extLst xmlns:a="http://schemas.openxmlformats.org/drawingml/2006/main">
              <a:ext uri="{FF2B5EF4-FFF2-40B4-BE49-F238E27FC236}">
                <a16:creationId xmlns:a16="http://schemas.microsoft.com/office/drawing/2014/main" id="{AD58B9DA-D9E7-4264-AF8B-E2FAE55A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691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3B616216-5E47-434B-AEB5-51E4390B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L=30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D53CB180-041E-402E-B592-49A56B1B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57650"/>
            <a:ext cx="2990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指定接頭辞＋数値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8213F18B-D912-42EF-A175-6DBE0760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5765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長さ候補</a:t>
            </a:r>
          </a:p>
        </p:txBody>
      </p:sp>
      <p:sp>
        <p:nvSpPr>
          <p:cNvPr id="26" name="shape-24">
            <a:extLst xmlns:a="http://schemas.openxmlformats.org/drawingml/2006/main">
              <a:ext uri="{FF2B5EF4-FFF2-40B4-BE49-F238E27FC236}">
                <a16:creationId xmlns:a16="http://schemas.microsoft.com/office/drawing/2014/main" id="{87AE2C7E-148F-42E2-9692-A4AC55C6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6915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hape-25">
            <a:extLst xmlns:a="http://schemas.openxmlformats.org/drawingml/2006/main">
              <a:ext uri="{FF2B5EF4-FFF2-40B4-BE49-F238E27FC236}">
                <a16:creationId xmlns:a16="http://schemas.microsoft.com/office/drawing/2014/main" id="{229699D5-E2F0-467C-9411-220D3953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691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9CB4C2F3-4968-4B04-A8C4-CC409DE4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R=50m</a:t>
            </a:r>
          </a:p>
        </p:txBody>
      </p:sp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8B487BC5-147A-4929-B6E3-6FE2CA87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48200"/>
            <a:ext cx="2990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mを含み数値化できない</a:t>
            </a:r>
          </a:p>
        </p:txBody>
      </p:sp>
      <p:sp>
        <p:nvSpPr>
          <p:cNvPr id="30" name="text-28">
            <a:extLst xmlns:a="http://schemas.openxmlformats.org/drawingml/2006/main">
              <a:ext uri="{FF2B5EF4-FFF2-40B4-BE49-F238E27FC236}">
                <a16:creationId xmlns:a16="http://schemas.microsoft.com/office/drawing/2014/main" id="{B2E15FFC-3E90-45F1-A7E5-A775965E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4820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対象外</a:t>
            </a:r>
          </a:p>
        </p:txBody>
      </p:sp>
      <p:sp>
        <p:nvSpPr>
          <p:cNvPr id="31" name="text-29">
            <a:extLst xmlns:a="http://schemas.openxmlformats.org/drawingml/2006/main">
              <a:ext uri="{FF2B5EF4-FFF2-40B4-BE49-F238E27FC236}">
                <a16:creationId xmlns:a16="http://schemas.microsoft.com/office/drawing/2014/main" id="{750C340B-243B-4778-997D-1BE231C9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05025"/>
            <a:ext cx="34861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対応付けの手順</a:t>
            </a:r>
          </a:p>
        </p:txBody>
      </p:sp>
      <p:sp>
        <p:nvSpPr>
          <p:cNvPr id="32" name="shape-30">
            <a:extLst xmlns:a="http://schemas.openxmlformats.org/drawingml/2006/main">
              <a:ext uri="{FF2B5EF4-FFF2-40B4-BE49-F238E27FC236}">
                <a16:creationId xmlns:a16="http://schemas.microsoft.com/office/drawing/2014/main" id="{AB8537F2-171C-43BA-A190-B991A8DB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830" y="286893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9B07D462-CDA2-433D-BFDB-E0530B94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95575"/>
            <a:ext cx="3257550" cy="280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Rの件数＋Aの件数</a:t>
            </a:r>
          </a:p>
        </p:txBody>
      </p:sp>
      <p:sp>
        <p:nvSpPr>
          <p:cNvPr id="34" name="text-32">
            <a:extLst xmlns:a="http://schemas.openxmlformats.org/drawingml/2006/main">
              <a:ext uri="{FF2B5EF4-FFF2-40B4-BE49-F238E27FC236}">
                <a16:creationId xmlns:a16="http://schemas.microsoft.com/office/drawing/2014/main" id="{A84C7DA7-407B-4037-A15C-FF5579DB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75610"/>
            <a:ext cx="3257550" cy="280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＝Lの件数か確認</a:t>
            </a:r>
          </a:p>
        </p:txBody>
      </p:sp>
      <p:sp>
        <p:nvSpPr>
          <p:cNvPr id="35" name="shape-33">
            <a:extLst xmlns:a="http://schemas.openxmlformats.org/drawingml/2006/main">
              <a:ext uri="{FF2B5EF4-FFF2-40B4-BE49-F238E27FC236}">
                <a16:creationId xmlns:a16="http://schemas.microsoft.com/office/drawing/2014/main" id="{875C7230-544F-4AF1-973D-FA6B14A7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830" y="386905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34">
            <a:extLst xmlns:a="http://schemas.openxmlformats.org/drawingml/2006/main">
              <a:ext uri="{FF2B5EF4-FFF2-40B4-BE49-F238E27FC236}">
                <a16:creationId xmlns:a16="http://schemas.microsoft.com/office/drawing/2014/main" id="{4101B16C-B88D-4BE4-93D1-4720228F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95700"/>
            <a:ext cx="3257550" cy="280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Xが近い隣接要素を整理</a:t>
            </a:r>
          </a:p>
        </p:txBody>
      </p:sp>
      <p:sp>
        <p:nvSpPr>
          <p:cNvPr id="37" name="text-35">
            <a:extLst xmlns:a="http://schemas.openxmlformats.org/drawingml/2006/main">
              <a:ext uri="{FF2B5EF4-FFF2-40B4-BE49-F238E27FC236}">
                <a16:creationId xmlns:a16="http://schemas.microsoft.com/office/drawing/2014/main" id="{23605B66-ED55-4C1F-97FB-E32C00D0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75735"/>
            <a:ext cx="3257550" cy="280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同じXのLとA/Rを組にする</a:t>
            </a:r>
          </a:p>
        </p:txBody>
      </p:sp>
      <p:sp>
        <p:nvSpPr>
          <p:cNvPr id="38" name="shape-36">
            <a:extLst xmlns:a="http://schemas.openxmlformats.org/drawingml/2006/main">
              <a:ext uri="{FF2B5EF4-FFF2-40B4-BE49-F238E27FC236}">
                <a16:creationId xmlns:a16="http://schemas.microsoft.com/office/drawing/2014/main" id="{47F80472-8AE8-4F12-A133-2A30A0DE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830" y="486918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-37">
            <a:extLst xmlns:a="http://schemas.openxmlformats.org/drawingml/2006/main">
              <a:ext uri="{FF2B5EF4-FFF2-40B4-BE49-F238E27FC236}">
                <a16:creationId xmlns:a16="http://schemas.microsoft.com/office/drawing/2014/main" id="{F90F6B4C-BE2B-4E14-A10E-87CDEF60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95825"/>
            <a:ext cx="3257550" cy="280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同じXではAを優先</a:t>
            </a:r>
          </a:p>
        </p:txBody>
      </p:sp>
      <p:sp>
        <p:nvSpPr>
          <p:cNvPr id="40" name="text-38">
            <a:extLst xmlns:a="http://schemas.openxmlformats.org/drawingml/2006/main">
              <a:ext uri="{FF2B5EF4-FFF2-40B4-BE49-F238E27FC236}">
                <a16:creationId xmlns:a16="http://schemas.microsoft.com/office/drawing/2014/main" id="{604A5770-F5D3-4F50-884D-2990F305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75860"/>
            <a:ext cx="3257550" cy="280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組のY中点で左右を分類</a:t>
            </a:r>
          </a:p>
        </p:txBody>
      </p:sp>
      <p:sp>
        <p:nvSpPr>
          <p:cNvPr id="41" name="shape-39">
            <a:extLst xmlns:a="http://schemas.openxmlformats.org/drawingml/2006/main">
              <a:ext uri="{FF2B5EF4-FFF2-40B4-BE49-F238E27FC236}">
                <a16:creationId xmlns:a16="http://schemas.microsoft.com/office/drawing/2014/main" id="{041504DA-ECBC-4750-A632-945E792F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40">
            <a:extLst xmlns:a="http://schemas.openxmlformats.org/drawingml/2006/main">
              <a:ext uri="{FF2B5EF4-FFF2-40B4-BE49-F238E27FC236}">
                <a16:creationId xmlns:a16="http://schemas.microsoft.com/office/drawing/2014/main" id="{F4C0A32E-2358-4C3E-A815-762755E1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件数が合わないと、緩和曲線・省略半径・速度別曲線長は「-」。半径は残る場合あり</a:t>
            </a:r>
          </a:p>
        </p:txBody>
      </p:sp>
    </p:spTree>
    <p:extLst>
      <p:ext uri="{BB962C8B-B14F-4D97-AF65-F5344CB8AC3E}">
        <p14:creationId xmlns:p14="http://schemas.microsoft.com/office/powerpoint/2010/main" val="858445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9347638-7483-4E53-857F-A756809D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C53FAD7-BDFB-4BA5-B5C2-E8B6C355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09  CLASSIFICATION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F5A0A4D0-5B09-4DB3-A8E8-076FB61A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取得元は、平面線形・片勾配・縦断線形の3系統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7B40164-EF14-4071-84E1-D66563A7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同じ「R=」でも、指定レイヤーと処理が異なります。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F2068AC1-AC0A-48E8-8EEB-4EE5B144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55C9D0C-1098-4B15-BE03-4BEA0F8D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A5D40BC7-2A14-4B3D-8232-704A80BD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出典：controller／各抽出モジュール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4D18AA5-6A1E-4310-B2A9-8005E9C4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9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0EB4BAE-2270-4DDC-AD07-AA19F354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34480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平面線形</a:t>
            </a:r>
          </a:p>
        </p:txBody>
      </p:sp>
      <p:sp>
        <p:nvSpPr>
          <p:cNvPr id="10" name="shape-8">
            <a:extLst xmlns:a="http://schemas.openxmlformats.org/drawingml/2006/main">
              <a:ext uri="{FF2B5EF4-FFF2-40B4-BE49-F238E27FC236}">
                <a16:creationId xmlns:a16="http://schemas.microsoft.com/office/drawing/2014/main" id="{9466DD8A-A2BE-4728-8F4C-8A49A47E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44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7B042AA5-3AC4-4C09-B240-97863C33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133600"/>
            <a:ext cx="34480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片勾配</a:t>
            </a:r>
          </a:p>
        </p:txBody>
      </p:sp>
      <p:sp>
        <p:nvSpPr>
          <p:cNvPr id="12" name="shape-10">
            <a:extLst xmlns:a="http://schemas.openxmlformats.org/drawingml/2006/main">
              <a:ext uri="{FF2B5EF4-FFF2-40B4-BE49-F238E27FC236}">
                <a16:creationId xmlns:a16="http://schemas.microsoft.com/office/drawing/2014/main" id="{F2B3B86D-7A3A-4788-8B41-4FC63AD2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14625"/>
            <a:ext cx="344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C7E11BB1-9152-4D1B-B841-14D791C5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33600"/>
            <a:ext cx="34480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縦断線形</a:t>
            </a:r>
          </a:p>
        </p:txBody>
      </p:sp>
      <p:sp>
        <p:nvSpPr>
          <p:cNvPr id="14" name="shape-12">
            <a:extLst xmlns:a="http://schemas.openxmlformats.org/drawingml/2006/main">
              <a:ext uri="{FF2B5EF4-FFF2-40B4-BE49-F238E27FC236}">
                <a16:creationId xmlns:a16="http://schemas.microsoft.com/office/drawing/2014/main" id="{5562E717-6C1E-44AA-B73C-993EB6FF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344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39E0550C-E63A-475B-96EB-FD8C8AD7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34480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曲率帯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E2A9B32A-1E05-40F7-B5AB-9F471743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448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R= / A= / L= など</a:t>
            </a:r>
          </a:p>
        </p:txBody>
      </p:sp>
      <p:sp>
        <p:nvSpPr>
          <p:cNvPr id="17" name="shape-15">
            <a:extLst xmlns:a="http://schemas.openxmlformats.org/drawingml/2006/main">
              <a:ext uri="{FF2B5EF4-FFF2-40B4-BE49-F238E27FC236}">
                <a16:creationId xmlns:a16="http://schemas.microsoft.com/office/drawing/2014/main" id="{21580D82-09E9-4E07-A32A-6A8794F2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405955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6B8A7FE5-3C89-4828-B565-9C0A56B0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32194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最小曲線半径</a:t>
            </a:r>
          </a:p>
        </p:txBody>
      </p:sp>
      <p:sp>
        <p:nvSpPr>
          <p:cNvPr id="19" name="shape-17">
            <a:extLst xmlns:a="http://schemas.openxmlformats.org/drawingml/2006/main">
              <a:ext uri="{FF2B5EF4-FFF2-40B4-BE49-F238E27FC236}">
                <a16:creationId xmlns:a16="http://schemas.microsoft.com/office/drawing/2014/main" id="{4BC0E4D9-9516-4984-AC11-991FF2BF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446913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8">
            <a:extLst xmlns:a="http://schemas.openxmlformats.org/drawingml/2006/main">
              <a:ext uri="{FF2B5EF4-FFF2-40B4-BE49-F238E27FC236}">
                <a16:creationId xmlns:a16="http://schemas.microsoft.com/office/drawing/2014/main" id="{97F105B2-2ACC-4097-8242-EC880F0B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5775"/>
            <a:ext cx="32194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最小緩和曲線長</a:t>
            </a:r>
          </a:p>
        </p:txBody>
      </p:sp>
      <p:sp>
        <p:nvSpPr>
          <p:cNvPr id="21" name="shape-19">
            <a:extLst xmlns:a="http://schemas.openxmlformats.org/drawingml/2006/main">
              <a:ext uri="{FF2B5EF4-FFF2-40B4-BE49-F238E27FC236}">
                <a16:creationId xmlns:a16="http://schemas.microsoft.com/office/drawing/2014/main" id="{E7461371-CDFB-4CB9-ACA1-0F7D9760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487870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B5253321-D3D7-4565-8A9B-F76F787D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32194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緩和曲線省略半径</a:t>
            </a:r>
          </a:p>
        </p:txBody>
      </p:sp>
      <p:sp>
        <p:nvSpPr>
          <p:cNvPr id="23" name="shape-21">
            <a:extLst xmlns:a="http://schemas.openxmlformats.org/drawingml/2006/main">
              <a:ext uri="{FF2B5EF4-FFF2-40B4-BE49-F238E27FC236}">
                <a16:creationId xmlns:a16="http://schemas.microsoft.com/office/drawing/2014/main" id="{0C6A0AAD-BF64-4606-87CF-B06EDC8C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528828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203BF85B-F826-43A3-B81E-3F11CABC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32194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速度別の最小曲線長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42A8CFA7-55E0-4C3A-88C1-CDDB6FA9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86075"/>
            <a:ext cx="34480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片勾配帯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E62D898A-72FB-4748-92FC-5859D731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33750"/>
            <a:ext cx="3448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1/150 などの分数</a:t>
            </a:r>
          </a:p>
        </p:txBody>
      </p:sp>
      <p:sp>
        <p:nvSpPr>
          <p:cNvPr id="27" name="shape-25">
            <a:extLst xmlns:a="http://schemas.openxmlformats.org/drawingml/2006/main">
              <a:ext uri="{FF2B5EF4-FFF2-40B4-BE49-F238E27FC236}">
                <a16:creationId xmlns:a16="http://schemas.microsoft.com/office/drawing/2014/main" id="{55A21CE3-CDDA-4CE4-93C8-74898540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555" y="405955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2D8EFAC7-16E1-48AB-8F4A-02DF5F87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86200"/>
            <a:ext cx="3219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分数を数値に直す</a:t>
            </a:r>
          </a:p>
        </p:txBody>
      </p:sp>
      <p:sp>
        <p:nvSpPr>
          <p:cNvPr id="29" name="shape-27">
            <a:extLst xmlns:a="http://schemas.openxmlformats.org/drawingml/2006/main">
              <a:ext uri="{FF2B5EF4-FFF2-40B4-BE49-F238E27FC236}">
                <a16:creationId xmlns:a16="http://schemas.microsoft.com/office/drawing/2014/main" id="{C77793A6-B53A-48D8-9BEA-C7DBE7C2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555" y="458343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28">
            <a:extLst xmlns:a="http://schemas.openxmlformats.org/drawingml/2006/main">
              <a:ext uri="{FF2B5EF4-FFF2-40B4-BE49-F238E27FC236}">
                <a16:creationId xmlns:a16="http://schemas.microsoft.com/office/drawing/2014/main" id="{B504BB97-77AD-4B92-BAA5-9ADD9F2A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410075"/>
            <a:ext cx="3219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数値として最大を選ぶ</a:t>
            </a:r>
          </a:p>
        </p:txBody>
      </p:sp>
      <p:sp>
        <p:nvSpPr>
          <p:cNvPr id="31" name="shape-29">
            <a:extLst xmlns:a="http://schemas.openxmlformats.org/drawingml/2006/main">
              <a:ext uri="{FF2B5EF4-FFF2-40B4-BE49-F238E27FC236}">
                <a16:creationId xmlns:a16="http://schemas.microsoft.com/office/drawing/2014/main" id="{1B1C2E82-044E-4792-BE3D-488262D8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555" y="510730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30">
            <a:extLst xmlns:a="http://schemas.openxmlformats.org/drawingml/2006/main">
              <a:ext uri="{FF2B5EF4-FFF2-40B4-BE49-F238E27FC236}">
                <a16:creationId xmlns:a16="http://schemas.microsoft.com/office/drawing/2014/main" id="{C284B1F9-5A71-4C57-B6A5-2884EA8D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933950"/>
            <a:ext cx="3219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対応する文字を返す</a:t>
            </a:r>
          </a:p>
        </p:txBody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60395A68-2B8D-4D03-A3D7-5E351F25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86075"/>
            <a:ext cx="34480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勾配帯 ＋ 構造物レイヤー</a:t>
            </a:r>
          </a:p>
        </p:txBody>
      </p:sp>
      <p:sp>
        <p:nvSpPr>
          <p:cNvPr id="34" name="text-32">
            <a:extLst xmlns:a="http://schemas.openxmlformats.org/drawingml/2006/main">
              <a:ext uri="{FF2B5EF4-FFF2-40B4-BE49-F238E27FC236}">
                <a16:creationId xmlns:a16="http://schemas.microsoft.com/office/drawing/2014/main" id="{CA5E676D-ED7F-42BF-8942-1C0684DE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3448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i= / VCR= / VCL=</a:t>
            </a:r>
          </a:p>
        </p:txBody>
      </p:sp>
      <p:sp>
        <p:nvSpPr>
          <p:cNvPr id="35" name="shape-33">
            <a:extLst xmlns:a="http://schemas.openxmlformats.org/drawingml/2006/main">
              <a:ext uri="{FF2B5EF4-FFF2-40B4-BE49-F238E27FC236}">
                <a16:creationId xmlns:a16="http://schemas.microsoft.com/office/drawing/2014/main" id="{D7AAD935-F80D-454D-A006-05B27F67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405955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34">
            <a:extLst xmlns:a="http://schemas.openxmlformats.org/drawingml/2006/main">
              <a:ext uri="{FF2B5EF4-FFF2-40B4-BE49-F238E27FC236}">
                <a16:creationId xmlns:a16="http://schemas.microsoft.com/office/drawing/2014/main" id="{19CDB3CB-C2AC-424B-9C28-4DEC29AA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86200"/>
            <a:ext cx="3219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最急縦断勾配</a:t>
            </a:r>
          </a:p>
        </p:txBody>
      </p:sp>
      <p:sp>
        <p:nvSpPr>
          <p:cNvPr id="37" name="shape-35">
            <a:extLst xmlns:a="http://schemas.openxmlformats.org/drawingml/2006/main">
              <a:ext uri="{FF2B5EF4-FFF2-40B4-BE49-F238E27FC236}">
                <a16:creationId xmlns:a16="http://schemas.microsoft.com/office/drawing/2014/main" id="{D7188F41-074D-45E5-B369-3C760CF4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458343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36">
            <a:extLst xmlns:a="http://schemas.openxmlformats.org/drawingml/2006/main">
              <a:ext uri="{FF2B5EF4-FFF2-40B4-BE49-F238E27FC236}">
                <a16:creationId xmlns:a16="http://schemas.microsoft.com/office/drawing/2014/main" id="{1E25F5F4-E369-4A44-B01E-A3C83576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10075"/>
            <a:ext cx="3219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凸・凹の最小半径</a:t>
            </a:r>
          </a:p>
        </p:txBody>
      </p:sp>
      <p:sp>
        <p:nvSpPr>
          <p:cNvPr id="39" name="shape-37">
            <a:extLst xmlns:a="http://schemas.openxmlformats.org/drawingml/2006/main">
              <a:ext uri="{FF2B5EF4-FFF2-40B4-BE49-F238E27FC236}">
                <a16:creationId xmlns:a16="http://schemas.microsoft.com/office/drawing/2014/main" id="{DF2B429B-CF80-4808-9869-123D163C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510730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-38">
            <a:extLst xmlns:a="http://schemas.openxmlformats.org/drawingml/2006/main">
              <a:ext uri="{FF2B5EF4-FFF2-40B4-BE49-F238E27FC236}">
                <a16:creationId xmlns:a16="http://schemas.microsoft.com/office/drawing/2014/main" id="{6D024314-5E41-4E0A-85AA-5B30FDB1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33950"/>
            <a:ext cx="3219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最小縦断曲線長</a:t>
            </a:r>
          </a:p>
        </p:txBody>
      </p:sp>
      <p:sp>
        <p:nvSpPr>
          <p:cNvPr id="41" name="shape-39">
            <a:extLst xmlns:a="http://schemas.openxmlformats.org/drawingml/2006/main">
              <a:ext uri="{FF2B5EF4-FFF2-40B4-BE49-F238E27FC236}">
                <a16:creationId xmlns:a16="http://schemas.microsoft.com/office/drawing/2014/main" id="{46F19B4B-F2A0-4A92-8C08-CE803E46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40">
            <a:extLst xmlns:a="http://schemas.openxmlformats.org/drawingml/2006/main">
              <a:ext uri="{FF2B5EF4-FFF2-40B4-BE49-F238E27FC236}">
                <a16:creationId xmlns:a16="http://schemas.microsoft.com/office/drawing/2014/main" id="{A81D8814-BF50-466D-B689-62CA708D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抽出処理があるのは10欄。残る5欄は、値を取得せず「-」を固定で転記する</a:t>
            </a:r>
          </a:p>
        </p:txBody>
      </p:sp>
    </p:spTree>
    <p:extLst>
      <p:ext uri="{BB962C8B-B14F-4D97-AF65-F5344CB8AC3E}">
        <p14:creationId xmlns:p14="http://schemas.microsoft.com/office/powerpoint/2010/main" val="17129225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2D8A49C-B356-4E75-A9A6-8B7572AB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92A3F5B-6987-445F-9545-6E31A9CA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10  PLANAR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9D7117C0-066E-43C3-A179-1F94B9DE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対応付けたRとLから、最小値を選ぶ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4B9F17D-D640-49D9-AC58-E89652A9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緩和曲線の省略欄は、Aの並びから候補を選びます。法的な省略可否の判断ではありません。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E2C167E3-9A6F-459D-8F1D-EE23062F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04B826E-253C-4A71-918C-393CE141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6A51EEB6-A234-49EB-B806-F38D7664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出典：get_curvature L395–502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9C8C26F-605E-461B-84D6-092B2130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9" name="shape-7">
            <a:extLst xmlns:a="http://schemas.openxmlformats.org/drawingml/2006/main">
              <a:ext uri="{FF2B5EF4-FFF2-40B4-BE49-F238E27FC236}">
                <a16:creationId xmlns:a16="http://schemas.microsoft.com/office/drawing/2014/main" id="{DB6AB1C0-D9AD-400C-98C6-E3119160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096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D49E122B-8F96-474C-B157-0FC82F12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7240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X順の組（例）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260A1B79-42E2-4617-A943-28D3191E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228850"/>
            <a:ext cx="18192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R / A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19B2BB08-1A4B-4630-BC3B-550A9920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28850"/>
            <a:ext cx="18669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対応するL</a:t>
            </a:r>
          </a:p>
        </p:txBody>
      </p:sp>
      <p:sp>
        <p:nvSpPr>
          <p:cNvPr id="13" name="shape-11">
            <a:extLst xmlns:a="http://schemas.openxmlformats.org/drawingml/2006/main">
              <a:ext uri="{FF2B5EF4-FFF2-40B4-BE49-F238E27FC236}">
                <a16:creationId xmlns:a16="http://schemas.microsoft.com/office/drawing/2014/main" id="{2A1FFC55-1B3A-4D9C-8A30-8BAEBEDD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3A61F148-675B-4759-9EF6-91DAD0A3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17240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R–L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B37242CF-05FB-4113-8837-62F468A7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847975"/>
            <a:ext cx="18192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R=200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07AD7BE7-595B-4E1F-AD96-FEE0B490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47975"/>
            <a:ext cx="18669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L=80</a:t>
            </a:r>
          </a:p>
        </p:txBody>
      </p:sp>
      <p:sp>
        <p:nvSpPr>
          <p:cNvPr id="17" name="shape-15">
            <a:extLst xmlns:a="http://schemas.openxmlformats.org/drawingml/2006/main">
              <a:ext uri="{FF2B5EF4-FFF2-40B4-BE49-F238E27FC236}">
                <a16:creationId xmlns:a16="http://schemas.microsoft.com/office/drawing/2014/main" id="{34A4E8FD-2717-4992-99A0-97BE78A6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6096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hape-16">
            <a:extLst xmlns:a="http://schemas.openxmlformats.org/drawingml/2006/main">
              <a:ext uri="{FF2B5EF4-FFF2-40B4-BE49-F238E27FC236}">
                <a16:creationId xmlns:a16="http://schemas.microsoft.com/office/drawing/2014/main" id="{EB8C1AF5-5825-4795-8A4F-19F0A112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17">
            <a:extLst xmlns:a="http://schemas.openxmlformats.org/drawingml/2006/main">
              <a:ext uri="{FF2B5EF4-FFF2-40B4-BE49-F238E27FC236}">
                <a16:creationId xmlns:a16="http://schemas.microsoft.com/office/drawing/2014/main" id="{FA377D6D-A0B7-4861-88DD-EA700EED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7240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A–L</a:t>
            </a:r>
          </a:p>
        </p:txBody>
      </p:sp>
      <p:sp>
        <p:nvSpPr>
          <p:cNvPr id="20" name="text-18">
            <a:extLst xmlns:a="http://schemas.openxmlformats.org/drawingml/2006/main">
              <a:ext uri="{FF2B5EF4-FFF2-40B4-BE49-F238E27FC236}">
                <a16:creationId xmlns:a16="http://schemas.microsoft.com/office/drawing/2014/main" id="{68E51DC4-76CD-4488-8C41-56795C6E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67100"/>
            <a:ext cx="18192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A=90</a:t>
            </a:r>
          </a:p>
        </p:txBody>
      </p:sp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EADF6285-D3FC-4E3B-B052-20690CAC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67100"/>
            <a:ext cx="18669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L=40</a:t>
            </a:r>
          </a:p>
        </p:txBody>
      </p:sp>
      <p:sp>
        <p:nvSpPr>
          <p:cNvPr id="22" name="shape-20">
            <a:extLst xmlns:a="http://schemas.openxmlformats.org/drawingml/2006/main">
              <a:ext uri="{FF2B5EF4-FFF2-40B4-BE49-F238E27FC236}">
                <a16:creationId xmlns:a16="http://schemas.microsoft.com/office/drawing/2014/main" id="{EB9C65C4-A11B-4B58-90B5-C54A2693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F29A32AE-35AC-4953-810A-F2FF8D50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7240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R–L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D3E55946-DCFA-488C-BEAF-63E56004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086225"/>
            <a:ext cx="18192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R=100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180A279E-6DD9-430F-BC45-976B727C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86225"/>
            <a:ext cx="18669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L=60</a:t>
            </a:r>
          </a:p>
        </p:txBody>
      </p:sp>
      <p:sp>
        <p:nvSpPr>
          <p:cNvPr id="26" name="shape-24">
            <a:extLst xmlns:a="http://schemas.openxmlformats.org/drawingml/2006/main">
              <a:ext uri="{FF2B5EF4-FFF2-40B4-BE49-F238E27FC236}">
                <a16:creationId xmlns:a16="http://schemas.microsoft.com/office/drawing/2014/main" id="{09895155-6AAF-42E8-8AB7-5E0C8258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6096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hape-25">
            <a:extLst xmlns:a="http://schemas.openxmlformats.org/drawingml/2006/main">
              <a:ext uri="{FF2B5EF4-FFF2-40B4-BE49-F238E27FC236}">
                <a16:creationId xmlns:a16="http://schemas.microsoft.com/office/drawing/2014/main" id="{A951891A-58B4-467A-A30A-0C1CB1C4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1C79B310-64BE-4CD9-8D63-0D5F4321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7240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A–L</a:t>
            </a:r>
          </a:p>
        </p:txBody>
      </p:sp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3860E5B6-F65E-4380-A850-46974335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705350"/>
            <a:ext cx="18192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A=80</a:t>
            </a:r>
          </a:p>
        </p:txBody>
      </p:sp>
      <p:sp>
        <p:nvSpPr>
          <p:cNvPr id="30" name="text-28">
            <a:extLst xmlns:a="http://schemas.openxmlformats.org/drawingml/2006/main">
              <a:ext uri="{FF2B5EF4-FFF2-40B4-BE49-F238E27FC236}">
                <a16:creationId xmlns:a16="http://schemas.microsoft.com/office/drawing/2014/main" id="{B692DDAD-A93D-4CB4-8F16-090E8B70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05350"/>
            <a:ext cx="18669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L=30</a:t>
            </a:r>
          </a:p>
        </p:txBody>
      </p:sp>
      <p:sp>
        <p:nvSpPr>
          <p:cNvPr id="31" name="text-29">
            <a:extLst xmlns:a="http://schemas.openxmlformats.org/drawingml/2006/main">
              <a:ext uri="{FF2B5EF4-FFF2-40B4-BE49-F238E27FC236}">
                <a16:creationId xmlns:a16="http://schemas.microsoft.com/office/drawing/2014/main" id="{C3C29880-2B69-4E54-B741-82314BCA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05025"/>
            <a:ext cx="39814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採用結果</a:t>
            </a:r>
          </a:p>
        </p:txBody>
      </p:sp>
      <p:sp>
        <p:nvSpPr>
          <p:cNvPr id="32" name="text-30">
            <a:extLst xmlns:a="http://schemas.openxmlformats.org/drawingml/2006/main">
              <a:ext uri="{FF2B5EF4-FFF2-40B4-BE49-F238E27FC236}">
                <a16:creationId xmlns:a16="http://schemas.microsoft.com/office/drawing/2014/main" id="{BDB370F9-28A3-4FC6-A7FA-A086E347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3981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最小曲線半径</a:t>
            </a:r>
          </a:p>
        </p:txBody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720BB2B1-AA73-452E-A177-4A9FA210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67050"/>
            <a:ext cx="3981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min(200, 100) = 100</a:t>
            </a:r>
          </a:p>
        </p:txBody>
      </p:sp>
      <p:sp>
        <p:nvSpPr>
          <p:cNvPr id="34" name="text-32">
            <a:extLst xmlns:a="http://schemas.openxmlformats.org/drawingml/2006/main">
              <a:ext uri="{FF2B5EF4-FFF2-40B4-BE49-F238E27FC236}">
                <a16:creationId xmlns:a16="http://schemas.microsoft.com/office/drawing/2014/main" id="{2067804B-5C12-4F09-9B86-805DB372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00475"/>
            <a:ext cx="3981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最小緩和曲線長</a:t>
            </a:r>
          </a:p>
        </p:txBody>
      </p:sp>
      <p:sp>
        <p:nvSpPr>
          <p:cNvPr id="35" name="text-33">
            <a:extLst xmlns:a="http://schemas.openxmlformats.org/drawingml/2006/main">
              <a:ext uri="{FF2B5EF4-FFF2-40B4-BE49-F238E27FC236}">
                <a16:creationId xmlns:a16="http://schemas.microsoft.com/office/drawing/2014/main" id="{06D08534-1C64-4430-B979-5D6F6C11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81475"/>
            <a:ext cx="3981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AのL：min(40, 30) = 30</a:t>
            </a:r>
          </a:p>
        </p:txBody>
      </p:sp>
      <p:sp>
        <p:nvSpPr>
          <p:cNvPr id="36" name="shape-34">
            <a:extLst xmlns:a="http://schemas.openxmlformats.org/drawingml/2006/main">
              <a:ext uri="{FF2B5EF4-FFF2-40B4-BE49-F238E27FC236}">
                <a16:creationId xmlns:a16="http://schemas.microsoft.com/office/drawing/2014/main" id="{CA1EC377-AFDE-485E-AC93-3AE25A56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35">
            <a:extLst xmlns:a="http://schemas.openxmlformats.org/drawingml/2006/main">
              <a:ext uri="{FF2B5EF4-FFF2-40B4-BE49-F238E27FC236}">
                <a16:creationId xmlns:a16="http://schemas.microsoft.com/office/drawing/2014/main" id="{81EF51C0-B198-4586-9894-692150B4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2857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緩和曲線省略半径</a:t>
            </a:r>
          </a:p>
        </p:txBody>
      </p:sp>
      <p:sp>
        <p:nvSpPr>
          <p:cNvPr id="38" name="text-36">
            <a:extLst xmlns:a="http://schemas.openxmlformats.org/drawingml/2006/main">
              <a:ext uri="{FF2B5EF4-FFF2-40B4-BE49-F238E27FC236}">
                <a16:creationId xmlns:a16="http://schemas.microsoft.com/office/drawing/2014/main" id="{E989AA2E-FC92-4502-9B60-6BD42263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57825"/>
            <a:ext cx="7943850" cy="3762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別の例：R=200（直前・直後にAなし）→ 候補 → 最小を採用</a:t>
            </a:r>
          </a:p>
        </p:txBody>
      </p:sp>
      <p:sp>
        <p:nvSpPr>
          <p:cNvPr id="39" name="text-37">
            <a:extLst xmlns:a="http://schemas.openxmlformats.org/drawingml/2006/main">
              <a:ext uri="{FF2B5EF4-FFF2-40B4-BE49-F238E27FC236}">
                <a16:creationId xmlns:a16="http://schemas.microsoft.com/office/drawing/2014/main" id="{05F2870C-4FA5-4902-A76D-FA8801EB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34063"/>
            <a:ext cx="7943850" cy="3762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R=100（直前・直後にAあり）→ この欄の対象外</a:t>
            </a:r>
          </a:p>
        </p:txBody>
      </p:sp>
    </p:spTree>
    <p:extLst>
      <p:ext uri="{BB962C8B-B14F-4D97-AF65-F5344CB8AC3E}">
        <p14:creationId xmlns:p14="http://schemas.microsoft.com/office/powerpoint/2010/main" val="20602806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CAB440F-FFCD-48A1-A523-5A155D06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34AE67-A945-4600-BDCB-63B27D9A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11  SPEED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AA6B9781-E12B-486F-81AA-47783B0F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曲線長は、80km/h未満・以上の2区分を計算する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4EDD2CF-870C-4D20-B755-65595A57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設計速度をDXFから選ぶ処理はありません。以下は同方向A–R–Rの説明用例です。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6958B14C-A7C9-407B-BA87-E8675EFC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17A048E-4605-4DDE-B6FF-A1CFD95D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D9FDB9C-3834-4200-AC67-2491290D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出典：get_curvature L543–659／テンプレート U11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D2E5941-FEDD-48A2-B35F-FB673E0B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  <p:sp>
        <p:nvSpPr>
          <p:cNvPr id="9" name="shape-7">
            <a:extLst xmlns:a="http://schemas.openxmlformats.org/drawingml/2006/main">
              <a:ext uri="{FF2B5EF4-FFF2-40B4-BE49-F238E27FC236}">
                <a16:creationId xmlns:a16="http://schemas.microsoft.com/office/drawing/2014/main" id="{BC49439A-B84B-4F93-A794-4E54C197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1925ADB1-BF46-4D4F-A866-B34A0772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並び（同方向）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3DE9A42D-5236-44EB-B31D-60A51395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2885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A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68EF57D7-3182-4019-A156-ECD01250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2885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R=100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39601C90-7A9F-40AC-9637-ABF56508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2885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R=180</a:t>
            </a:r>
          </a:p>
        </p:txBody>
      </p:sp>
      <p:sp>
        <p:nvSpPr>
          <p:cNvPr id="14" name="shape-12">
            <a:extLst xmlns:a="http://schemas.openxmlformats.org/drawingml/2006/main">
              <a:ext uri="{FF2B5EF4-FFF2-40B4-BE49-F238E27FC236}">
                <a16:creationId xmlns:a16="http://schemas.microsoft.com/office/drawing/2014/main" id="{47D67450-291E-40F9-AE4C-1BB2DE3C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02EBBB92-4B94-43E4-9A64-E0B48EFB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対応する長さL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2013BA50-5F30-4993-A463-26F7D8B7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30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3FFCB409-2863-4BA9-9879-4D6CF461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80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7B88FB51-1619-4300-9172-1CDB76DC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6225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70</a:t>
            </a:r>
          </a:p>
        </p:txBody>
      </p:sp>
      <p:sp>
        <p:nvSpPr>
          <p:cNvPr id="19" name="shape-17">
            <a:extLst xmlns:a="http://schemas.openxmlformats.org/drawingml/2006/main">
              <a:ext uri="{FF2B5EF4-FFF2-40B4-BE49-F238E27FC236}">
                <a16:creationId xmlns:a16="http://schemas.microsoft.com/office/drawing/2014/main" id="{33E86B28-53A4-4A6F-9A5C-6BED0532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2197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hape-18">
            <a:extLst xmlns:a="http://schemas.openxmlformats.org/drawingml/2006/main">
              <a:ext uri="{FF2B5EF4-FFF2-40B4-BE49-F238E27FC236}">
                <a16:creationId xmlns:a16="http://schemas.microsoft.com/office/drawing/2014/main" id="{CAA69748-369F-4223-BBDD-3CA429A6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29025"/>
            <a:ext cx="5429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ABE1ABE5-8773-4CDF-A1C8-D5FF95F3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80km/h 未満用</a:t>
            </a:r>
          </a:p>
        </p:txBody>
      </p:sp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4506F1A3-7A46-444F-A261-AA7F499F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47625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180 ≦ 100 × 2 → 合算</a:t>
            </a:r>
          </a:p>
        </p:txBody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454767B9-1E3D-4996-8608-E163C93C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47625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30 + 80 + 70 = 180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180D96DA-C561-4C1A-BC70-FED49B0F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62375"/>
            <a:ext cx="4933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80km/h 以上用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C8234949-27E6-4A3B-8DEA-10ACC247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67200"/>
            <a:ext cx="493395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180 ＞ 100 × 1.5 → 別候補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B47E005C-3F9E-4E29-8A39-BB44FE35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49339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min(30 + 80, 70) = 70</a:t>
            </a:r>
          </a:p>
        </p:txBody>
      </p:sp>
      <p:sp>
        <p:nvSpPr>
          <p:cNvPr id="27" name="shape-25">
            <a:extLst xmlns:a="http://schemas.openxmlformats.org/drawingml/2006/main">
              <a:ext uri="{FF2B5EF4-FFF2-40B4-BE49-F238E27FC236}">
                <a16:creationId xmlns:a16="http://schemas.microsoft.com/office/drawing/2014/main" id="{C57F3609-5F6F-40C5-AC66-770BFBEE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4368A5B3-E981-4638-BCB7-A5D8D0F8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2つの結果を保存し、Excelの設計速度N1で表示を選ぶ。複合曲線の制約は18ページ参照</a:t>
            </a:r>
          </a:p>
        </p:txBody>
      </p:sp>
    </p:spTree>
    <p:extLst>
      <p:ext uri="{BB962C8B-B14F-4D97-AF65-F5344CB8AC3E}">
        <p14:creationId xmlns:p14="http://schemas.microsoft.com/office/powerpoint/2010/main" val="1285729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F2236E5-16DD-4F21-A997-916EAC17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E9BECF-8F28-4281-9966-FCC00773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12  RUNOFF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48C3F0B2-A2E1-4C65-88E2-B74DBBD6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片勾配摺付率は、帯内の分数を比較して選ぶ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FD5CBD5-87B2-496D-A0C6-F762FDC7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図形の傾きや延長から率を新たに計算する処理ではありません。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5070E30A-CD03-4DF3-AEB6-143DDAA2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42B4D62-78D6-4B01-B65B-94DD8C8E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1185243-EB49-4FD5-8732-D1E050E2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出典：get_superelevation_runoff_rate L31–109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5D3D88B-AF92-4C0C-9CF3-E1C18E99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0A4FB27D-E5F9-44FC-89E2-2F477BBF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3815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片勾配帯（概念・数値例）</a:t>
            </a:r>
          </a:p>
        </p:txBody>
      </p:sp>
      <p:sp>
        <p:nvSpPr>
          <p:cNvPr id="10" name="shape-8">
            <a:extLst xmlns:a="http://schemas.openxmlformats.org/drawingml/2006/main">
              <a:ext uri="{FF2B5EF4-FFF2-40B4-BE49-F238E27FC236}">
                <a16:creationId xmlns:a16="http://schemas.microsoft.com/office/drawing/2014/main" id="{13860C80-2274-4FDD-9CC7-A2DE96C2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71818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11" name="shape-9">
            <a:extLst xmlns:a="http://schemas.openxmlformats.org/drawingml/2006/main">
              <a:ext uri="{FF2B5EF4-FFF2-40B4-BE49-F238E27FC236}">
                <a16:creationId xmlns:a16="http://schemas.microsoft.com/office/drawing/2014/main" id="{A345081C-9ED2-4B90-AFF3-25CA2D24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143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9EBCA753-E4BA-4DFA-8572-E78F54AE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93345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2FF31249-DD17-4F49-A790-DBCC3094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67125"/>
            <a:ext cx="1714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1/150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2CCAD969-EC59-4BCD-A1EF-FA6C9D84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67125"/>
            <a:ext cx="1714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1/100</a:t>
            </a:r>
          </a:p>
        </p:txBody>
      </p:sp>
      <p:sp>
        <p:nvSpPr>
          <p:cNvPr id="15" name="shape-13">
            <a:extLst xmlns:a="http://schemas.openxmlformats.org/drawingml/2006/main">
              <a:ext uri="{FF2B5EF4-FFF2-40B4-BE49-F238E27FC236}">
                <a16:creationId xmlns:a16="http://schemas.microsoft.com/office/drawing/2014/main" id="{3660F609-7596-4E7B-A73F-1B1E7178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162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ape-14">
            <a:extLst xmlns:a="http://schemas.openxmlformats.org/drawingml/2006/main">
              <a:ext uri="{FF2B5EF4-FFF2-40B4-BE49-F238E27FC236}">
                <a16:creationId xmlns:a16="http://schemas.microsoft.com/office/drawing/2014/main" id="{98AFD7D0-C4C8-4C6A-BD0C-26F6D98B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62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AD427E7A-9401-48A1-8307-3C28F9AB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62200"/>
            <a:ext cx="166687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1/80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8D046AFF-5AB2-464F-A65A-3AE0F6E0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00350"/>
            <a:ext cx="2209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帯外のため対象外</a:t>
            </a:r>
          </a:p>
        </p:txBody>
      </p:sp>
      <p:sp>
        <p:nvSpPr>
          <p:cNvPr id="19" name="text-17">
            <a:extLst xmlns:a="http://schemas.openxmlformats.org/drawingml/2006/main">
              <a:ext uri="{FF2B5EF4-FFF2-40B4-BE49-F238E27FC236}">
                <a16:creationId xmlns:a16="http://schemas.microsoft.com/office/drawing/2014/main" id="{8988D285-DFF9-485F-9CA5-0B596876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3257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数値として比較</a:t>
            </a:r>
          </a:p>
        </p:txBody>
      </p:sp>
      <p:sp>
        <p:nvSpPr>
          <p:cNvPr id="20" name="text-18">
            <a:extLst xmlns:a="http://schemas.openxmlformats.org/drawingml/2006/main">
              <a:ext uri="{FF2B5EF4-FFF2-40B4-BE49-F238E27FC236}">
                <a16:creationId xmlns:a16="http://schemas.microsoft.com/office/drawing/2014/main" id="{B2D489A6-7F1A-4E7F-8C58-9D55624C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67025"/>
            <a:ext cx="32575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1/150 ≒ 0.0067</a:t>
            </a:r>
          </a:p>
        </p:txBody>
      </p:sp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6AAB383E-E367-497E-BBE1-FC348603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32575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1/100 = 0.01</a:t>
            </a:r>
          </a:p>
        </p:txBody>
      </p:sp>
      <p:sp>
        <p:nvSpPr>
          <p:cNvPr id="22" name="shape-20">
            <a:extLst xmlns:a="http://schemas.openxmlformats.org/drawingml/2006/main">
              <a:ext uri="{FF2B5EF4-FFF2-40B4-BE49-F238E27FC236}">
                <a16:creationId xmlns:a16="http://schemas.microsoft.com/office/drawing/2014/main" id="{79550DAE-A213-4DCC-BD3E-A3233285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57675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088149CA-94CF-4174-89B5-D9250E57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57675"/>
            <a:ext cx="3028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最大：1/100 を採用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E3199570-AEC7-43D6-9F7E-613B663B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72025"/>
            <a:ext cx="32575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分母の大きさでは比較しない</a:t>
            </a:r>
          </a:p>
        </p:txBody>
      </p:sp>
      <p:sp>
        <p:nvSpPr>
          <p:cNvPr id="25" name="shape-23">
            <a:extLst xmlns:a="http://schemas.openxmlformats.org/drawingml/2006/main">
              <a:ext uri="{FF2B5EF4-FFF2-40B4-BE49-F238E27FC236}">
                <a16:creationId xmlns:a16="http://schemas.microsoft.com/office/drawing/2014/main" id="{8BC04DE9-1C3E-4553-BB61-F4404648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0F547ADE-FE58-471C-8B68-AE2C80D1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1つの文字に複数の分数があると最初の分数だけを読む。分母0・候補なしは取得できない</a:t>
            </a:r>
          </a:p>
        </p:txBody>
      </p:sp>
    </p:spTree>
    <p:extLst>
      <p:ext uri="{BB962C8B-B14F-4D97-AF65-F5344CB8AC3E}">
        <p14:creationId xmlns:p14="http://schemas.microsoft.com/office/powerpoint/2010/main" val="16116342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721EE03-7312-4AF8-8CB1-8B73692C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B8B451C-C0AC-4402-A11A-8C027991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13  GRADE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18727699-F858-49D5-88D6-EBD13A38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最急縦断勾配は、i=の数値を比較する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20D6A5B-792B-4971-8B11-CC068682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%がなければ100倍。現行処理は符号付きの最大値を選びます。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065E0BCE-19B7-426A-8428-C4C7C71C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B895E47-10BA-456B-B097-746CD660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D2FCD4F-0416-4B3F-B400-87A4CEEF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出典：get_slope L43–85,126–140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58C6C75-B3AF-4D52-B992-304F01B9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  <p:sp>
        <p:nvSpPr>
          <p:cNvPr id="9" name="shape-7">
            <a:extLst xmlns:a="http://schemas.openxmlformats.org/drawingml/2006/main">
              <a:ext uri="{FF2B5EF4-FFF2-40B4-BE49-F238E27FC236}">
                <a16:creationId xmlns:a16="http://schemas.microsoft.com/office/drawing/2014/main" id="{B57391A1-F44F-407B-BF68-FD273A22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85915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E0561F5C-B49B-49EB-9A38-5D22D5F9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25146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文字（説明用）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92C82D0E-D884-47E3-AF13-D72B4D7C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86000"/>
            <a:ext cx="32956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数値化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9D0A0200-2C9D-4886-9DC9-8FFC7D91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86000"/>
            <a:ext cx="20955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比較に使う値</a:t>
            </a:r>
          </a:p>
        </p:txBody>
      </p:sp>
      <p:sp>
        <p:nvSpPr>
          <p:cNvPr id="13" name="shape-11">
            <a:extLst xmlns:a="http://schemas.openxmlformats.org/drawingml/2006/main">
              <a:ext uri="{FF2B5EF4-FFF2-40B4-BE49-F238E27FC236}">
                <a16:creationId xmlns:a16="http://schemas.microsoft.com/office/drawing/2014/main" id="{F3A63170-6A4A-476D-BBAB-E6958FAF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859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FA34BBAE-E076-4328-849A-4D22B6F8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25146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i=3.5%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EFAC5AD8-7CE0-4253-933A-68D9C003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62275"/>
            <a:ext cx="32956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%あり：そのまま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4A658E86-2EA0-4BF9-ABE4-B2163B80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62275"/>
            <a:ext cx="20955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3.5</a:t>
            </a:r>
          </a:p>
        </p:txBody>
      </p:sp>
      <p:sp>
        <p:nvSpPr>
          <p:cNvPr id="17" name="shape-15">
            <a:extLst xmlns:a="http://schemas.openxmlformats.org/drawingml/2006/main">
              <a:ext uri="{FF2B5EF4-FFF2-40B4-BE49-F238E27FC236}">
                <a16:creationId xmlns:a16="http://schemas.microsoft.com/office/drawing/2014/main" id="{0F14AF85-CB53-4D75-AC9D-D12136F9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85915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hape-16">
            <a:extLst xmlns:a="http://schemas.openxmlformats.org/drawingml/2006/main">
              <a:ext uri="{FF2B5EF4-FFF2-40B4-BE49-F238E27FC236}">
                <a16:creationId xmlns:a16="http://schemas.microsoft.com/office/drawing/2014/main" id="{CA222695-97B0-41A1-971E-BA204E6F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859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17">
            <a:extLst xmlns:a="http://schemas.openxmlformats.org/drawingml/2006/main">
              <a:ext uri="{FF2B5EF4-FFF2-40B4-BE49-F238E27FC236}">
                <a16:creationId xmlns:a16="http://schemas.microsoft.com/office/drawing/2014/main" id="{5679E08F-1C88-4FDC-B345-57C5B4FD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5146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i=0.035</a:t>
            </a:r>
          </a:p>
        </p:txBody>
      </p:sp>
      <p:sp>
        <p:nvSpPr>
          <p:cNvPr id="20" name="text-18">
            <a:extLst xmlns:a="http://schemas.openxmlformats.org/drawingml/2006/main">
              <a:ext uri="{FF2B5EF4-FFF2-40B4-BE49-F238E27FC236}">
                <a16:creationId xmlns:a16="http://schemas.microsoft.com/office/drawing/2014/main" id="{F1C13004-7F76-472F-A644-817BF5D2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38550"/>
            <a:ext cx="32956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%なし：100倍</a:t>
            </a:r>
          </a:p>
        </p:txBody>
      </p:sp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BCAE1A92-A88B-4E93-8EDD-818A4486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38550"/>
            <a:ext cx="20955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3.5</a:t>
            </a:r>
          </a:p>
        </p:txBody>
      </p:sp>
      <p:sp>
        <p:nvSpPr>
          <p:cNvPr id="22" name="shape-20">
            <a:extLst xmlns:a="http://schemas.openxmlformats.org/drawingml/2006/main">
              <a:ext uri="{FF2B5EF4-FFF2-40B4-BE49-F238E27FC236}">
                <a16:creationId xmlns:a16="http://schemas.microsoft.com/office/drawing/2014/main" id="{110407C9-B9B8-403D-B683-C51A6A5A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859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B6B13917-C92B-4114-934F-55D95064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5146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i=-4%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B892ACED-4FDC-4E99-A65A-44D1C184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14825"/>
            <a:ext cx="32956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負符号は残す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65786BA8-CB7E-4629-B93A-F073C59E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14825"/>
            <a:ext cx="20955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-4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E2F734C6-A56F-4E4B-AD80-EB0AB410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09825"/>
            <a:ext cx="1866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採用</a:t>
            </a:r>
          </a:p>
        </p:txBody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53F49DD3-6341-47DD-A961-6561D9DA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95600"/>
            <a:ext cx="1866900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4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3.5</a:t>
            </a:r>
          </a:p>
        </p:txBody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9F50426F-3D2C-4412-B4C5-F31AA404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867150"/>
            <a:ext cx="22383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符号付きの最大</a:t>
            </a:r>
          </a:p>
        </p:txBody>
      </p:sp>
      <p:sp>
        <p:nvSpPr>
          <p:cNvPr id="29" name="shape-27">
            <a:extLst xmlns:a="http://schemas.openxmlformats.org/drawingml/2006/main">
              <a:ext uri="{FF2B5EF4-FFF2-40B4-BE49-F238E27FC236}">
                <a16:creationId xmlns:a16="http://schemas.microsoft.com/office/drawing/2014/main" id="{4884CC35-BD0F-48B4-AC9F-B90C50A3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28">
            <a:extLst xmlns:a="http://schemas.openxmlformats.org/drawingml/2006/main">
              <a:ext uri="{FF2B5EF4-FFF2-40B4-BE49-F238E27FC236}">
                <a16:creationId xmlns:a16="http://schemas.microsoft.com/office/drawing/2014/main" id="{5B57322D-A47B-4948-8F54-E50C50BD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43525"/>
            <a:ext cx="2095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確認ポイント</a:t>
            </a:r>
          </a:p>
        </p:txBody>
      </p:sp>
      <p:sp>
        <p:nvSpPr>
          <p:cNvPr id="31" name="text-29">
            <a:extLst xmlns:a="http://schemas.openxmlformats.org/drawingml/2006/main">
              <a:ext uri="{FF2B5EF4-FFF2-40B4-BE49-F238E27FC236}">
                <a16:creationId xmlns:a16="http://schemas.microsoft.com/office/drawing/2014/main" id="{E94B419F-E2E3-4DB7-A91E-EF7F8B5C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353050"/>
            <a:ext cx="83534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最急勾配の抽出では、文字の回転を無視する。</a:t>
            </a:r>
          </a:p>
        </p:txBody>
      </p:sp>
      <p:sp>
        <p:nvSpPr>
          <p:cNvPr id="32" name="text-30">
            <a:extLst xmlns:a="http://schemas.openxmlformats.org/drawingml/2006/main">
              <a:ext uri="{FF2B5EF4-FFF2-40B4-BE49-F238E27FC236}">
                <a16:creationId xmlns:a16="http://schemas.microsoft.com/office/drawing/2014/main" id="{5E1490F9-4292-485F-900B-F935CD13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657850"/>
            <a:ext cx="83534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下りが負号で書かれた図面では、絶対値最大の勾配と一致するか元図で確認する。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941508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EED0D93-6660-441F-8F37-23186EAE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59B2EE1-ACA0-47A4-8681-C8DE6499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14  VERTICAL CURVE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A08B3F68-3EC9-46D8-8C5E-B71B083B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半径文字を挟む勾配の大小で、凸・凹を分ける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126E983-6A98-44F9-909E-4ACF425A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図と数値は説明用の例。VCR/RはX位置で分類し、VCLは指定レイヤー内の最小値を採用します。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BF8E3FA8-3EF8-4F2A-9D2A-54049AF3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5504C67-3455-4B38-996F-4155A777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00585CE5-BDA3-4A28-8852-A5566E25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出典：get_vertical_curve／get_slope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45F834B-31D6-4363-98E8-F4C58605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F8627AF1-4AFC-41AB-BAA8-55AC6B9E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219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凸：左の勾配 ＞ 右の勾配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E828B27F-430D-4DB7-8B86-14566C6E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105025"/>
            <a:ext cx="52101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凹：左の勾配 ＜ 右の勾配</a:t>
            </a:r>
          </a:p>
        </p:txBody>
      </p:sp>
      <p:sp>
        <p:nvSpPr>
          <p:cNvPr id="11" name="path-9">
            <a:extLst xmlns:a="http://schemas.openxmlformats.org/drawingml/2006/main">
              <a:ext uri="{FF2B5EF4-FFF2-40B4-BE49-F238E27FC236}">
                <a16:creationId xmlns:a16="http://schemas.microsoft.com/office/drawing/2014/main" id="{B13F327B-5667-4999-803D-FE1509B7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0875"/>
            <a:ext cx="4743450" cy="952500"/>
          </a:xfrm>
          <a:custGeom xmlns:a="http://schemas.openxmlformats.org/drawingml/2006/main">
            <a:pathLst>
              <a:path w="4743450" h="952500">
                <a:moveTo>
                  <a:pt x="0" y="809625"/>
                </a:moveTo>
                <a:lnTo>
                  <a:pt x="2400300" y="0"/>
                </a:lnTo>
                <a:lnTo>
                  <a:pt x="474345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0777A"/>
            </a:solidFill>
            <a:prstDash val="solid"/>
          </a:ln>
        </p:spPr>
      </p:sp>
      <p:sp>
        <p:nvSpPr>
          <p:cNvPr id="12" name="path-10">
            <a:extLst xmlns:a="http://schemas.openxmlformats.org/drawingml/2006/main">
              <a:ext uri="{FF2B5EF4-FFF2-40B4-BE49-F238E27FC236}">
                <a16:creationId xmlns:a16="http://schemas.microsoft.com/office/drawing/2014/main" id="{6E515D4F-A69F-4ACF-A8A0-5F8C2BA3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33725"/>
            <a:ext cx="4819650" cy="914400"/>
          </a:xfrm>
          <a:custGeom xmlns:a="http://schemas.openxmlformats.org/drawingml/2006/main">
            <a:pathLst>
              <a:path w="4819650" h="914400">
                <a:moveTo>
                  <a:pt x="0" y="47625"/>
                </a:moveTo>
                <a:lnTo>
                  <a:pt x="2390775" y="914400"/>
                </a:lnTo>
                <a:lnTo>
                  <a:pt x="4819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0777A"/>
            </a:solidFill>
            <a:prstDash val="solid"/>
          </a:ln>
        </p:spPr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85B7FB27-D259-40AB-9AF8-6C92D32A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52725"/>
            <a:ext cx="1219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+3%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EE93DC57-A045-4683-AE46-1E9EA9C9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086100"/>
            <a:ext cx="1219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-1%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0DC5B0FE-BFCE-4569-BDF7-39B1AC58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33800"/>
            <a:ext cx="1219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-2%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53A37D9C-C11F-4E5C-B1DC-FA7EACD3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86175"/>
            <a:ext cx="1219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+1%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9FF6F6A8-6C27-4ED6-BA66-326D58D9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90800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VCR=1200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707049F5-B006-45A4-87E7-311F26BA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33875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VCR=800</a:t>
            </a:r>
          </a:p>
        </p:txBody>
      </p:sp>
      <p:sp>
        <p:nvSpPr>
          <p:cNvPr id="19" name="path-17">
            <a:extLst xmlns:a="http://schemas.openxmlformats.org/drawingml/2006/main">
              <a:ext uri="{FF2B5EF4-FFF2-40B4-BE49-F238E27FC236}">
                <a16:creationId xmlns:a16="http://schemas.microsoft.com/office/drawing/2014/main" id="{DD537546-6FD1-4AE4-9C24-6BCE8F8C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28950"/>
            <a:ext cx="9525" cy="1466850"/>
          </a:xfrm>
          <a:custGeom xmlns:a="http://schemas.openxmlformats.org/drawingml/2006/main">
            <a:pathLst>
              <a:path w="9525" h="1466850">
                <a:moveTo>
                  <a:pt x="0" y="0"/>
                </a:moveTo>
                <a:lnTo>
                  <a:pt x="0" y="14668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EDD"/>
            </a:solidFill>
            <a:prstDash val="solid"/>
          </a:ln>
        </p:spPr>
      </p:sp>
      <p:sp>
        <p:nvSpPr>
          <p:cNvPr id="20" name="path-18">
            <a:extLst xmlns:a="http://schemas.openxmlformats.org/drawingml/2006/main">
              <a:ext uri="{FF2B5EF4-FFF2-40B4-BE49-F238E27FC236}">
                <a16:creationId xmlns:a16="http://schemas.microsoft.com/office/drawing/2014/main" id="{A2A5AED6-BE31-4A1E-9D06-0B2A7B42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943225"/>
            <a:ext cx="9525" cy="1304925"/>
          </a:xfrm>
          <a:custGeom xmlns:a="http://schemas.openxmlformats.org/drawingml/2006/main">
            <a:pathLst>
              <a:path w="9525" h="1304925">
                <a:moveTo>
                  <a:pt x="0" y="0"/>
                </a:moveTo>
                <a:lnTo>
                  <a:pt x="0" y="13049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EDD"/>
            </a:solidFill>
            <a:prstDash val="solid"/>
          </a:ln>
        </p:spPr>
      </p:sp>
      <p:sp>
        <p:nvSpPr>
          <p:cNvPr id="21" name="shape-19">
            <a:extLst xmlns:a="http://schemas.openxmlformats.org/drawingml/2006/main">
              <a:ext uri="{FF2B5EF4-FFF2-40B4-BE49-F238E27FC236}">
                <a16:creationId xmlns:a16="http://schemas.microsoft.com/office/drawing/2014/main" id="{AA75CA03-BE00-42E2-BD1C-DA148458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81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hape-20">
            <a:extLst xmlns:a="http://schemas.openxmlformats.org/drawingml/2006/main">
              <a:ext uri="{FF2B5EF4-FFF2-40B4-BE49-F238E27FC236}">
                <a16:creationId xmlns:a16="http://schemas.microsoft.com/office/drawing/2014/main" id="{93FAB791-95FA-4F6C-9F1F-C8AFB68A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8342DD43-AD4C-4A47-B459-D0E417F8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左の勾配X ≦ 半径文字X ＜ 右の勾配X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2CD7D2FE-7D74-47B9-A1EB-008E2E8A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凸凹分類時のみ、勾配文字の回転角が270°超・360°未満なら符号を反転する。</a:t>
            </a:r>
          </a:p>
        </p:txBody>
      </p:sp>
      <p:sp>
        <p:nvSpPr>
          <p:cNvPr id="25" name="shape-23">
            <a:extLst xmlns:a="http://schemas.openxmlformats.org/drawingml/2006/main">
              <a:ext uri="{FF2B5EF4-FFF2-40B4-BE49-F238E27FC236}">
                <a16:creationId xmlns:a16="http://schemas.microsoft.com/office/drawing/2014/main" id="{92CB933D-C705-46C9-B28C-F325CA11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0521D9C8-3825-4B09-BF23-D7FA5B00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分類できた半径の最小を凸・凹別に採用。挟む勾配がない・左右同値なら分類しない</a:t>
            </a:r>
          </a:p>
        </p:txBody>
      </p:sp>
    </p:spTree>
    <p:extLst>
      <p:ext uri="{BB962C8B-B14F-4D97-AF65-F5344CB8AC3E}">
        <p14:creationId xmlns:p14="http://schemas.microsoft.com/office/powerpoint/2010/main" val="19044818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E80B537-03DD-41AD-BD95-1CE08738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406C6EB-B7AF-4468-9D4A-30C1BA31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15  CONVERSION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6EFEC427-9BF0-4866-B424-EF412072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「-」はゼロでも、合格でもない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D755073-09B4-471A-8C11-0176B40F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同じ記号が「固定の未対応」と「抽出できなかった値」の両方に使われます。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518ADA3C-7DD7-4421-A3D6-C8A6D000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7177E73-DAF5-4466-A991-0BD3A8ED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E88712E-B6DD-4ECE-92A4-D28F9F39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出典：メイン L494–532／各数値変換関数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D9C5FDB-98A9-4F7A-B660-613A79E9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15</a:t>
            </a:r>
          </a:p>
        </p:txBody>
      </p:sp>
      <p:sp>
        <p:nvSpPr>
          <p:cNvPr id="9" name="shape-7">
            <a:extLst xmlns:a="http://schemas.openxmlformats.org/drawingml/2006/main">
              <a:ext uri="{FF2B5EF4-FFF2-40B4-BE49-F238E27FC236}">
                <a16:creationId xmlns:a16="http://schemas.microsoft.com/office/drawing/2014/main" id="{BC5F6700-C37D-48AF-9343-4739F3C3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834378DF-B0FB-4C46-864B-782F863B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入力・状態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B220CAAF-2C29-4E70-957F-1AF05A20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52650"/>
            <a:ext cx="3695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変換・転記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C75A2C69-C742-4419-9E92-9B91D3E9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52650"/>
            <a:ext cx="398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確認の意味</a:t>
            </a:r>
          </a:p>
        </p:txBody>
      </p:sp>
      <p:sp>
        <p:nvSpPr>
          <p:cNvPr id="13" name="shape-11">
            <a:extLst xmlns:a="http://schemas.openxmlformats.org/drawingml/2006/main">
              <a:ext uri="{FF2B5EF4-FFF2-40B4-BE49-F238E27FC236}">
                <a16:creationId xmlns:a16="http://schemas.microsoft.com/office/drawing/2014/main" id="{A62B1678-C827-48FE-9B23-56604111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76117537-D9FA-4B0F-BDCE-30D0CEDC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曲率帯：R = 200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C8B82BEB-F431-48A5-AAD4-C74BE209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3695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空白除去 → R=200 → 200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807F3F03-B3DB-4E0B-AF08-8CC3E5F5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09850"/>
            <a:ext cx="398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指定接頭辞の後を数値化</a:t>
            </a:r>
          </a:p>
        </p:txBody>
      </p:sp>
      <p:sp>
        <p:nvSpPr>
          <p:cNvPr id="17" name="shape-15">
            <a:extLst xmlns:a="http://schemas.openxmlformats.org/drawingml/2006/main">
              <a:ext uri="{FF2B5EF4-FFF2-40B4-BE49-F238E27FC236}">
                <a16:creationId xmlns:a16="http://schemas.microsoft.com/office/drawing/2014/main" id="{2C751E32-C66D-47BA-87EE-838CC039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hape-16">
            <a:extLst xmlns:a="http://schemas.openxmlformats.org/drawingml/2006/main">
              <a:ext uri="{FF2B5EF4-FFF2-40B4-BE49-F238E27FC236}">
                <a16:creationId xmlns:a16="http://schemas.microsoft.com/office/drawing/2014/main" id="{F568AEDE-52C6-4143-8A5E-505705E7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17">
            <a:extLst xmlns:a="http://schemas.openxmlformats.org/drawingml/2006/main">
              <a:ext uri="{FF2B5EF4-FFF2-40B4-BE49-F238E27FC236}">
                <a16:creationId xmlns:a16="http://schemas.microsoft.com/office/drawing/2014/main" id="{A9D1F381-CF7C-402A-8488-98024175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曲率帯：R=200m</a:t>
            </a:r>
          </a:p>
        </p:txBody>
      </p:sp>
      <p:sp>
        <p:nvSpPr>
          <p:cNvPr id="20" name="text-18">
            <a:extLst xmlns:a="http://schemas.openxmlformats.org/drawingml/2006/main">
              <a:ext uri="{FF2B5EF4-FFF2-40B4-BE49-F238E27FC236}">
                <a16:creationId xmlns:a16="http://schemas.microsoft.com/office/drawing/2014/main" id="{3F4BBF5F-A61E-45D8-959F-C71A3390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67050"/>
            <a:ext cx="3695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数値化できず候補から外れる</a:t>
            </a:r>
          </a:p>
        </p:txBody>
      </p:sp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B2E745D4-2424-401C-8C8C-506895B9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67050"/>
            <a:ext cx="398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曲率帯では単位文字を除去しない</a:t>
            </a:r>
          </a:p>
        </p:txBody>
      </p:sp>
      <p:sp>
        <p:nvSpPr>
          <p:cNvPr id="22" name="shape-20">
            <a:extLst xmlns:a="http://schemas.openxmlformats.org/drawingml/2006/main">
              <a:ext uri="{FF2B5EF4-FFF2-40B4-BE49-F238E27FC236}">
                <a16:creationId xmlns:a16="http://schemas.microsoft.com/office/drawing/2014/main" id="{7C21FF3A-CF8B-4BB6-92ED-FC14D214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5C62D8C4-B5C1-4480-891B-CA00888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縦断曲線：VCL=50m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81618172-0792-47DB-A162-C1B9A874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24250"/>
            <a:ext cx="3695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数字・小数点以外を除去 → 50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D13657FE-33DA-46B0-8A3C-99B8F9AB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24250"/>
            <a:ext cx="398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単位換算は行わない</a:t>
            </a:r>
          </a:p>
        </p:txBody>
      </p:sp>
      <p:sp>
        <p:nvSpPr>
          <p:cNvPr id="26" name="shape-24">
            <a:extLst xmlns:a="http://schemas.openxmlformats.org/drawingml/2006/main">
              <a:ext uri="{FF2B5EF4-FFF2-40B4-BE49-F238E27FC236}">
                <a16:creationId xmlns:a16="http://schemas.microsoft.com/office/drawing/2014/main" id="{E731C82A-FDDA-4D94-937D-46615BC5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hape-25">
            <a:extLst xmlns:a="http://schemas.openxmlformats.org/drawingml/2006/main">
              <a:ext uri="{FF2B5EF4-FFF2-40B4-BE49-F238E27FC236}">
                <a16:creationId xmlns:a16="http://schemas.microsoft.com/office/drawing/2014/main" id="{577A6338-FEA9-43A9-B3E2-8F866B7A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523E30ED-31B6-4302-BCC1-06A4C288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小数の数値</a:t>
            </a:r>
          </a:p>
        </p:txBody>
      </p:sp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C02D9FF8-9B41-46B4-8000-DA1DB822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81450"/>
            <a:ext cx="3695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明示的な桁数丸めは行わない</a:t>
            </a:r>
          </a:p>
        </p:txBody>
      </p:sp>
      <p:sp>
        <p:nvSpPr>
          <p:cNvPr id="30" name="text-28">
            <a:extLst xmlns:a="http://schemas.openxmlformats.org/drawingml/2006/main">
              <a:ext uri="{FF2B5EF4-FFF2-40B4-BE49-F238E27FC236}">
                <a16:creationId xmlns:a16="http://schemas.microsoft.com/office/drawing/2014/main" id="{966F4F0A-9CAF-4FAE-BDE3-0D0AD4D8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81450"/>
            <a:ext cx="398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表示桁はExcel側でも確認</a:t>
            </a:r>
          </a:p>
        </p:txBody>
      </p:sp>
      <p:sp>
        <p:nvSpPr>
          <p:cNvPr id="31" name="shape-29">
            <a:extLst xmlns:a="http://schemas.openxmlformats.org/drawingml/2006/main">
              <a:ext uri="{FF2B5EF4-FFF2-40B4-BE49-F238E27FC236}">
                <a16:creationId xmlns:a16="http://schemas.microsoft.com/office/drawing/2014/main" id="{738E1C3F-1091-46E3-887C-4E5B6D0F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30">
            <a:extLst xmlns:a="http://schemas.openxmlformats.org/drawingml/2006/main">
              <a:ext uri="{FF2B5EF4-FFF2-40B4-BE49-F238E27FC236}">
                <a16:creationId xmlns:a16="http://schemas.microsoft.com/office/drawing/2014/main" id="{5D681D5B-96F7-4276-928E-6FF06535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固定の未対応5欄</a:t>
            </a:r>
          </a:p>
        </p:txBody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B7E2D890-3B6E-4BFF-B451-5EBF1ED6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38650"/>
            <a:ext cx="3695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常に「-」</a:t>
            </a:r>
          </a:p>
        </p:txBody>
      </p:sp>
      <p:sp>
        <p:nvSpPr>
          <p:cNvPr id="34" name="text-32">
            <a:extLst xmlns:a="http://schemas.openxmlformats.org/drawingml/2006/main">
              <a:ext uri="{FF2B5EF4-FFF2-40B4-BE49-F238E27FC236}">
                <a16:creationId xmlns:a16="http://schemas.microsoft.com/office/drawing/2014/main" id="{3780D5E8-5C4A-46CA-91D4-C90C762D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38650"/>
            <a:ext cx="398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取得処理がない</a:t>
            </a:r>
          </a:p>
        </p:txBody>
      </p:sp>
      <p:sp>
        <p:nvSpPr>
          <p:cNvPr id="35" name="shape-33">
            <a:extLst xmlns:a="http://schemas.openxmlformats.org/drawingml/2006/main">
              <a:ext uri="{FF2B5EF4-FFF2-40B4-BE49-F238E27FC236}">
                <a16:creationId xmlns:a16="http://schemas.microsoft.com/office/drawing/2014/main" id="{4AA3FECD-9766-4C16-84CA-1CC4762A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hape-34">
            <a:extLst xmlns:a="http://schemas.openxmlformats.org/drawingml/2006/main">
              <a:ext uri="{FF2B5EF4-FFF2-40B4-BE49-F238E27FC236}">
                <a16:creationId xmlns:a16="http://schemas.microsoft.com/office/drawing/2014/main" id="{A2DCAF21-F4F0-4A54-AF3E-719DA9AF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35">
            <a:extLst xmlns:a="http://schemas.openxmlformats.org/drawingml/2006/main">
              <a:ext uri="{FF2B5EF4-FFF2-40B4-BE49-F238E27FC236}">
                <a16:creationId xmlns:a16="http://schemas.microsoft.com/office/drawing/2014/main" id="{3696A260-D135-4497-AA9D-465EEFF0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抽出対象だが取得できない</a:t>
            </a:r>
          </a:p>
        </p:txBody>
      </p:sp>
      <p:sp>
        <p:nvSpPr>
          <p:cNvPr id="38" name="text-36">
            <a:extLst xmlns:a="http://schemas.openxmlformats.org/drawingml/2006/main">
              <a:ext uri="{FF2B5EF4-FFF2-40B4-BE49-F238E27FC236}">
                <a16:creationId xmlns:a16="http://schemas.microsoft.com/office/drawing/2014/main" id="{37F41A96-8251-4977-B40E-2D9C1298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95850"/>
            <a:ext cx="3695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「-」になる場合がある</a:t>
            </a:r>
          </a:p>
        </p:txBody>
      </p:sp>
      <p:sp>
        <p:nvSpPr>
          <p:cNvPr id="39" name="text-37">
            <a:extLst xmlns:a="http://schemas.openxmlformats.org/drawingml/2006/main">
              <a:ext uri="{FF2B5EF4-FFF2-40B4-BE49-F238E27FC236}">
                <a16:creationId xmlns:a16="http://schemas.microsoft.com/office/drawing/2014/main" id="{A8A00C94-64DA-420D-82DB-47897459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95850"/>
            <a:ext cx="398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表記・範囲・条件・ログを確認</a:t>
            </a:r>
          </a:p>
        </p:txBody>
      </p:sp>
      <p:sp>
        <p:nvSpPr>
          <p:cNvPr id="40" name="shape-38">
            <a:extLst xmlns:a="http://schemas.openxmlformats.org/drawingml/2006/main">
              <a:ext uri="{FF2B5EF4-FFF2-40B4-BE49-F238E27FC236}">
                <a16:creationId xmlns:a16="http://schemas.microsoft.com/office/drawing/2014/main" id="{FF83CD12-2CA8-40FF-BE2C-FF787AE4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-39">
            <a:extLst xmlns:a="http://schemas.openxmlformats.org/drawingml/2006/main">
              <a:ext uri="{FF2B5EF4-FFF2-40B4-BE49-F238E27FC236}">
                <a16:creationId xmlns:a16="http://schemas.microsoft.com/office/drawing/2014/main" id="{C05972F0-4E4C-4D29-9BC3-05C5E4FC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数値 0</a:t>
            </a:r>
          </a:p>
        </p:txBody>
      </p:sp>
      <p:sp>
        <p:nvSpPr>
          <p:cNvPr id="42" name="text-40">
            <a:extLst xmlns:a="http://schemas.openxmlformats.org/drawingml/2006/main">
              <a:ext uri="{FF2B5EF4-FFF2-40B4-BE49-F238E27FC236}">
                <a16:creationId xmlns:a16="http://schemas.microsoft.com/office/drawing/2014/main" id="{1822514E-E46A-4237-AEB3-AE160A16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353050"/>
            <a:ext cx="3695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数値として扱う</a:t>
            </a:r>
          </a:p>
        </p:txBody>
      </p:sp>
      <p:sp>
        <p:nvSpPr>
          <p:cNvPr id="43" name="text-41">
            <a:extLst xmlns:a="http://schemas.openxmlformats.org/drawingml/2006/main">
              <a:ext uri="{FF2B5EF4-FFF2-40B4-BE49-F238E27FC236}">
                <a16:creationId xmlns:a16="http://schemas.microsoft.com/office/drawing/2014/main" id="{12532D1E-B450-4A38-A381-13933E74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53050"/>
            <a:ext cx="398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「-」を0へ変換する処理ではない</a:t>
            </a:r>
          </a:p>
        </p:txBody>
      </p:sp>
      <p:sp>
        <p:nvSpPr>
          <p:cNvPr id="44" name="shape-42">
            <a:extLst xmlns:a="http://schemas.openxmlformats.org/drawingml/2006/main">
              <a:ext uri="{FF2B5EF4-FFF2-40B4-BE49-F238E27FC236}">
                <a16:creationId xmlns:a16="http://schemas.microsoft.com/office/drawing/2014/main" id="{07224DB1-4C2F-45EC-B18F-90DA4E93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-43">
            <a:extLst xmlns:a="http://schemas.openxmlformats.org/drawingml/2006/main">
              <a:ext uri="{FF2B5EF4-FFF2-40B4-BE49-F238E27FC236}">
                <a16:creationId xmlns:a16="http://schemas.microsoft.com/office/drawing/2014/main" id="{DDCCF22A-97A4-48D9-A3A7-65DDFF38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「-」だけでは原因を区別できない。15欄の対応表と元図・ログを合わせて読む</a:t>
            </a:r>
          </a:p>
        </p:txBody>
      </p:sp>
    </p:spTree>
    <p:extLst>
      <p:ext uri="{BB962C8B-B14F-4D97-AF65-F5344CB8AC3E}">
        <p14:creationId xmlns:p14="http://schemas.microsoft.com/office/powerpoint/2010/main" val="1992112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414C8DA-1CD2-497B-BBDB-479F61EC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A7AB94A-5AD6-474B-BF23-BC4E4F3B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16  EXCEL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E89F2838-9A3B-434C-B329-9DDAE00C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15欄へ転記し、既存の帳票数式へ引き継ぐ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BE2B10D-2667-4DD6-8FC3-34CFB222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テンプレートの「使用値」A1:B15を更新します。数式の再計算はExcel側で確認します。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D746DE66-5781-4C84-B31F-19049EE1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0E51888-7479-4BEF-9A70-CE2F0DC6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3D68005-5EE8-4BDE-8D93-D7B879DA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出典：メイン L632–647／テンプレートXML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D0570C4-40AC-4477-94A8-4AF8876B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16</a:t>
            </a:r>
          </a:p>
        </p:txBody>
      </p:sp>
      <p:sp>
        <p:nvSpPr>
          <p:cNvPr id="9" name="shape-7">
            <a:extLst xmlns:a="http://schemas.openxmlformats.org/drawingml/2006/main">
              <a:ext uri="{FF2B5EF4-FFF2-40B4-BE49-F238E27FC236}">
                <a16:creationId xmlns:a16="http://schemas.microsoft.com/office/drawing/2014/main" id="{3C994F38-BA4E-4429-9C98-E67C189A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8956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4BE1AA69-71FD-4811-903A-45DB78F2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24765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抽出結果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9E0D111E-239B-4648-9F52-E2DAAA98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2476500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20A39137-E1E5-4EE3-9011-C8AE31CA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3260"/>
            <a:ext cx="2476500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D42BBC87-6117-4966-95A5-012E8409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6645"/>
            <a:ext cx="2476500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勾配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7628BE73-FDC8-407E-8C06-D190D9F8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0030"/>
            <a:ext cx="2476500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縦断曲線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ED0F3DAD-28DB-41B7-8CE4-4BA7627D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3415"/>
            <a:ext cx="2476500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固定の「-」</a:t>
            </a:r>
          </a:p>
        </p:txBody>
      </p:sp>
      <p:sp>
        <p:nvSpPr>
          <p:cNvPr id="16" name="shape-14">
            <a:extLst xmlns:a="http://schemas.openxmlformats.org/drawingml/2006/main">
              <a:ext uri="{FF2B5EF4-FFF2-40B4-BE49-F238E27FC236}">
                <a16:creationId xmlns:a16="http://schemas.microsoft.com/office/drawing/2014/main" id="{2B99594A-FC9C-4F98-A280-9836565F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71875"/>
            <a:ext cx="4191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pe-15">
            <a:extLst xmlns:a="http://schemas.openxmlformats.org/drawingml/2006/main">
              <a:ext uri="{FF2B5EF4-FFF2-40B4-BE49-F238E27FC236}">
                <a16:creationId xmlns:a16="http://schemas.microsoft.com/office/drawing/2014/main" id="{090F95EB-C19A-4EFB-BA92-AE27600A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317182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11430">
            <a:solidFill>
              <a:srgbClr val="01A173"/>
            </a:solidFill>
            <a:prstDash val="solid"/>
          </a:ln>
        </p:spPr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BF56D425-5815-4078-BC75-C9C6FA4A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76475"/>
            <a:ext cx="277177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使用値 シート</a:t>
            </a:r>
          </a:p>
        </p:txBody>
      </p:sp>
      <p:sp>
        <p:nvSpPr>
          <p:cNvPr id="19" name="shape-17">
            <a:extLst xmlns:a="http://schemas.openxmlformats.org/drawingml/2006/main">
              <a:ext uri="{FF2B5EF4-FFF2-40B4-BE49-F238E27FC236}">
                <a16:creationId xmlns:a16="http://schemas.microsoft.com/office/drawing/2014/main" id="{EA4037CD-91E9-4AFC-B3EF-19AB38B2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62275"/>
            <a:ext cx="27717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8">
            <a:extLst xmlns:a="http://schemas.openxmlformats.org/drawingml/2006/main">
              <a:ext uri="{FF2B5EF4-FFF2-40B4-BE49-F238E27FC236}">
                <a16:creationId xmlns:a16="http://schemas.microsoft.com/office/drawing/2014/main" id="{5BC58A19-D5EE-485C-91B0-D5D097AE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76575"/>
            <a:ext cx="12287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A列</a:t>
            </a:r>
          </a:p>
        </p:txBody>
      </p:sp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81212ACE-E7E9-4EB5-A31E-1078387F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76575"/>
            <a:ext cx="10858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B列</a:t>
            </a:r>
          </a:p>
        </p:txBody>
      </p:sp>
      <p:sp>
        <p:nvSpPr>
          <p:cNvPr id="22" name="shape-20">
            <a:extLst xmlns:a="http://schemas.openxmlformats.org/drawingml/2006/main">
              <a:ext uri="{FF2B5EF4-FFF2-40B4-BE49-F238E27FC236}">
                <a16:creationId xmlns:a16="http://schemas.microsoft.com/office/drawing/2014/main" id="{1AC46EDF-D5A4-45F8-89B3-A3561FE8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62425"/>
            <a:ext cx="2771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3147B1F1-774D-408B-A3CA-FB0D4067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676650"/>
            <a:ext cx="12287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項目名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5B576E6B-6ABE-47F6-A3D7-0EB52E4A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76650"/>
            <a:ext cx="10858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抽出値</a:t>
            </a:r>
          </a:p>
        </p:txBody>
      </p:sp>
      <p:sp>
        <p:nvSpPr>
          <p:cNvPr id="25" name="shape-23">
            <a:extLst xmlns:a="http://schemas.openxmlformats.org/drawingml/2006/main">
              <a:ext uri="{FF2B5EF4-FFF2-40B4-BE49-F238E27FC236}">
                <a16:creationId xmlns:a16="http://schemas.microsoft.com/office/drawing/2014/main" id="{F6F8865C-4E50-4265-9299-A0629AC4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62425"/>
            <a:ext cx="27717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hape-24">
            <a:extLst xmlns:a="http://schemas.openxmlformats.org/drawingml/2006/main">
              <a:ext uri="{FF2B5EF4-FFF2-40B4-BE49-F238E27FC236}">
                <a16:creationId xmlns:a16="http://schemas.microsoft.com/office/drawing/2014/main" id="{3CFDBD39-FAE0-4F82-8B53-A96390BF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62500"/>
            <a:ext cx="2771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4EF86F67-EA58-464D-8EE4-29A0A243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276725"/>
            <a:ext cx="12287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A1〜A15</a:t>
            </a:r>
          </a:p>
        </p:txBody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938D2FB0-D206-4DC0-87FE-7B080E4F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76725"/>
            <a:ext cx="10858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B1〜B15</a:t>
            </a:r>
          </a:p>
        </p:txBody>
      </p:sp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23941579-F39B-4F93-96D3-197B5777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57750"/>
            <a:ext cx="27717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B列を消してから転記</a:t>
            </a:r>
          </a:p>
        </p:txBody>
      </p:sp>
      <p:sp>
        <p:nvSpPr>
          <p:cNvPr id="30" name="shape-28">
            <a:extLst xmlns:a="http://schemas.openxmlformats.org/drawingml/2006/main">
              <a:ext uri="{FF2B5EF4-FFF2-40B4-BE49-F238E27FC236}">
                <a16:creationId xmlns:a16="http://schemas.microsoft.com/office/drawing/2014/main" id="{856B8F96-1D37-4AFC-8080-9C4EA5FA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71875"/>
            <a:ext cx="4191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hape-29">
            <a:extLst xmlns:a="http://schemas.openxmlformats.org/drawingml/2006/main">
              <a:ext uri="{FF2B5EF4-FFF2-40B4-BE49-F238E27FC236}">
                <a16:creationId xmlns:a16="http://schemas.microsoft.com/office/drawing/2014/main" id="{83A2CF7F-5E45-4721-B167-D4060E50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52650"/>
            <a:ext cx="319087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32" name="text-30">
            <a:extLst xmlns:a="http://schemas.openxmlformats.org/drawingml/2006/main">
              <a:ext uri="{FF2B5EF4-FFF2-40B4-BE49-F238E27FC236}">
                <a16:creationId xmlns:a16="http://schemas.microsoft.com/office/drawing/2014/main" id="{07254F60-FA7E-40C1-B7EC-F14309E5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276475"/>
            <a:ext cx="280987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幾何構造表 シート</a:t>
            </a:r>
          </a:p>
        </p:txBody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60FD6301-3735-4A53-9865-ACE6689E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981325"/>
            <a:ext cx="2809875" cy="395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U列：使用値を参照</a:t>
            </a:r>
          </a:p>
        </p:txBody>
      </p:sp>
      <p:sp>
        <p:nvSpPr>
          <p:cNvPr id="34" name="text-32">
            <a:extLst xmlns:a="http://schemas.openxmlformats.org/drawingml/2006/main">
              <a:ext uri="{FF2B5EF4-FFF2-40B4-BE49-F238E27FC236}">
                <a16:creationId xmlns:a16="http://schemas.microsoft.com/office/drawing/2014/main" id="{FBE4A20C-C0B8-4DD1-B840-C57D8D80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76613"/>
            <a:ext cx="2809875" cy="395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Y列：既存のOK/NG式</a:t>
            </a:r>
          </a:p>
        </p:txBody>
      </p:sp>
      <p:sp>
        <p:nvSpPr>
          <p:cNvPr id="35" name="text-33">
            <a:extLst xmlns:a="http://schemas.openxmlformats.org/drawingml/2006/main">
              <a:ext uri="{FF2B5EF4-FFF2-40B4-BE49-F238E27FC236}">
                <a16:creationId xmlns:a16="http://schemas.microsoft.com/office/drawing/2014/main" id="{01D3B1ED-6127-43C9-AB10-0A824999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010025"/>
            <a:ext cx="2809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N1：設計速度</a:t>
            </a:r>
          </a:p>
        </p:txBody>
      </p:sp>
      <p:sp>
        <p:nvSpPr>
          <p:cNvPr id="36" name="text-34">
            <a:extLst xmlns:a="http://schemas.openxmlformats.org/drawingml/2006/main">
              <a:ext uri="{FF2B5EF4-FFF2-40B4-BE49-F238E27FC236}">
                <a16:creationId xmlns:a16="http://schemas.microsoft.com/office/drawing/2014/main" id="{F0D472AD-9C5E-4040-A197-CC45A97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43400"/>
            <a:ext cx="2809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Z1：第4種道路か</a:t>
            </a:r>
          </a:p>
        </p:txBody>
      </p:sp>
      <p:sp>
        <p:nvSpPr>
          <p:cNvPr id="37" name="shape-35">
            <a:extLst xmlns:a="http://schemas.openxmlformats.org/drawingml/2006/main">
              <a:ext uri="{FF2B5EF4-FFF2-40B4-BE49-F238E27FC236}">
                <a16:creationId xmlns:a16="http://schemas.microsoft.com/office/drawing/2014/main" id="{D323D1EC-AC90-42F6-B255-6D42A377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36">
            <a:extLst xmlns:a="http://schemas.openxmlformats.org/drawingml/2006/main">
              <a:ext uri="{FF2B5EF4-FFF2-40B4-BE49-F238E27FC236}">
                <a16:creationId xmlns:a16="http://schemas.microsoft.com/office/drawing/2014/main" id="{41FE2B98-FFA3-4F06-98F2-D5F11E67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設計条件N1・Z1はスクリプトで更新しない。利用者が案件の条件と再計算結果を確認する</a:t>
            </a:r>
          </a:p>
        </p:txBody>
      </p:sp>
    </p:spTree>
    <p:extLst>
      <p:ext uri="{BB962C8B-B14F-4D97-AF65-F5344CB8AC3E}">
        <p14:creationId xmlns:p14="http://schemas.microsoft.com/office/powerpoint/2010/main" val="6110709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62DFD7-C9BA-4F82-AA9B-8091AAD2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729A7F6-73AE-4EEE-8383-78C7B466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17  COVERAGE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048FE68E-87CC-4595-B311-501537C6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Excel保存の成功は、全項目の取得成功を意味しない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E9452E4-6A15-4370-AF33-1F1FBD77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取得値が「-」でも、Excelを保存してDXFをusedへ移す場合があります。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4CE3A100-87D4-433F-B866-1B05C434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970B734-3EB7-4885-AC19-AB35F911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37AAA842-9816-47D3-9DC8-71C4131C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出典：メイン L597–657／合成入力検証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3061206-BF86-47C3-9DAE-0CED6029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17</a:t>
            </a:r>
          </a:p>
        </p:txBody>
      </p:sp>
      <p:sp>
        <p:nvSpPr>
          <p:cNvPr id="9" name="shape-7">
            <a:extLst xmlns:a="http://schemas.openxmlformats.org/drawingml/2006/main">
              <a:ext uri="{FF2B5EF4-FFF2-40B4-BE49-F238E27FC236}">
                <a16:creationId xmlns:a16="http://schemas.microsoft.com/office/drawing/2014/main" id="{3947FE12-7D33-4DDD-ABD6-8845B1BE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52197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-8">
            <a:extLst xmlns:a="http://schemas.openxmlformats.org/drawingml/2006/main">
              <a:ext uri="{FF2B5EF4-FFF2-40B4-BE49-F238E27FC236}">
                <a16:creationId xmlns:a16="http://schemas.microsoft.com/office/drawing/2014/main" id="{39F2D48D-9E16-4A5D-8495-7F9427E4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62175"/>
            <a:ext cx="54292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ED5281FB-ADF9-4140-81A4-52B2262C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7244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Excelを保存できた場合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478980FA-A136-4833-9DB9-D5BFF6CC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49339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DXFの処理・保存・移動が失敗</a:t>
            </a:r>
          </a:p>
        </p:txBody>
      </p:sp>
      <p:sp>
        <p:nvSpPr>
          <p:cNvPr id="13" name="shape-11">
            <a:extLst xmlns:a="http://schemas.openxmlformats.org/drawingml/2006/main">
              <a:ext uri="{FF2B5EF4-FFF2-40B4-BE49-F238E27FC236}">
                <a16:creationId xmlns:a16="http://schemas.microsoft.com/office/drawing/2014/main" id="{B4CFE96B-F5D8-4342-B6FE-51EE98B2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" y="312610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7D0C63DD-64B4-40C1-92D6-9AD2254B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495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Excelを日時フォルダへ保存</a:t>
            </a:r>
          </a:p>
        </p:txBody>
      </p:sp>
      <p:sp>
        <p:nvSpPr>
          <p:cNvPr id="15" name="shape-13">
            <a:extLst xmlns:a="http://schemas.openxmlformats.org/drawingml/2006/main">
              <a:ext uri="{FF2B5EF4-FFF2-40B4-BE49-F238E27FC236}">
                <a16:creationId xmlns:a16="http://schemas.microsoft.com/office/drawing/2014/main" id="{842709D5-6D56-4096-BF75-6A0D1B12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" y="378333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1FC8FC6E-BE82-4EE2-90D3-2DEDED01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9975"/>
            <a:ext cx="4495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DXFをusedへ移動</a:t>
            </a:r>
          </a:p>
        </p:txBody>
      </p:sp>
      <p:sp>
        <p:nvSpPr>
          <p:cNvPr id="17" name="shape-15">
            <a:extLst xmlns:a="http://schemas.openxmlformats.org/drawingml/2006/main">
              <a:ext uri="{FF2B5EF4-FFF2-40B4-BE49-F238E27FC236}">
                <a16:creationId xmlns:a16="http://schemas.microsoft.com/office/drawing/2014/main" id="{35E82A04-5B9A-4A57-8DA3-9672841F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" y="444055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354E41C7-D8B6-41DD-AE55-17A68041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449580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一部または全欄が「-」でも</a:t>
            </a:r>
          </a:p>
        </p:txBody>
      </p:sp>
      <p:sp>
        <p:nvSpPr>
          <p:cNvPr id="19" name="text-17">
            <a:extLst xmlns:a="http://schemas.openxmlformats.org/drawingml/2006/main">
              <a:ext uri="{FF2B5EF4-FFF2-40B4-BE49-F238E27FC236}">
                <a16:creationId xmlns:a16="http://schemas.microsoft.com/office/drawing/2014/main" id="{C4A67DAA-A8DF-45BB-B02C-9F1EB0FC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3905"/>
            <a:ext cx="449580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保存・移動される場合がある</a:t>
            </a:r>
          </a:p>
        </p:txBody>
      </p:sp>
      <p:sp>
        <p:nvSpPr>
          <p:cNvPr id="20" name="shape-18">
            <a:extLst xmlns:a="http://schemas.openxmlformats.org/drawingml/2006/main">
              <a:ext uri="{FF2B5EF4-FFF2-40B4-BE49-F238E27FC236}">
                <a16:creationId xmlns:a16="http://schemas.microsoft.com/office/drawing/2014/main" id="{C083FF20-850E-4BE3-99FE-9882FE66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380" y="312610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FDBBD3A0-71FB-466A-83E3-874AB053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52750"/>
            <a:ext cx="4705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そのDXFの処理失敗をログへ記録</a:t>
            </a:r>
          </a:p>
        </p:txBody>
      </p:sp>
      <p:sp>
        <p:nvSpPr>
          <p:cNvPr id="22" name="shape-20">
            <a:extLst xmlns:a="http://schemas.openxmlformats.org/drawingml/2006/main">
              <a:ext uri="{FF2B5EF4-FFF2-40B4-BE49-F238E27FC236}">
                <a16:creationId xmlns:a16="http://schemas.microsoft.com/office/drawing/2014/main" id="{60122D6A-1023-4690-9F50-BA4BA525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380" y="378333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3D3760C0-7A03-4225-8389-ECF2ACFC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09975"/>
            <a:ext cx="4705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通常はDXFがinputに残る</a:t>
            </a:r>
          </a:p>
        </p:txBody>
      </p:sp>
      <p:sp>
        <p:nvSpPr>
          <p:cNvPr id="24" name="shape-22">
            <a:extLst xmlns:a="http://schemas.openxmlformats.org/drawingml/2006/main">
              <a:ext uri="{FF2B5EF4-FFF2-40B4-BE49-F238E27FC236}">
                <a16:creationId xmlns:a16="http://schemas.microsoft.com/office/drawing/2014/main" id="{84EEB681-7269-4BB3-B740-9B2930BB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380" y="444055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08713C70-0941-4D91-888B-412994D1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67200"/>
            <a:ext cx="470535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保存後に移動だけ失敗すると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C35260FA-3F1A-4F23-A95E-67CD60AE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3905"/>
            <a:ext cx="470535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Excelとinputの両方に残り得る</a:t>
            </a:r>
          </a:p>
        </p:txBody>
      </p:sp>
      <p:sp>
        <p:nvSpPr>
          <p:cNvPr id="27" name="shape-25">
            <a:extLst xmlns:a="http://schemas.openxmlformats.org/drawingml/2006/main">
              <a:ext uri="{FF2B5EF4-FFF2-40B4-BE49-F238E27FC236}">
                <a16:creationId xmlns:a16="http://schemas.microsoft.com/office/drawing/2014/main" id="{9AD2CC9F-8942-438D-8FDE-919ECA80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A88D1486-526C-4980-99C1-874D51AB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今回の合成検証では、空DXFも「全15欄が -」のExcelを作り、usedへ移動した</a:t>
            </a:r>
          </a:p>
        </p:txBody>
      </p:sp>
    </p:spTree>
    <p:extLst>
      <p:ext uri="{BB962C8B-B14F-4D97-AF65-F5344CB8AC3E}">
        <p14:creationId xmlns:p14="http://schemas.microsoft.com/office/powerpoint/2010/main" val="1745263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5AF4D28-CB3D-4485-86E9-1CD0F12A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FBD6D82-FDA0-4541-9312-7627F05F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18  LIMITATIONS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ED6AD219-054A-46B0-9169-9B826364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複合曲線と2段の縦断図は、元図で重点確認する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67797DF7-3D5D-47E0-B33D-67DEF597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現行実装で確認した注意点です。数値は説明用の合成入力で、現場の実測値ではありません。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6EB59ABD-A325-4D08-80DE-8E5772E6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EE0DBF1-03F2-4739-BB17-914D24EC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20FD6BE-7B84-43CD-B6C3-BEB45790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出典：get_curvature L602–650／README／合成入力検証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A182481-FE2B-4157-8CD2-F505678E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18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D2A9B7BF-A39A-4D7B-8D76-B02F30A2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7181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複合曲線の長さ</a:t>
            </a:r>
          </a:p>
        </p:txBody>
      </p:sp>
      <p:sp>
        <p:nvSpPr>
          <p:cNvPr id="10" name="shape-8">
            <a:extLst xmlns:a="http://schemas.openxmlformats.org/drawingml/2006/main">
              <a:ext uri="{FF2B5EF4-FFF2-40B4-BE49-F238E27FC236}">
                <a16:creationId xmlns:a16="http://schemas.microsoft.com/office/drawing/2014/main" id="{78167A2B-F811-44F0-A5C2-03352596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8267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0528D21F-E777-4909-925C-BE0AB92B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962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並び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E0241EBA-8DEA-43EB-97F7-3A1589C9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43200"/>
            <a:ext cx="2476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現行の採用例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A9A181F3-81B6-4309-9265-D135544B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43200"/>
            <a:ext cx="3143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確認すべき点</a:t>
            </a:r>
          </a:p>
        </p:txBody>
      </p:sp>
      <p:sp>
        <p:nvSpPr>
          <p:cNvPr id="14" name="shape-12">
            <a:extLst xmlns:a="http://schemas.openxmlformats.org/drawingml/2006/main">
              <a:ext uri="{FF2B5EF4-FFF2-40B4-BE49-F238E27FC236}">
                <a16:creationId xmlns:a16="http://schemas.microsoft.com/office/drawing/2014/main" id="{9D43A956-C1B1-4045-8C71-EEEC0264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826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873789FE-26D1-42CC-B48B-2980268F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962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末尾の A–R–A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B17F36D3-2E9E-406C-982B-D97F63E7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38550"/>
            <a:ext cx="2476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中央RのLだけを採用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2AF3D5D2-04FF-4993-90CB-890EF5AB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38550"/>
            <a:ext cx="3143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前後Aの長さが含まれない</a:t>
            </a:r>
          </a:p>
        </p:txBody>
      </p:sp>
      <p:sp>
        <p:nvSpPr>
          <p:cNvPr id="18" name="shape-16">
            <a:extLst xmlns:a="http://schemas.openxmlformats.org/drawingml/2006/main">
              <a:ext uri="{FF2B5EF4-FFF2-40B4-BE49-F238E27FC236}">
                <a16:creationId xmlns:a16="http://schemas.microsoft.com/office/drawing/2014/main" id="{CAD17B02-9BFE-44E5-95CE-01BBA8A5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8267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hape-17">
            <a:extLst xmlns:a="http://schemas.openxmlformats.org/drawingml/2006/main">
              <a:ext uri="{FF2B5EF4-FFF2-40B4-BE49-F238E27FC236}">
                <a16:creationId xmlns:a16="http://schemas.microsoft.com/office/drawing/2014/main" id="{AFEA539E-CB8D-4081-A105-06A588F5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826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8">
            <a:extLst xmlns:a="http://schemas.openxmlformats.org/drawingml/2006/main">
              <a:ext uri="{FF2B5EF4-FFF2-40B4-BE49-F238E27FC236}">
                <a16:creationId xmlns:a16="http://schemas.microsoft.com/office/drawing/2014/main" id="{D6CD3DC1-0146-4028-ACF3-C0BD013E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1962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同方向 A–R–A–R–A</a:t>
            </a:r>
          </a:p>
        </p:txBody>
      </p:sp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7966BCD2-384F-4FD2-9877-79A0FE51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33900"/>
            <a:ext cx="2476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例：全L合計300に対し440</a:t>
            </a:r>
          </a:p>
        </p:txBody>
      </p:sp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7CB03162-2311-44C8-BC3B-47473575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33900"/>
            <a:ext cx="3143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後半のR/A値を長さへ加算</a:t>
            </a:r>
          </a:p>
        </p:txBody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8C7158FE-1A94-441A-B4D7-8D670E53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47875"/>
            <a:ext cx="23526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2段の縦断図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481E263B-599C-4B82-AEDB-8E4E0C23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790825"/>
            <a:ext cx="23526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X位置だけでは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B38673EE-D5E8-4A0E-B763-3FDF26BF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90875"/>
            <a:ext cx="23526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上段・下段が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0BA2B1C1-CD2B-46AC-9AF9-BD6B795C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590925"/>
            <a:ext cx="23526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混ざる可能性</a:t>
            </a:r>
          </a:p>
        </p:txBody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362809FF-B0B5-4FED-B556-545F9F5A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267200"/>
            <a:ext cx="23526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VCR / VCLの取得に</a:t>
            </a:r>
          </a:p>
        </p:txBody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AD29C043-25B7-4069-9FF1-E874A5B8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591050"/>
            <a:ext cx="23526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制約ありと記載</a:t>
            </a:r>
          </a:p>
        </p:txBody>
      </p:sp>
      <p:sp>
        <p:nvSpPr>
          <p:cNvPr id="29" name="shape-27">
            <a:extLst xmlns:a="http://schemas.openxmlformats.org/drawingml/2006/main">
              <a:ext uri="{FF2B5EF4-FFF2-40B4-BE49-F238E27FC236}">
                <a16:creationId xmlns:a16="http://schemas.microsoft.com/office/drawing/2014/main" id="{5B527290-C7FA-4B16-ABD9-A56C5ED7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28">
            <a:extLst xmlns:a="http://schemas.openxmlformats.org/drawingml/2006/main">
              <a:ext uri="{FF2B5EF4-FFF2-40B4-BE49-F238E27FC236}">
                <a16:creationId xmlns:a16="http://schemas.microsoft.com/office/drawing/2014/main" id="{E0EC8F9E-32D0-4CE5-90B3-CBE7848D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複合曲線長・負号付き勾配・2段縦断図は、自動取得値をそのまま確定せず元図で確認する</a:t>
            </a:r>
          </a:p>
        </p:txBody>
      </p:sp>
    </p:spTree>
    <p:extLst>
      <p:ext uri="{BB962C8B-B14F-4D97-AF65-F5344CB8AC3E}">
        <p14:creationId xmlns:p14="http://schemas.microsoft.com/office/powerpoint/2010/main" val="15356825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DDE926E-0733-4A24-9631-111B34D5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899C07-9A8E-4329-80C4-5027B841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19  EVIDENCE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48F4821C-86C3-4792-B0B3-F14F9447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確認したのは、合成入力に対する現行の挙動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5626DB9-0F3E-48DF-8613-2A58DDD1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実図サンプルによる精度検証とは分けて扱います。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0FE6BEDE-1687-4727-998D-B75A99FF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0865FF1-1AEA-444C-ABB2-777943C6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8E296B6-B56A-46E6-967A-08836814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出典：今回の合成入力検証記録（2026-09-17）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5F72FDB-9BC2-43D0-9174-C38DFB47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19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4351B08B-387B-484D-80BB-407A4B96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476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4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21 / 21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8358F1E7-472F-4125-BA8A-47287C72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8580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合成入力で、想定した現行挙動と一致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BEC3C9F8-6DD3-4117-BC53-1D8A43B4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97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値の変換・凸凹分類・曲線長の分岐・保存と移動を確認。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47C1A082-DFA3-4FB0-B757-9B1999FD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これは正確性の合格率や、実図での再現率ではありません。</a:t>
            </a:r>
          </a:p>
        </p:txBody>
      </p:sp>
      <p:sp>
        <p:nvSpPr>
          <p:cNvPr id="13" name="shape-11">
            <a:extLst xmlns:a="http://schemas.openxmlformats.org/drawingml/2006/main">
              <a:ext uri="{FF2B5EF4-FFF2-40B4-BE49-F238E27FC236}">
                <a16:creationId xmlns:a16="http://schemas.microsoft.com/office/drawing/2014/main" id="{CBAC9FC8-870A-4CE0-A4FF-2A218EEE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A0669EB9-F7DE-4AF7-98D2-A0B2DC6E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449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自作DXFによるバッチ確認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A94D582C-7E5F-49E8-ACB9-0A08275C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10075"/>
            <a:ext cx="6019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結果</a:t>
            </a:r>
          </a:p>
        </p:txBody>
      </p:sp>
      <p:sp>
        <p:nvSpPr>
          <p:cNvPr id="16" name="shape-14">
            <a:extLst xmlns:a="http://schemas.openxmlformats.org/drawingml/2006/main">
              <a:ext uri="{FF2B5EF4-FFF2-40B4-BE49-F238E27FC236}">
                <a16:creationId xmlns:a16="http://schemas.microsoft.com/office/drawing/2014/main" id="{F63131ED-2588-427A-9D0F-CDCE5DBA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7F9E9CAA-A2C9-4C81-9E35-4FC8DA5A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449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縦断条件入りDXF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07C86F74-A13B-450C-B564-46075D5B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867275"/>
            <a:ext cx="6019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Excel作成 ＋ usedへ移動</a:t>
            </a:r>
          </a:p>
        </p:txBody>
      </p:sp>
      <p:sp>
        <p:nvSpPr>
          <p:cNvPr id="19" name="shape-17">
            <a:extLst xmlns:a="http://schemas.openxmlformats.org/drawingml/2006/main">
              <a:ext uri="{FF2B5EF4-FFF2-40B4-BE49-F238E27FC236}">
                <a16:creationId xmlns:a16="http://schemas.microsoft.com/office/drawing/2014/main" id="{971A06D8-C38F-4620-8A4B-A13856E8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hape-18">
            <a:extLst xmlns:a="http://schemas.openxmlformats.org/drawingml/2006/main">
              <a:ext uri="{FF2B5EF4-FFF2-40B4-BE49-F238E27FC236}">
                <a16:creationId xmlns:a16="http://schemas.microsoft.com/office/drawing/2014/main" id="{B0826EDB-23BE-4A0D-984C-AEE0EA83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8510BF61-CD78-4812-8B33-1ABC2348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4475"/>
            <a:ext cx="449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空DXF</a:t>
            </a:r>
          </a:p>
        </p:txBody>
      </p:sp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260FF2B2-ADAF-4897-B5F3-0A308C84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324475"/>
            <a:ext cx="6019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全15欄「-」でもExcel作成 ＋ usedへ移動</a:t>
            </a:r>
          </a:p>
        </p:txBody>
      </p:sp>
      <p:sp>
        <p:nvSpPr>
          <p:cNvPr id="23" name="shape-21">
            <a:extLst xmlns:a="http://schemas.openxmlformats.org/drawingml/2006/main">
              <a:ext uri="{FF2B5EF4-FFF2-40B4-BE49-F238E27FC236}">
                <a16:creationId xmlns:a16="http://schemas.microsoft.com/office/drawing/2014/main" id="{CAF0BD43-9E91-40E6-A0A5-5C15887E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F293F8C1-A964-488E-A5D0-A1173F12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81675"/>
            <a:ext cx="449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不正なDXF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1209B909-51F1-4067-8F8A-0E5EDAFA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781675"/>
            <a:ext cx="6019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失敗を記録し、inputに残存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28B9DEB0-BEDC-42D4-9FF7-471845F6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実図サンプル・既存テストは未確認。実図精度、網羅性、時間削減率は今後の検証対象。</a:t>
            </a:r>
          </a:p>
        </p:txBody>
      </p:sp>
    </p:spTree>
    <p:extLst>
      <p:ext uri="{BB962C8B-B14F-4D97-AF65-F5344CB8AC3E}">
        <p14:creationId xmlns:p14="http://schemas.microsoft.com/office/powerpoint/2010/main" val="4406521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E087BBB-C2A5-4AC8-B337-E31CF2E8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AFFBD21-05CD-4F0C-82F6-290ED9D6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20  HUMAN CHECK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D71A4A1C-B73C-438B-B66F-786AAF43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元図・使用値・設計条件を照合して、照査を完了する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4F1A1C9-78D2-4656-BA29-5103F516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帳票のOK表示だけで、確認を終えないでください。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E41B3CF9-811B-448E-B91D-6A2201D0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30036FD-F490-4A44-8146-1CC11357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376C9BC-D321-47AC-86E9-2B62512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出典：実装・テンプレートの確認事項から整理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C0F9D67-CCA4-4092-823F-B1839567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20</a:t>
            </a:r>
          </a:p>
        </p:txBody>
      </p:sp>
      <p:sp>
        <p:nvSpPr>
          <p:cNvPr id="9" name="shape-7">
            <a:extLst xmlns:a="http://schemas.openxmlformats.org/drawingml/2006/main">
              <a:ext uri="{FF2B5EF4-FFF2-40B4-BE49-F238E27FC236}">
                <a16:creationId xmlns:a16="http://schemas.microsoft.com/office/drawing/2014/main" id="{7ED65F0F-5B9D-4CDB-ACF9-147FC055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336232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D"/>
            </a:solidFill>
            <a:prstDash val="solid"/>
          </a:ln>
        </p:spPr>
      </p:sp>
      <p:sp>
        <p:nvSpPr>
          <p:cNvPr id="10" name="shape-8">
            <a:extLst xmlns:a="http://schemas.openxmlformats.org/drawingml/2006/main">
              <a:ext uri="{FF2B5EF4-FFF2-40B4-BE49-F238E27FC236}">
                <a16:creationId xmlns:a16="http://schemas.microsoft.com/office/drawing/2014/main" id="{0CE8F177-BA91-4FC2-82AB-6F3316DA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3362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-9">
            <a:extLst xmlns:a="http://schemas.openxmlformats.org/drawingml/2006/main">
              <a:ext uri="{FF2B5EF4-FFF2-40B4-BE49-F238E27FC236}">
                <a16:creationId xmlns:a16="http://schemas.microsoft.com/office/drawing/2014/main" id="{B614FF3E-34D8-4946-8884-C9DEF6EF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5288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-10">
            <a:extLst xmlns:a="http://schemas.openxmlformats.org/drawingml/2006/main">
              <a:ext uri="{FF2B5EF4-FFF2-40B4-BE49-F238E27FC236}">
                <a16:creationId xmlns:a16="http://schemas.microsoft.com/office/drawing/2014/main" id="{2791C01B-8E8F-4166-810C-B0EA7D51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265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-11">
            <a:extLst xmlns:a="http://schemas.openxmlformats.org/drawingml/2006/main">
              <a:ext uri="{FF2B5EF4-FFF2-40B4-BE49-F238E27FC236}">
                <a16:creationId xmlns:a16="http://schemas.microsoft.com/office/drawing/2014/main" id="{E662BC38-AE4D-4D9F-8D3B-C6C90AFC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0013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-12">
            <a:extLst xmlns:a="http://schemas.openxmlformats.org/drawingml/2006/main">
              <a:ext uri="{FF2B5EF4-FFF2-40B4-BE49-F238E27FC236}">
                <a16:creationId xmlns:a16="http://schemas.microsoft.com/office/drawing/2014/main" id="{63CCBCB3-9AF7-416E-B717-1E3FD182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737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hape-13">
            <a:extLst xmlns:a="http://schemas.openxmlformats.org/drawingml/2006/main">
              <a:ext uri="{FF2B5EF4-FFF2-40B4-BE49-F238E27FC236}">
                <a16:creationId xmlns:a16="http://schemas.microsoft.com/office/drawing/2014/main" id="{63BD4065-0201-464D-A8A8-5D373C6B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4738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ape-14">
            <a:extLst xmlns:a="http://schemas.openxmlformats.org/drawingml/2006/main">
              <a:ext uri="{FF2B5EF4-FFF2-40B4-BE49-F238E27FC236}">
                <a16:creationId xmlns:a16="http://schemas.microsoft.com/office/drawing/2014/main" id="{4443962C-2AE3-4428-822B-D5303DD7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pe-15">
            <a:extLst xmlns:a="http://schemas.openxmlformats.org/drawingml/2006/main">
              <a:ext uri="{FF2B5EF4-FFF2-40B4-BE49-F238E27FC236}">
                <a16:creationId xmlns:a16="http://schemas.microsoft.com/office/drawing/2014/main" id="{50C65264-AEEC-44EA-B501-1E940B79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111" y="2181225"/>
            <a:ext cx="952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E1F655D5-676D-4529-93B6-DF02CF20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201739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項目</a:t>
            </a:r>
          </a:p>
        </p:txBody>
      </p:sp>
      <p:sp>
        <p:nvSpPr>
          <p:cNvPr id="19" name="text-17">
            <a:extLst xmlns:a="http://schemas.openxmlformats.org/drawingml/2006/main">
              <a:ext uri="{FF2B5EF4-FFF2-40B4-BE49-F238E27FC236}">
                <a16:creationId xmlns:a16="http://schemas.microsoft.com/office/drawing/2014/main" id="{068662AA-DACD-4E0B-97EC-A7B1FD82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358" y="2181225"/>
            <a:ext cx="1008697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使用値</a:t>
            </a:r>
          </a:p>
        </p:txBody>
      </p:sp>
      <p:sp>
        <p:nvSpPr>
          <p:cNvPr id="20" name="text-18">
            <a:extLst xmlns:a="http://schemas.openxmlformats.org/drawingml/2006/main">
              <a:ext uri="{FF2B5EF4-FFF2-40B4-BE49-F238E27FC236}">
                <a16:creationId xmlns:a16="http://schemas.microsoft.com/office/drawing/2014/main" id="{28E62CA7-71CB-49CC-8190-3CA058DF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33623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元図とExcelを並べる</a:t>
            </a:r>
          </a:p>
        </p:txBody>
      </p:sp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9A1DF6B1-14AF-42CB-8BA9-15E53915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85975"/>
            <a:ext cx="69818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確認チェックリスト</a:t>
            </a:r>
          </a:p>
        </p:txBody>
      </p:sp>
      <p:sp>
        <p:nvSpPr>
          <p:cNvPr id="22" name="shape-20">
            <a:extLst xmlns:a="http://schemas.openxmlformats.org/drawingml/2006/main">
              <a:ext uri="{FF2B5EF4-FFF2-40B4-BE49-F238E27FC236}">
                <a16:creationId xmlns:a16="http://schemas.microsoft.com/office/drawing/2014/main" id="{4FD1ACF0-DF14-49CD-93D3-F9E9136C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9557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1A173"/>
            </a:solidFill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6FDE985F-04BC-46A1-866A-E8AC959D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71750"/>
            <a:ext cx="6610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設計速度N1・第4種道路の指定Z1が正しい</a:t>
            </a:r>
          </a:p>
        </p:txBody>
      </p:sp>
      <p:sp>
        <p:nvSpPr>
          <p:cNvPr id="24" name="shape-22">
            <a:extLst xmlns:a="http://schemas.openxmlformats.org/drawingml/2006/main">
              <a:ext uri="{FF2B5EF4-FFF2-40B4-BE49-F238E27FC236}">
                <a16:creationId xmlns:a16="http://schemas.microsoft.com/office/drawing/2014/main" id="{D5C386E9-9266-4AC3-A25D-A2C1FAE8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3850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1A173"/>
            </a:solidFill>
            <a:prstDash val="solid"/>
          </a:ln>
        </p:spPr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FC6BA1BA-68AB-45F7-9F5D-DD6B6381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14675"/>
            <a:ext cx="6610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半径・長さ・片勾配・縦断勾配を元図と照合した</a:t>
            </a:r>
          </a:p>
        </p:txBody>
      </p:sp>
      <p:sp>
        <p:nvSpPr>
          <p:cNvPr id="26" name="shape-24">
            <a:extLst xmlns:a="http://schemas.openxmlformats.org/drawingml/2006/main">
              <a:ext uri="{FF2B5EF4-FFF2-40B4-BE49-F238E27FC236}">
                <a16:creationId xmlns:a16="http://schemas.microsoft.com/office/drawing/2014/main" id="{F540DF42-332B-42F5-897A-9388D2CB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8142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1A173"/>
            </a:solidFill>
            <a:prstDash val="solid"/>
          </a:ln>
        </p:spPr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BB64E4A4-D2FA-4955-BA05-548C28AB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57600"/>
            <a:ext cx="6610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「-」を未対応と未取得に分けて確認した</a:t>
            </a:r>
          </a:p>
        </p:txBody>
      </p:sp>
      <p:sp>
        <p:nvSpPr>
          <p:cNvPr id="28" name="shape-26">
            <a:extLst xmlns:a="http://schemas.openxmlformats.org/drawingml/2006/main">
              <a:ext uri="{FF2B5EF4-FFF2-40B4-BE49-F238E27FC236}">
                <a16:creationId xmlns:a16="http://schemas.microsoft.com/office/drawing/2014/main" id="{6B9FF332-A2DD-455E-8599-798B3C91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2435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1A173"/>
            </a:solidFill>
            <a:prstDash val="solid"/>
          </a:ln>
        </p:spPr>
      </p:sp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42FFF541-AB2D-4FAF-984D-C5A7727D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00525"/>
            <a:ext cx="6610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複合曲線、負号付き勾配、2段縦断図を確認した</a:t>
            </a:r>
          </a:p>
        </p:txBody>
      </p:sp>
      <p:sp>
        <p:nvSpPr>
          <p:cNvPr id="30" name="shape-28">
            <a:extLst xmlns:a="http://schemas.openxmlformats.org/drawingml/2006/main">
              <a:ext uri="{FF2B5EF4-FFF2-40B4-BE49-F238E27FC236}">
                <a16:creationId xmlns:a16="http://schemas.microsoft.com/office/drawing/2014/main" id="{96CADFBB-A469-48EB-9104-0B7A2F22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6727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1A173"/>
            </a:solidFill>
            <a:prstDash val="solid"/>
          </a:ln>
        </p:spPr>
      </p:sp>
      <p:sp>
        <p:nvSpPr>
          <p:cNvPr id="31" name="text-29">
            <a:extLst xmlns:a="http://schemas.openxmlformats.org/drawingml/2006/main">
              <a:ext uri="{FF2B5EF4-FFF2-40B4-BE49-F238E27FC236}">
                <a16:creationId xmlns:a16="http://schemas.microsoft.com/office/drawing/2014/main" id="{CE4AE6FE-472E-42F4-9194-48CECA69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43450"/>
            <a:ext cx="6610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Excelを再計算し、OK/NGの根拠まで確認した</a:t>
            </a:r>
          </a:p>
        </p:txBody>
      </p:sp>
      <p:sp>
        <p:nvSpPr>
          <p:cNvPr id="32" name="shape-30">
            <a:extLst xmlns:a="http://schemas.openxmlformats.org/drawingml/2006/main">
              <a:ext uri="{FF2B5EF4-FFF2-40B4-BE49-F238E27FC236}">
                <a16:creationId xmlns:a16="http://schemas.microsoft.com/office/drawing/2014/main" id="{4DD48AC6-1C0E-439F-B4B7-C128F883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41020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1A173"/>
            </a:solidFill>
            <a:prstDash val="solid"/>
          </a:ln>
        </p:spPr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3C046B8A-0D77-4F4D-A968-5000F108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86375"/>
            <a:ext cx="6610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未取得項目を補い、適用基準と最終判断を記録した</a:t>
            </a:r>
          </a:p>
        </p:txBody>
      </p:sp>
    </p:spTree>
    <p:extLst>
      <p:ext uri="{BB962C8B-B14F-4D97-AF65-F5344CB8AC3E}">
        <p14:creationId xmlns:p14="http://schemas.microsoft.com/office/powerpoint/2010/main" val="10849364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2007AD7-C439-4B63-AC3A-9CA8978B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78407F0-185D-4471-80AF-A043631B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21  APPENDIX / INPUT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160043DD-F2EC-453A-AE83-7FAF9840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付録：読み取りに必要なDXFの条件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80EFA3A-FDE3-46FE-85C4-D7D516D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現在のcontroller.py設定。表記やレイヤーが異なる場合は、管理担当者へ確認します。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84DF4F3F-C1CB-4EA4-B97F-BD1CE5A7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863208D-CC0E-4EB9-9F31-C63F2009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EFA8D4B-19BD-4067-9808-AEFF45D4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出典：controller／README／前処理モジュール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AE1E4E8-63FA-40D6-9FBD-B9567855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21</a:t>
            </a:r>
          </a:p>
        </p:txBody>
      </p:sp>
      <p:sp>
        <p:nvSpPr>
          <p:cNvPr id="9" name="shape-7">
            <a:extLst xmlns:a="http://schemas.openxmlformats.org/drawingml/2006/main">
              <a:ext uri="{FF2B5EF4-FFF2-40B4-BE49-F238E27FC236}">
                <a16:creationId xmlns:a16="http://schemas.microsoft.com/office/drawing/2014/main" id="{BAAEB7B0-7EF7-438B-810B-E43662BD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972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3FA8EDD6-28E5-4BAE-BE75-9CB32ACC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2514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区分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34D0D0FF-C18B-4A61-9237-7B7B59D6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43125"/>
            <a:ext cx="8001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現在の仕様・表記</a:t>
            </a:r>
          </a:p>
        </p:txBody>
      </p:sp>
      <p:sp>
        <p:nvSpPr>
          <p:cNvPr id="12" name="shape-10">
            <a:extLst xmlns:a="http://schemas.openxmlformats.org/drawingml/2006/main">
              <a:ext uri="{FF2B5EF4-FFF2-40B4-BE49-F238E27FC236}">
                <a16:creationId xmlns:a16="http://schemas.microsoft.com/office/drawing/2014/main" id="{8403EC19-AE0C-4D48-9667-67640A12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39D2DCF6-EE1E-45AB-9D3C-CA884F71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2514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空間・要素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95B34F60-B38C-489D-90B6-BCF2712C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09850"/>
            <a:ext cx="8001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モデル空間：TEXT、LINE（MTEXT / LWPOLYLINEは前処理）</a:t>
            </a:r>
          </a:p>
        </p:txBody>
      </p:sp>
      <p:sp>
        <p:nvSpPr>
          <p:cNvPr id="15" name="shape-13">
            <a:extLst xmlns:a="http://schemas.openxmlformats.org/drawingml/2006/main">
              <a:ext uri="{FF2B5EF4-FFF2-40B4-BE49-F238E27FC236}">
                <a16:creationId xmlns:a16="http://schemas.microsoft.com/office/drawing/2014/main" id="{2D2C59A0-1DB2-4028-9169-72F45229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ape-14">
            <a:extLst xmlns:a="http://schemas.openxmlformats.org/drawingml/2006/main">
              <a:ext uri="{FF2B5EF4-FFF2-40B4-BE49-F238E27FC236}">
                <a16:creationId xmlns:a16="http://schemas.microsoft.com/office/drawing/2014/main" id="{6CA22BF6-4435-4FF8-9BFF-D9D998B3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7064821C-B827-4B1A-B4EE-6D72D2AC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2514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帯文字レイヤー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C9BC5026-29A1-466E-BE54-B33A704F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76575"/>
            <a:ext cx="8001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D-TTL-BAND</a:t>
            </a:r>
          </a:p>
        </p:txBody>
      </p:sp>
      <p:sp>
        <p:nvSpPr>
          <p:cNvPr id="19" name="shape-17">
            <a:extLst xmlns:a="http://schemas.openxmlformats.org/drawingml/2006/main">
              <a:ext uri="{FF2B5EF4-FFF2-40B4-BE49-F238E27FC236}">
                <a16:creationId xmlns:a16="http://schemas.microsoft.com/office/drawing/2014/main" id="{0D618B22-B89E-4A5A-95E0-04B60C99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8">
            <a:extLst xmlns:a="http://schemas.openxmlformats.org/drawingml/2006/main">
              <a:ext uri="{FF2B5EF4-FFF2-40B4-BE49-F238E27FC236}">
                <a16:creationId xmlns:a16="http://schemas.microsoft.com/office/drawing/2014/main" id="{4ACCAC20-5FC6-4F9F-B079-E147C8DE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514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縦断曲線レイヤー</a:t>
            </a:r>
          </a:p>
        </p:txBody>
      </p:sp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3F2D0225-15A8-4A4C-A2AC-7119E889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43300"/>
            <a:ext cx="8001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D-STR-DIM ／ D-STR-HTXT</a:t>
            </a:r>
          </a:p>
        </p:txBody>
      </p:sp>
      <p:sp>
        <p:nvSpPr>
          <p:cNvPr id="22" name="shape-20">
            <a:extLst xmlns:a="http://schemas.openxmlformats.org/drawingml/2006/main">
              <a:ext uri="{FF2B5EF4-FFF2-40B4-BE49-F238E27FC236}">
                <a16:creationId xmlns:a16="http://schemas.microsoft.com/office/drawing/2014/main" id="{D62EF331-52E0-45DF-AF89-2E3B9542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72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21">
            <a:extLst xmlns:a="http://schemas.openxmlformats.org/drawingml/2006/main">
              <a:ext uri="{FF2B5EF4-FFF2-40B4-BE49-F238E27FC236}">
                <a16:creationId xmlns:a16="http://schemas.microsoft.com/office/drawing/2014/main" id="{49147709-9BC1-4665-8C07-68A8E8D1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266F502D-8507-4516-893D-076DD375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2514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曲率帯タイトル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288502C9-FE62-4C07-9339-366BCD1A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10025"/>
            <a:ext cx="8001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曲率・曲線・曲率図・曲線図・曲率方向・曲線方向</a:t>
            </a:r>
          </a:p>
        </p:txBody>
      </p:sp>
      <p:sp>
        <p:nvSpPr>
          <p:cNvPr id="26" name="shape-24">
            <a:extLst xmlns:a="http://schemas.openxmlformats.org/drawingml/2006/main">
              <a:ext uri="{FF2B5EF4-FFF2-40B4-BE49-F238E27FC236}">
                <a16:creationId xmlns:a16="http://schemas.microsoft.com/office/drawing/2014/main" id="{9023661B-541F-4B6C-A454-F92D73ED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E0DB1A76-7CF7-4A1A-AF9B-8AC91D5E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514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片勾配／勾配タイトル</a:t>
            </a:r>
          </a:p>
        </p:txBody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4082E4D8-5C6F-4155-B745-16C3EBB1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76750"/>
            <a:ext cx="8001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片勾配すり付け図・片勾配すり付図・片勾配 ／ 勾配</a:t>
            </a:r>
          </a:p>
        </p:txBody>
      </p:sp>
      <p:sp>
        <p:nvSpPr>
          <p:cNvPr id="29" name="shape-27">
            <a:extLst xmlns:a="http://schemas.openxmlformats.org/drawingml/2006/main">
              <a:ext uri="{FF2B5EF4-FFF2-40B4-BE49-F238E27FC236}">
                <a16:creationId xmlns:a16="http://schemas.microsoft.com/office/drawing/2014/main" id="{CC5F9A0B-A745-4033-8D05-8EF39AF9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hape-28">
            <a:extLst xmlns:a="http://schemas.openxmlformats.org/drawingml/2006/main">
              <a:ext uri="{FF2B5EF4-FFF2-40B4-BE49-F238E27FC236}">
                <a16:creationId xmlns:a16="http://schemas.microsoft.com/office/drawing/2014/main" id="{ADBD40DB-638A-41FF-A67B-D7AC0187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29">
            <a:extLst xmlns:a="http://schemas.openxmlformats.org/drawingml/2006/main">
              <a:ext uri="{FF2B5EF4-FFF2-40B4-BE49-F238E27FC236}">
                <a16:creationId xmlns:a16="http://schemas.microsoft.com/office/drawing/2014/main" id="{0C8EE1C6-4773-4305-93B3-4774D223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2514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数値の主な表記</a:t>
            </a:r>
          </a:p>
        </p:txBody>
      </p:sp>
      <p:sp>
        <p:nvSpPr>
          <p:cNvPr id="32" name="text-30">
            <a:extLst xmlns:a="http://schemas.openxmlformats.org/drawingml/2006/main">
              <a:ext uri="{FF2B5EF4-FFF2-40B4-BE49-F238E27FC236}">
                <a16:creationId xmlns:a16="http://schemas.microsoft.com/office/drawing/2014/main" id="{CA4529B7-A18C-41A7-B151-024E459B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43475"/>
            <a:ext cx="8001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R=、A=、L= / L1= / LC= / L2=、a/b、i= / I=</a:t>
            </a:r>
          </a:p>
        </p:txBody>
      </p:sp>
      <p:sp>
        <p:nvSpPr>
          <p:cNvPr id="33" name="shape-31">
            <a:extLst xmlns:a="http://schemas.openxmlformats.org/drawingml/2006/main">
              <a:ext uri="{FF2B5EF4-FFF2-40B4-BE49-F238E27FC236}">
                <a16:creationId xmlns:a16="http://schemas.microsoft.com/office/drawing/2014/main" id="{D07FA936-1A84-42CE-A8FB-3CF963FA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32">
            <a:extLst xmlns:a="http://schemas.openxmlformats.org/drawingml/2006/main">
              <a:ext uri="{FF2B5EF4-FFF2-40B4-BE49-F238E27FC236}">
                <a16:creationId xmlns:a16="http://schemas.microsoft.com/office/drawing/2014/main" id="{8892965E-3DD3-4902-B0B1-072980F0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2514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縦断曲線の表記</a:t>
            </a:r>
          </a:p>
        </p:txBody>
      </p:sp>
      <p:sp>
        <p:nvSpPr>
          <p:cNvPr id="35" name="text-33">
            <a:extLst xmlns:a="http://schemas.openxmlformats.org/drawingml/2006/main">
              <a:ext uri="{FF2B5EF4-FFF2-40B4-BE49-F238E27FC236}">
                <a16:creationId xmlns:a16="http://schemas.microsoft.com/office/drawing/2014/main" id="{FD1C7A17-CDB9-4BBE-AB84-5D55849A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410200"/>
            <a:ext cx="8001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半径：VCR= または R= ／ 長さ：VCL=</a:t>
            </a:r>
          </a:p>
        </p:txBody>
      </p:sp>
      <p:sp>
        <p:nvSpPr>
          <p:cNvPr id="36" name="shape-34">
            <a:extLst xmlns:a="http://schemas.openxmlformats.org/drawingml/2006/main">
              <a:ext uri="{FF2B5EF4-FFF2-40B4-BE49-F238E27FC236}">
                <a16:creationId xmlns:a16="http://schemas.microsoft.com/office/drawing/2014/main" id="{B0C62D45-A78D-4C1D-8649-751481C4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35">
            <a:extLst xmlns:a="http://schemas.openxmlformats.org/drawingml/2006/main">
              <a:ext uri="{FF2B5EF4-FFF2-40B4-BE49-F238E27FC236}">
                <a16:creationId xmlns:a16="http://schemas.microsoft.com/office/drawing/2014/main" id="{0EAD96FA-876E-4619-83A9-1186B0C4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INSERT内部の展開、画像文字、旧POLYLINEの分解は確認できない。LWPOLYLINEは頂点を直線化</a:t>
            </a:r>
          </a:p>
        </p:txBody>
      </p:sp>
    </p:spTree>
    <p:extLst>
      <p:ext uri="{BB962C8B-B14F-4D97-AF65-F5344CB8AC3E}">
        <p14:creationId xmlns:p14="http://schemas.microsoft.com/office/powerpoint/2010/main" val="8044374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32625A7-39E1-41C8-B9C6-A31E909A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BCCCC2-0A97-421E-8A00-00A8A0DD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22  APPENDIX / MAPPING 1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D7351515-536D-4152-90AE-BABC28C3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付録：15欄の取得元と採用規則 ①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21BC112-93EC-400F-9C75-4FC5D09A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B1〜B8。「使用値」シートへ入る値の一覧です。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AF1996E1-7547-4200-A48C-49822D9E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2E72640-65CD-4995-A80D-C2A2FA15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D7852FF-F088-4E93-AA7D-548A44CE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出典：メイン L518–532／各抽出モジュール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1894A96-6FD4-43A7-AC87-380E7B6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22</a:t>
            </a:r>
          </a:p>
        </p:txBody>
      </p:sp>
      <p:sp>
        <p:nvSpPr>
          <p:cNvPr id="9" name="shape-7">
            <a:extLst xmlns:a="http://schemas.openxmlformats.org/drawingml/2006/main">
              <a:ext uri="{FF2B5EF4-FFF2-40B4-BE49-F238E27FC236}">
                <a16:creationId xmlns:a16="http://schemas.microsoft.com/office/drawing/2014/main" id="{32C825F6-42B9-4650-A6E7-8A652148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0972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B10F4BAB-739C-4CE4-96C4-49175E26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4953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セル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0E99933E-2D87-4D64-AB2B-7819469A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05025"/>
            <a:ext cx="39624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帳票項目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D710140B-3AD3-4F2C-86A9-547DB6E1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05025"/>
            <a:ext cx="4476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取得元・採用規則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71C86046-C5B4-442F-B71F-834EB898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05025"/>
            <a:ext cx="11239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状態</a:t>
            </a:r>
          </a:p>
        </p:txBody>
      </p:sp>
      <p:sp>
        <p:nvSpPr>
          <p:cNvPr id="14" name="shape-12">
            <a:extLst xmlns:a="http://schemas.openxmlformats.org/drawingml/2006/main">
              <a:ext uri="{FF2B5EF4-FFF2-40B4-BE49-F238E27FC236}">
                <a16:creationId xmlns:a16="http://schemas.microsoft.com/office/drawing/2014/main" id="{5712543B-801A-4842-A2C4-9334C402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B5D0581B-13F6-42DE-BE6E-2BB84BE4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953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B1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169F01EB-2966-4ED2-8E88-CF79CE0F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39624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最小曲線半径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95BD6910-52FE-4F41-939F-68D7B09A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52700"/>
            <a:ext cx="4476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対応付け後のRの最小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2B8F4E7B-5E83-4E55-BC6F-9785CEE8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52700"/>
            <a:ext cx="11239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19" name="shape-17">
            <a:extLst xmlns:a="http://schemas.openxmlformats.org/drawingml/2006/main">
              <a:ext uri="{FF2B5EF4-FFF2-40B4-BE49-F238E27FC236}">
                <a16:creationId xmlns:a16="http://schemas.microsoft.com/office/drawing/2014/main" id="{EEDC5CB9-1E2A-4537-A75E-7BE5EDA6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0972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hape-18">
            <a:extLst xmlns:a="http://schemas.openxmlformats.org/drawingml/2006/main">
              <a:ext uri="{FF2B5EF4-FFF2-40B4-BE49-F238E27FC236}">
                <a16:creationId xmlns:a16="http://schemas.microsoft.com/office/drawing/2014/main" id="{9DBB030F-7FA4-46D3-B22E-E2353C89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32D17B08-AED7-481A-9684-A853A3DC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4953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B2</a:t>
            </a:r>
          </a:p>
        </p:txBody>
      </p:sp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DE212458-55DF-414A-96BB-EC7C6428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0375"/>
            <a:ext cx="39624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最小緩和曲線長</a:t>
            </a:r>
          </a:p>
        </p:txBody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B1755879-0CBE-4B67-AA72-2CB0D58D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00375"/>
            <a:ext cx="4476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Aに対応するLの最小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738C1B5D-56E3-4A5B-8134-3438FBC0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00375"/>
            <a:ext cx="11239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25" name="shape-23">
            <a:extLst xmlns:a="http://schemas.openxmlformats.org/drawingml/2006/main">
              <a:ext uri="{FF2B5EF4-FFF2-40B4-BE49-F238E27FC236}">
                <a16:creationId xmlns:a16="http://schemas.microsoft.com/office/drawing/2014/main" id="{581B84FF-A278-4FE1-99AA-A94F3476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18084E1E-B274-4723-A9F7-3DFE9A45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4953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B3</a:t>
            </a:r>
          </a:p>
        </p:txBody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4F88DA5A-EB2D-4DEC-907E-571313F7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48050"/>
            <a:ext cx="39624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緩和曲線を省略出来る曲線半径</a:t>
            </a:r>
          </a:p>
        </p:txBody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01CD7BFA-AF04-4B6C-8112-5D57C8C4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48050"/>
            <a:ext cx="4476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直前・直後の非R位置にAがないRの最小</a:t>
            </a:r>
          </a:p>
        </p:txBody>
      </p:sp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648687EB-342E-424A-A34A-13351A5F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448050"/>
            <a:ext cx="11239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30" name="shape-28">
            <a:extLst xmlns:a="http://schemas.openxmlformats.org/drawingml/2006/main">
              <a:ext uri="{FF2B5EF4-FFF2-40B4-BE49-F238E27FC236}">
                <a16:creationId xmlns:a16="http://schemas.microsoft.com/office/drawing/2014/main" id="{33E84FB5-77D5-45E8-8AA3-643719D8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0972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hape-29">
            <a:extLst xmlns:a="http://schemas.openxmlformats.org/drawingml/2006/main">
              <a:ext uri="{FF2B5EF4-FFF2-40B4-BE49-F238E27FC236}">
                <a16:creationId xmlns:a16="http://schemas.microsoft.com/office/drawing/2014/main" id="{97046C8E-D6DA-4345-A858-80647951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30">
            <a:extLst xmlns:a="http://schemas.openxmlformats.org/drawingml/2006/main">
              <a:ext uri="{FF2B5EF4-FFF2-40B4-BE49-F238E27FC236}">
                <a16:creationId xmlns:a16="http://schemas.microsoft.com/office/drawing/2014/main" id="{98313415-41FD-4823-97BF-1B1C7B6C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95725"/>
            <a:ext cx="4953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B4</a:t>
            </a:r>
          </a:p>
        </p:txBody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4EA2360D-1559-4049-9DF4-4434A850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95725"/>
            <a:ext cx="39624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最小曲線長（80km/h未満）</a:t>
            </a:r>
          </a:p>
        </p:txBody>
      </p:sp>
      <p:sp>
        <p:nvSpPr>
          <p:cNvPr id="34" name="text-32">
            <a:extLst xmlns:a="http://schemas.openxmlformats.org/drawingml/2006/main">
              <a:ext uri="{FF2B5EF4-FFF2-40B4-BE49-F238E27FC236}">
                <a16:creationId xmlns:a16="http://schemas.microsoft.com/office/drawing/2014/main" id="{51736F09-4084-4823-AEE8-D89E712E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95725"/>
            <a:ext cx="4476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R比2の条件などで候補を作り最小</a:t>
            </a:r>
          </a:p>
        </p:txBody>
      </p:sp>
      <p:sp>
        <p:nvSpPr>
          <p:cNvPr id="35" name="text-33">
            <a:extLst xmlns:a="http://schemas.openxmlformats.org/drawingml/2006/main">
              <a:ext uri="{FF2B5EF4-FFF2-40B4-BE49-F238E27FC236}">
                <a16:creationId xmlns:a16="http://schemas.microsoft.com/office/drawing/2014/main" id="{E4E06BB1-E4F6-456F-B9FE-D68DFABA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895725"/>
            <a:ext cx="11239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36" name="shape-34">
            <a:extLst xmlns:a="http://schemas.openxmlformats.org/drawingml/2006/main">
              <a:ext uri="{FF2B5EF4-FFF2-40B4-BE49-F238E27FC236}">
                <a16:creationId xmlns:a16="http://schemas.microsoft.com/office/drawing/2014/main" id="{30CEE173-722E-4200-A33D-4063215D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35">
            <a:extLst xmlns:a="http://schemas.openxmlformats.org/drawingml/2006/main">
              <a:ext uri="{FF2B5EF4-FFF2-40B4-BE49-F238E27FC236}">
                <a16:creationId xmlns:a16="http://schemas.microsoft.com/office/drawing/2014/main" id="{916CD7B8-82EF-4011-B4E9-A9C987B1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4953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B5</a:t>
            </a:r>
          </a:p>
        </p:txBody>
      </p:sp>
      <p:sp>
        <p:nvSpPr>
          <p:cNvPr id="38" name="text-36">
            <a:extLst xmlns:a="http://schemas.openxmlformats.org/drawingml/2006/main">
              <a:ext uri="{FF2B5EF4-FFF2-40B4-BE49-F238E27FC236}">
                <a16:creationId xmlns:a16="http://schemas.microsoft.com/office/drawing/2014/main" id="{0068C21F-B1B3-45B5-AE2E-89FCDE3B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39624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最小曲線長（80km/h以上）</a:t>
            </a:r>
          </a:p>
        </p:txBody>
      </p:sp>
      <p:sp>
        <p:nvSpPr>
          <p:cNvPr id="39" name="text-37">
            <a:extLst xmlns:a="http://schemas.openxmlformats.org/drawingml/2006/main">
              <a:ext uri="{FF2B5EF4-FFF2-40B4-BE49-F238E27FC236}">
                <a16:creationId xmlns:a16="http://schemas.microsoft.com/office/drawing/2014/main" id="{53BA72D4-6419-434C-A95B-F915661F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43400"/>
            <a:ext cx="4476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R比1.5の条件などで候補を作り最小</a:t>
            </a:r>
          </a:p>
        </p:txBody>
      </p:sp>
      <p:sp>
        <p:nvSpPr>
          <p:cNvPr id="40" name="text-38">
            <a:extLst xmlns:a="http://schemas.openxmlformats.org/drawingml/2006/main">
              <a:ext uri="{FF2B5EF4-FFF2-40B4-BE49-F238E27FC236}">
                <a16:creationId xmlns:a16="http://schemas.microsoft.com/office/drawing/2014/main" id="{6D17E0B0-0F9F-43F2-A2F8-677B4511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343400"/>
            <a:ext cx="11239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41" name="shape-39">
            <a:extLst xmlns:a="http://schemas.openxmlformats.org/drawingml/2006/main">
              <a:ext uri="{FF2B5EF4-FFF2-40B4-BE49-F238E27FC236}">
                <a16:creationId xmlns:a16="http://schemas.microsoft.com/office/drawing/2014/main" id="{D2CBB854-9892-45DA-81A2-396F99C5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hape-40">
            <a:extLst xmlns:a="http://schemas.openxmlformats.org/drawingml/2006/main">
              <a:ext uri="{FF2B5EF4-FFF2-40B4-BE49-F238E27FC236}">
                <a16:creationId xmlns:a16="http://schemas.microsoft.com/office/drawing/2014/main" id="{39391B00-70C9-4157-ADB5-781CA636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41">
            <a:extLst xmlns:a="http://schemas.openxmlformats.org/drawingml/2006/main">
              <a:ext uri="{FF2B5EF4-FFF2-40B4-BE49-F238E27FC236}">
                <a16:creationId xmlns:a16="http://schemas.microsoft.com/office/drawing/2014/main" id="{1EF6C20A-374A-4B2F-9D6F-EA2FA034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4953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B6</a:t>
            </a:r>
          </a:p>
        </p:txBody>
      </p:sp>
      <p:sp>
        <p:nvSpPr>
          <p:cNvPr id="44" name="text-42">
            <a:extLst xmlns:a="http://schemas.openxmlformats.org/drawingml/2006/main">
              <a:ext uri="{FF2B5EF4-FFF2-40B4-BE49-F238E27FC236}">
                <a16:creationId xmlns:a16="http://schemas.microsoft.com/office/drawing/2014/main" id="{2A97381B-47CD-4271-A4CE-4665A62E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91075"/>
            <a:ext cx="39624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片勾配打切半径</a:t>
            </a:r>
          </a:p>
        </p:txBody>
      </p:sp>
      <p:sp>
        <p:nvSpPr>
          <p:cNvPr id="45" name="text-43">
            <a:extLst xmlns:a="http://schemas.openxmlformats.org/drawingml/2006/main">
              <a:ext uri="{FF2B5EF4-FFF2-40B4-BE49-F238E27FC236}">
                <a16:creationId xmlns:a16="http://schemas.microsoft.com/office/drawing/2014/main" id="{B51AFA3E-21AF-493B-B311-0BEE0D03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91075"/>
            <a:ext cx="4476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取得処理なし</a:t>
            </a:r>
          </a:p>
        </p:txBody>
      </p:sp>
      <p:sp>
        <p:nvSpPr>
          <p:cNvPr id="46" name="text-44">
            <a:extLst xmlns:a="http://schemas.openxmlformats.org/drawingml/2006/main">
              <a:ext uri="{FF2B5EF4-FFF2-40B4-BE49-F238E27FC236}">
                <a16:creationId xmlns:a16="http://schemas.microsoft.com/office/drawing/2014/main" id="{DE30AFFC-3970-495E-BCA0-45EAAEB8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791075"/>
            <a:ext cx="11239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「-」固定</a:t>
            </a:r>
          </a:p>
        </p:txBody>
      </p:sp>
      <p:sp>
        <p:nvSpPr>
          <p:cNvPr id="47" name="shape-45">
            <a:extLst xmlns:a="http://schemas.openxmlformats.org/drawingml/2006/main">
              <a:ext uri="{FF2B5EF4-FFF2-40B4-BE49-F238E27FC236}">
                <a16:creationId xmlns:a16="http://schemas.microsoft.com/office/drawing/2014/main" id="{CFDCFBA8-FD34-4A49-9F75-F46DE975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ext-46">
            <a:extLst xmlns:a="http://schemas.openxmlformats.org/drawingml/2006/main">
              <a:ext uri="{FF2B5EF4-FFF2-40B4-BE49-F238E27FC236}">
                <a16:creationId xmlns:a16="http://schemas.microsoft.com/office/drawing/2014/main" id="{C3ED76E8-D416-4CC2-ADD4-B1877098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4953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B7</a:t>
            </a:r>
          </a:p>
        </p:txBody>
      </p:sp>
      <p:sp>
        <p:nvSpPr>
          <p:cNvPr id="49" name="text-47">
            <a:extLst xmlns:a="http://schemas.openxmlformats.org/drawingml/2006/main">
              <a:ext uri="{FF2B5EF4-FFF2-40B4-BE49-F238E27FC236}">
                <a16:creationId xmlns:a16="http://schemas.microsoft.com/office/drawing/2014/main" id="{D1B3F042-80BC-44D7-A53A-F9359B1A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38750"/>
            <a:ext cx="39624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片勾配摺付率</a:t>
            </a:r>
          </a:p>
        </p:txBody>
      </p:sp>
      <p:sp>
        <p:nvSpPr>
          <p:cNvPr id="50" name="text-48">
            <a:extLst xmlns:a="http://schemas.openxmlformats.org/drawingml/2006/main">
              <a:ext uri="{FF2B5EF4-FFF2-40B4-BE49-F238E27FC236}">
                <a16:creationId xmlns:a16="http://schemas.microsoft.com/office/drawing/2014/main" id="{1E30262A-AA07-42E9-89DF-F55D9837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38750"/>
            <a:ext cx="4476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帯内の分数を数値比較し最大</a:t>
            </a:r>
          </a:p>
        </p:txBody>
      </p:sp>
      <p:sp>
        <p:nvSpPr>
          <p:cNvPr id="51" name="text-49">
            <a:extLst xmlns:a="http://schemas.openxmlformats.org/drawingml/2006/main">
              <a:ext uri="{FF2B5EF4-FFF2-40B4-BE49-F238E27FC236}">
                <a16:creationId xmlns:a16="http://schemas.microsoft.com/office/drawing/2014/main" id="{00277618-DBA9-44C3-A60D-D3888507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238750"/>
            <a:ext cx="11239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52" name="shape-50">
            <a:extLst xmlns:a="http://schemas.openxmlformats.org/drawingml/2006/main">
              <a:ext uri="{FF2B5EF4-FFF2-40B4-BE49-F238E27FC236}">
                <a16:creationId xmlns:a16="http://schemas.microsoft.com/office/drawing/2014/main" id="{F3DF58A7-72D2-4A49-A4A7-A5E3971D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hape-51">
            <a:extLst xmlns:a="http://schemas.openxmlformats.org/drawingml/2006/main">
              <a:ext uri="{FF2B5EF4-FFF2-40B4-BE49-F238E27FC236}">
                <a16:creationId xmlns:a16="http://schemas.microsoft.com/office/drawing/2014/main" id="{E66CD644-4ABD-4621-BA48-C8476476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ext-52">
            <a:extLst xmlns:a="http://schemas.openxmlformats.org/drawingml/2006/main">
              <a:ext uri="{FF2B5EF4-FFF2-40B4-BE49-F238E27FC236}">
                <a16:creationId xmlns:a16="http://schemas.microsoft.com/office/drawing/2014/main" id="{E549FC0A-9534-41F7-BCAE-9BC9C1A0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4953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B8</a:t>
            </a:r>
          </a:p>
        </p:txBody>
      </p:sp>
      <p:sp>
        <p:nvSpPr>
          <p:cNvPr id="55" name="text-53">
            <a:extLst xmlns:a="http://schemas.openxmlformats.org/drawingml/2006/main">
              <a:ext uri="{FF2B5EF4-FFF2-40B4-BE49-F238E27FC236}">
                <a16:creationId xmlns:a16="http://schemas.microsoft.com/office/drawing/2014/main" id="{CDAC0B32-FD99-4588-BB7A-07B3EEF1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86425"/>
            <a:ext cx="39624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最急縦断勾配</a:t>
            </a:r>
          </a:p>
        </p:txBody>
      </p:sp>
      <p:sp>
        <p:nvSpPr>
          <p:cNvPr id="56" name="text-54">
            <a:extLst xmlns:a="http://schemas.openxmlformats.org/drawingml/2006/main">
              <a:ext uri="{FF2B5EF4-FFF2-40B4-BE49-F238E27FC236}">
                <a16:creationId xmlns:a16="http://schemas.microsoft.com/office/drawing/2014/main" id="{F3C60314-15F7-4F53-8AE9-72DEC311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686425"/>
            <a:ext cx="4476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i=/I=を数値化し符号付き最大</a:t>
            </a:r>
          </a:p>
        </p:txBody>
      </p:sp>
      <p:sp>
        <p:nvSpPr>
          <p:cNvPr id="57" name="text-55">
            <a:extLst xmlns:a="http://schemas.openxmlformats.org/drawingml/2006/main">
              <a:ext uri="{FF2B5EF4-FFF2-40B4-BE49-F238E27FC236}">
                <a16:creationId xmlns:a16="http://schemas.microsoft.com/office/drawing/2014/main" id="{29325F7A-02E1-4954-9321-4098E3A8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686425"/>
            <a:ext cx="11239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58" name="text-56">
            <a:extLst xmlns:a="http://schemas.openxmlformats.org/drawingml/2006/main">
              <a:ext uri="{FF2B5EF4-FFF2-40B4-BE49-F238E27FC236}">
                <a16:creationId xmlns:a16="http://schemas.microsoft.com/office/drawing/2014/main" id="{73BA58FF-29D4-40E7-9940-8D00887C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抽出欄にも「-」が入る場合があります。B4・B5の複合曲線に関する制約は18ページ参照。</a:t>
            </a:r>
          </a:p>
        </p:txBody>
      </p:sp>
    </p:spTree>
    <p:extLst>
      <p:ext uri="{BB962C8B-B14F-4D97-AF65-F5344CB8AC3E}">
        <p14:creationId xmlns:p14="http://schemas.microsoft.com/office/powerpoint/2010/main" val="8319571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D7AC3DC-31F5-4817-94D2-BCD54008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ADC66AB-30F2-4948-BA4B-F412F575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23  APPENDIX / MAPPING 2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B415AE99-7049-4D42-92A9-F9671203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付録：15欄の取得元と採用規則 ②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7310054-58F5-4CBE-BCE0-5D65998E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B9〜B15。固定の「-」は、今回の実装で値を取得しない欄です。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D52A169A-15FF-44D9-9AEA-4BD4AE9E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980E9A4-BC3B-4192-84BF-3F800D00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051A19D7-3CD7-485D-B217-36B347EB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出典：メイン L494–532／get_vertical_curve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C4F4562-C75C-4244-B81B-A227E431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23</a:t>
            </a:r>
          </a:p>
        </p:txBody>
      </p:sp>
      <p:sp>
        <p:nvSpPr>
          <p:cNvPr id="9" name="shape-7">
            <a:extLst xmlns:a="http://schemas.openxmlformats.org/drawingml/2006/main">
              <a:ext uri="{FF2B5EF4-FFF2-40B4-BE49-F238E27FC236}">
                <a16:creationId xmlns:a16="http://schemas.microsoft.com/office/drawing/2014/main" id="{81EBABC5-4C89-4F99-94D1-DACD3E0A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7D0711C0-8AEF-42F6-B59D-79B13859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セル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EFB1A914-2AB3-4768-A888-01B202D5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62175"/>
            <a:ext cx="396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帳票項目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67E99AF0-D321-480C-B195-FB81F0D5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62175"/>
            <a:ext cx="4476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取得元・採用規則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E7EF3825-7FE6-4BD6-80F2-4F53008D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62175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状態</a:t>
            </a:r>
          </a:p>
        </p:txBody>
      </p:sp>
      <p:sp>
        <p:nvSpPr>
          <p:cNvPr id="14" name="shape-12">
            <a:extLst xmlns:a="http://schemas.openxmlformats.org/drawingml/2006/main">
              <a:ext uri="{FF2B5EF4-FFF2-40B4-BE49-F238E27FC236}">
                <a16:creationId xmlns:a16="http://schemas.microsoft.com/office/drawing/2014/main" id="{8E2E3919-02E4-400E-A9B1-44A2F7F0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B72A9F0B-AEC7-4AAF-94AB-DDD8AD61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B9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98CA2A95-7C65-4CFB-BB6F-D7B9E827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38425"/>
            <a:ext cx="396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特例縦断勾配の制限長（%）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DE872427-879A-4C23-9212-6FE1005F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38425"/>
            <a:ext cx="4476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取得処理なし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57E6F367-4EF3-49B4-B908-B00E0E0D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38425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「-」固定</a:t>
            </a:r>
          </a:p>
        </p:txBody>
      </p:sp>
      <p:sp>
        <p:nvSpPr>
          <p:cNvPr id="19" name="shape-17">
            <a:extLst xmlns:a="http://schemas.openxmlformats.org/drawingml/2006/main">
              <a:ext uri="{FF2B5EF4-FFF2-40B4-BE49-F238E27FC236}">
                <a16:creationId xmlns:a16="http://schemas.microsoft.com/office/drawing/2014/main" id="{FA1DBD54-2113-44E2-A419-2EE08B1C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hape-18">
            <a:extLst xmlns:a="http://schemas.openxmlformats.org/drawingml/2006/main">
              <a:ext uri="{FF2B5EF4-FFF2-40B4-BE49-F238E27FC236}">
                <a16:creationId xmlns:a16="http://schemas.microsoft.com/office/drawing/2014/main" id="{BF584FBB-541E-40B6-815B-71E3BCE7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7EE6FE7D-EE11-41DA-B805-C403BDC5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B10</a:t>
            </a:r>
          </a:p>
        </p:txBody>
      </p:sp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9D5EC18C-2F47-479E-8B16-F4E3B6FF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14675"/>
            <a:ext cx="396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特例縦断勾配の制限長（m）</a:t>
            </a:r>
          </a:p>
        </p:txBody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73F20758-3593-4CC5-897A-712CFFFC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14675"/>
            <a:ext cx="4476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取得処理なし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BF26F0CD-DC10-4F6C-91B8-68000D69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14675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「-」固定</a:t>
            </a:r>
          </a:p>
        </p:txBody>
      </p:sp>
      <p:sp>
        <p:nvSpPr>
          <p:cNvPr id="25" name="shape-23">
            <a:extLst xmlns:a="http://schemas.openxmlformats.org/drawingml/2006/main">
              <a:ext uri="{FF2B5EF4-FFF2-40B4-BE49-F238E27FC236}">
                <a16:creationId xmlns:a16="http://schemas.microsoft.com/office/drawing/2014/main" id="{D72C03EA-1A48-4F24-A732-E2CD20B5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765B8E6A-C7CF-44DC-93C6-7B01DA80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B11</a:t>
            </a:r>
          </a:p>
        </p:txBody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05D013E0-E55E-442E-BC27-B139C4C2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90925"/>
            <a:ext cx="396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縦断曲線半径（凸曲線）</a:t>
            </a:r>
          </a:p>
        </p:txBody>
      </p:sp>
      <p:sp>
        <p:nvSpPr>
          <p:cNvPr id="28" name="text-26">
            <a:extLst xmlns:a="http://schemas.openxmlformats.org/drawingml/2006/main">
              <a:ext uri="{FF2B5EF4-FFF2-40B4-BE49-F238E27FC236}">
                <a16:creationId xmlns:a16="http://schemas.microsoft.com/office/drawing/2014/main" id="{7B33CC77-3C48-485E-8356-25274431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90925"/>
            <a:ext cx="4476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左右勾配で凸に分類した半径の最小</a:t>
            </a:r>
          </a:p>
        </p:txBody>
      </p:sp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388F3EDD-740F-4E49-87B7-5C9009C4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590925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30" name="shape-28">
            <a:extLst xmlns:a="http://schemas.openxmlformats.org/drawingml/2006/main">
              <a:ext uri="{FF2B5EF4-FFF2-40B4-BE49-F238E27FC236}">
                <a16:creationId xmlns:a16="http://schemas.microsoft.com/office/drawing/2014/main" id="{689FB623-8393-4309-B1CA-7839A4D6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hape-29">
            <a:extLst xmlns:a="http://schemas.openxmlformats.org/drawingml/2006/main">
              <a:ext uri="{FF2B5EF4-FFF2-40B4-BE49-F238E27FC236}">
                <a16:creationId xmlns:a16="http://schemas.microsoft.com/office/drawing/2014/main" id="{1BF17C31-385F-43CA-99EF-AB3E31C9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30">
            <a:extLst xmlns:a="http://schemas.openxmlformats.org/drawingml/2006/main">
              <a:ext uri="{FF2B5EF4-FFF2-40B4-BE49-F238E27FC236}">
                <a16:creationId xmlns:a16="http://schemas.microsoft.com/office/drawing/2014/main" id="{57C0FF2E-0EEC-4199-BCF7-E772CCFD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B12</a:t>
            </a:r>
          </a:p>
        </p:txBody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614494EF-631C-444A-B87E-B355EE8B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67175"/>
            <a:ext cx="396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縦断曲線半径（凹曲線）</a:t>
            </a:r>
          </a:p>
        </p:txBody>
      </p:sp>
      <p:sp>
        <p:nvSpPr>
          <p:cNvPr id="34" name="text-32">
            <a:extLst xmlns:a="http://schemas.openxmlformats.org/drawingml/2006/main">
              <a:ext uri="{FF2B5EF4-FFF2-40B4-BE49-F238E27FC236}">
                <a16:creationId xmlns:a16="http://schemas.microsoft.com/office/drawing/2014/main" id="{ECA1ADFC-559E-4789-9C68-86F8E0AC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67175"/>
            <a:ext cx="4476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左右勾配で凹に分類した半径の最小</a:t>
            </a:r>
          </a:p>
        </p:txBody>
      </p:sp>
      <p:sp>
        <p:nvSpPr>
          <p:cNvPr id="35" name="text-33">
            <a:extLst xmlns:a="http://schemas.openxmlformats.org/drawingml/2006/main">
              <a:ext uri="{FF2B5EF4-FFF2-40B4-BE49-F238E27FC236}">
                <a16:creationId xmlns:a16="http://schemas.microsoft.com/office/drawing/2014/main" id="{C872DFCA-42FF-47A0-B40C-E4E5F56B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067175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36" name="shape-34">
            <a:extLst xmlns:a="http://schemas.openxmlformats.org/drawingml/2006/main">
              <a:ext uri="{FF2B5EF4-FFF2-40B4-BE49-F238E27FC236}">
                <a16:creationId xmlns:a16="http://schemas.microsoft.com/office/drawing/2014/main" id="{7F5BE6AC-DE66-4360-9F8E-37391E99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35">
            <a:extLst xmlns:a="http://schemas.openxmlformats.org/drawingml/2006/main">
              <a:ext uri="{FF2B5EF4-FFF2-40B4-BE49-F238E27FC236}">
                <a16:creationId xmlns:a16="http://schemas.microsoft.com/office/drawing/2014/main" id="{4576462D-C0C6-46FB-B8E5-3090C11E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B13</a:t>
            </a:r>
          </a:p>
        </p:txBody>
      </p:sp>
      <p:sp>
        <p:nvSpPr>
          <p:cNvPr id="38" name="text-36">
            <a:extLst xmlns:a="http://schemas.openxmlformats.org/drawingml/2006/main">
              <a:ext uri="{FF2B5EF4-FFF2-40B4-BE49-F238E27FC236}">
                <a16:creationId xmlns:a16="http://schemas.microsoft.com/office/drawing/2014/main" id="{56A2D95B-BB70-4FFC-9111-C2A0595A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43425"/>
            <a:ext cx="396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縦断曲線長</a:t>
            </a:r>
          </a:p>
        </p:txBody>
      </p:sp>
      <p:sp>
        <p:nvSpPr>
          <p:cNvPr id="39" name="text-37">
            <a:extLst xmlns:a="http://schemas.openxmlformats.org/drawingml/2006/main">
              <a:ext uri="{FF2B5EF4-FFF2-40B4-BE49-F238E27FC236}">
                <a16:creationId xmlns:a16="http://schemas.microsoft.com/office/drawing/2014/main" id="{A66E88E4-8A99-4114-853B-D5A0EFCD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43425"/>
            <a:ext cx="4476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指定DSTRレイヤーのVCL最小</a:t>
            </a:r>
          </a:p>
        </p:txBody>
      </p:sp>
      <p:sp>
        <p:nvSpPr>
          <p:cNvPr id="40" name="text-38">
            <a:extLst xmlns:a="http://schemas.openxmlformats.org/drawingml/2006/main">
              <a:ext uri="{FF2B5EF4-FFF2-40B4-BE49-F238E27FC236}">
                <a16:creationId xmlns:a16="http://schemas.microsoft.com/office/drawing/2014/main" id="{50B0E486-807A-48FF-A94E-B853BFAE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543425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41" name="shape-39">
            <a:extLst xmlns:a="http://schemas.openxmlformats.org/drawingml/2006/main">
              <a:ext uri="{FF2B5EF4-FFF2-40B4-BE49-F238E27FC236}">
                <a16:creationId xmlns:a16="http://schemas.microsoft.com/office/drawing/2014/main" id="{10273941-F30F-454B-9C4C-BDB3EEB5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hape-40">
            <a:extLst xmlns:a="http://schemas.openxmlformats.org/drawingml/2006/main">
              <a:ext uri="{FF2B5EF4-FFF2-40B4-BE49-F238E27FC236}">
                <a16:creationId xmlns:a16="http://schemas.microsoft.com/office/drawing/2014/main" id="{66D3849E-D0DB-4F68-9BCB-9A6FE731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41">
            <a:extLst xmlns:a="http://schemas.openxmlformats.org/drawingml/2006/main">
              <a:ext uri="{FF2B5EF4-FFF2-40B4-BE49-F238E27FC236}">
                <a16:creationId xmlns:a16="http://schemas.microsoft.com/office/drawing/2014/main" id="{E40A5A0C-E4B8-454B-859F-45F723DA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9675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B14</a:t>
            </a:r>
          </a:p>
        </p:txBody>
      </p:sp>
      <p:sp>
        <p:nvSpPr>
          <p:cNvPr id="44" name="text-42">
            <a:extLst xmlns:a="http://schemas.openxmlformats.org/drawingml/2006/main">
              <a:ext uri="{FF2B5EF4-FFF2-40B4-BE49-F238E27FC236}">
                <a16:creationId xmlns:a16="http://schemas.microsoft.com/office/drawing/2014/main" id="{1BA44D47-586A-4E92-84D6-1CE0E302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9675"/>
            <a:ext cx="396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視距</a:t>
            </a:r>
          </a:p>
        </p:txBody>
      </p:sp>
      <p:sp>
        <p:nvSpPr>
          <p:cNvPr id="45" name="text-43">
            <a:extLst xmlns:a="http://schemas.openxmlformats.org/drawingml/2006/main">
              <a:ext uri="{FF2B5EF4-FFF2-40B4-BE49-F238E27FC236}">
                <a16:creationId xmlns:a16="http://schemas.microsoft.com/office/drawing/2014/main" id="{97F409DB-12F3-493F-BD79-BCD2D8F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019675"/>
            <a:ext cx="4476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取得処理なし</a:t>
            </a:r>
          </a:p>
        </p:txBody>
      </p:sp>
      <p:sp>
        <p:nvSpPr>
          <p:cNvPr id="46" name="text-44">
            <a:extLst xmlns:a="http://schemas.openxmlformats.org/drawingml/2006/main">
              <a:ext uri="{FF2B5EF4-FFF2-40B4-BE49-F238E27FC236}">
                <a16:creationId xmlns:a16="http://schemas.microsoft.com/office/drawing/2014/main" id="{A0FA3B64-9F25-4A2F-8A20-50F06319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019675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「-」固定</a:t>
            </a:r>
          </a:p>
        </p:txBody>
      </p:sp>
      <p:sp>
        <p:nvSpPr>
          <p:cNvPr id="47" name="shape-45">
            <a:extLst xmlns:a="http://schemas.openxmlformats.org/drawingml/2006/main">
              <a:ext uri="{FF2B5EF4-FFF2-40B4-BE49-F238E27FC236}">
                <a16:creationId xmlns:a16="http://schemas.microsoft.com/office/drawing/2014/main" id="{55911759-182B-4453-BE25-C565D553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ext-46">
            <a:extLst xmlns:a="http://schemas.openxmlformats.org/drawingml/2006/main">
              <a:ext uri="{FF2B5EF4-FFF2-40B4-BE49-F238E27FC236}">
                <a16:creationId xmlns:a16="http://schemas.microsoft.com/office/drawing/2014/main" id="{0A378E7E-F9D2-4A24-9BE6-9FC617CC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95925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B15</a:t>
            </a:r>
          </a:p>
        </p:txBody>
      </p:sp>
      <p:sp>
        <p:nvSpPr>
          <p:cNvPr id="49" name="text-47">
            <a:extLst xmlns:a="http://schemas.openxmlformats.org/drawingml/2006/main">
              <a:ext uri="{FF2B5EF4-FFF2-40B4-BE49-F238E27FC236}">
                <a16:creationId xmlns:a16="http://schemas.microsoft.com/office/drawing/2014/main" id="{16A93EB6-E08C-439B-9186-0E9AD452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95925"/>
            <a:ext cx="396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合成勾配</a:t>
            </a:r>
          </a:p>
        </p:txBody>
      </p:sp>
      <p:sp>
        <p:nvSpPr>
          <p:cNvPr id="50" name="text-48">
            <a:extLst xmlns:a="http://schemas.openxmlformats.org/drawingml/2006/main">
              <a:ext uri="{FF2B5EF4-FFF2-40B4-BE49-F238E27FC236}">
                <a16:creationId xmlns:a16="http://schemas.microsoft.com/office/drawing/2014/main" id="{6A554EF0-F816-4BC7-8F08-382E1E71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495925"/>
            <a:ext cx="4476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取得処理なし</a:t>
            </a:r>
          </a:p>
        </p:txBody>
      </p:sp>
      <p:sp>
        <p:nvSpPr>
          <p:cNvPr id="51" name="text-49">
            <a:extLst xmlns:a="http://schemas.openxmlformats.org/drawingml/2006/main">
              <a:ext uri="{FF2B5EF4-FFF2-40B4-BE49-F238E27FC236}">
                <a16:creationId xmlns:a16="http://schemas.microsoft.com/office/drawing/2014/main" id="{9CA1D755-B165-4B3C-9302-6C740D76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495925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「-」固定</a:t>
            </a:r>
          </a:p>
        </p:txBody>
      </p:sp>
      <p:sp>
        <p:nvSpPr>
          <p:cNvPr id="52" name="shape-50">
            <a:extLst xmlns:a="http://schemas.openxmlformats.org/drawingml/2006/main">
              <a:ext uri="{FF2B5EF4-FFF2-40B4-BE49-F238E27FC236}">
                <a16:creationId xmlns:a16="http://schemas.microsoft.com/office/drawing/2014/main" id="{7D8DBE57-503F-4E78-A07E-CBEF9B78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ext-51">
            <a:extLst xmlns:a="http://schemas.openxmlformats.org/drawingml/2006/main">
              <a:ext uri="{FF2B5EF4-FFF2-40B4-BE49-F238E27FC236}">
                <a16:creationId xmlns:a16="http://schemas.microsoft.com/office/drawing/2014/main" id="{6BCCFDC1-3D0C-4DBF-A1A5-356BF82A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67425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固定の未対応は B6・B9・B10・B14・B15 の5欄。必要な値は人が確認して補う</a:t>
            </a:r>
          </a:p>
        </p:txBody>
      </p:sp>
    </p:spTree>
    <p:extLst>
      <p:ext uri="{BB962C8B-B14F-4D97-AF65-F5344CB8AC3E}">
        <p14:creationId xmlns:p14="http://schemas.microsoft.com/office/powerpoint/2010/main" val="18415510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4CDEE87-3529-404A-8FEF-DA297322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AC68D20-17A4-477B-9BCF-318D6EB5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47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24  APPENDIX / RECOVERY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F098C3F3-D9F8-4EC4-96D0-11E9A7B8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付録：未取得・異常時は、元図と記録をそろえる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C81E976-5F56-4288-97FF-93347325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図面・帳票・ログはローカルで保管し、組織内の管理担当者へ引き継ぎます。</a:t>
            </a:r>
          </a:p>
        </p:txBody>
      </p:sp>
      <p:sp>
        <p:nvSpPr>
          <p:cNvPr id="5" name="shape-3">
            <a:extLst xmlns:a="http://schemas.openxmlformats.org/drawingml/2006/main">
              <a:ext uri="{FF2B5EF4-FFF2-40B4-BE49-F238E27FC236}">
                <a16:creationId xmlns:a16="http://schemas.microsoft.com/office/drawing/2014/main" id="{5243FCE2-9DDD-4DA5-83FD-8421A13C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913D137-547A-4F9D-93CA-42074BE2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66725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Confidential  |  縦断図DXF → 幾何構造表（一般道）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A9B55AD-C7A6-493D-B5C1-05AA79F3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43675"/>
            <a:ext cx="5667375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出典：README エラー対応／メインのログ・保存処理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5F63BBD-DD13-4AAD-868F-73F62093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24</a:t>
            </a:r>
          </a:p>
        </p:txBody>
      </p:sp>
      <p:sp>
        <p:nvSpPr>
          <p:cNvPr id="9" name="shape-7">
            <a:extLst xmlns:a="http://schemas.openxmlformats.org/drawingml/2006/main">
              <a:ext uri="{FF2B5EF4-FFF2-40B4-BE49-F238E27FC236}">
                <a16:creationId xmlns:a16="http://schemas.microsoft.com/office/drawing/2014/main" id="{5CDFAF17-5B79-4141-AAB5-6C6B8646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78460EA8-6605-43BB-97E4-B704D116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5567C7DE-222E-4DD5-8821-94E5B497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242887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欄を特定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D53EAFE8-63AD-4F1C-BC8D-02699FA5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428875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項目名・値・セル番地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D674BE62-7F2D-48A9-A782-C9A568A2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2428875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「-」か異常値かを記録</a:t>
            </a:r>
          </a:p>
        </p:txBody>
      </p:sp>
      <p:sp>
        <p:nvSpPr>
          <p:cNvPr id="14" name="shape-12">
            <a:extLst xmlns:a="http://schemas.openxmlformats.org/drawingml/2006/main">
              <a:ext uri="{FF2B5EF4-FFF2-40B4-BE49-F238E27FC236}">
                <a16:creationId xmlns:a16="http://schemas.microsoft.com/office/drawing/2014/main" id="{17467E31-EB15-406D-A0FB-EB576282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242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hape-13">
            <a:extLst xmlns:a="http://schemas.openxmlformats.org/drawingml/2006/main">
              <a:ext uri="{FF2B5EF4-FFF2-40B4-BE49-F238E27FC236}">
                <a16:creationId xmlns:a16="http://schemas.microsoft.com/office/drawing/2014/main" id="{19560B69-4DF5-44BA-8A78-35E119FD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7338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ape-14">
            <a:extLst xmlns:a="http://schemas.openxmlformats.org/drawingml/2006/main">
              <a:ext uri="{FF2B5EF4-FFF2-40B4-BE49-F238E27FC236}">
                <a16:creationId xmlns:a16="http://schemas.microsoft.com/office/drawing/2014/main" id="{8C360416-7C58-454F-B1CD-D0CA80D7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34D60708-FC50-4D32-8365-BF7DE9A9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81225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9D15953A-F13E-419C-A87D-FFF10ACB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771775"/>
            <a:ext cx="242887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元図を保管</a:t>
            </a:r>
          </a:p>
        </p:txBody>
      </p:sp>
      <p:sp>
        <p:nvSpPr>
          <p:cNvPr id="19" name="text-17">
            <a:extLst xmlns:a="http://schemas.openxmlformats.org/drawingml/2006/main">
              <a:ext uri="{FF2B5EF4-FFF2-40B4-BE49-F238E27FC236}">
                <a16:creationId xmlns:a16="http://schemas.microsoft.com/office/drawing/2014/main" id="{07C44D04-3A14-4B43-AF75-19D30F1A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486150"/>
            <a:ext cx="2428875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input と usedを確認</a:t>
            </a:r>
          </a:p>
        </p:txBody>
      </p:sp>
      <p:sp>
        <p:nvSpPr>
          <p:cNvPr id="20" name="text-18">
            <a:extLst xmlns:a="http://schemas.openxmlformats.org/drawingml/2006/main">
              <a:ext uri="{FF2B5EF4-FFF2-40B4-BE49-F238E27FC236}">
                <a16:creationId xmlns:a16="http://schemas.microsoft.com/office/drawing/2014/main" id="{9C42A5E1-73EB-4E0D-998B-84FEFE23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952875"/>
            <a:ext cx="2428875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出力Excelも保管</a:t>
            </a:r>
          </a:p>
        </p:txBody>
      </p:sp>
      <p:sp>
        <p:nvSpPr>
          <p:cNvPr id="21" name="shape-19">
            <a:extLst xmlns:a="http://schemas.openxmlformats.org/drawingml/2006/main">
              <a:ext uri="{FF2B5EF4-FFF2-40B4-BE49-F238E27FC236}">
                <a16:creationId xmlns:a16="http://schemas.microsoft.com/office/drawing/2014/main" id="{56F90C89-79E2-4F07-B5A5-7D3B4D07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657725"/>
            <a:ext cx="242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hape-20">
            <a:extLst xmlns:a="http://schemas.openxmlformats.org/drawingml/2006/main">
              <a:ext uri="{FF2B5EF4-FFF2-40B4-BE49-F238E27FC236}">
                <a16:creationId xmlns:a16="http://schemas.microsoft.com/office/drawing/2014/main" id="{9A597D9B-4D66-4D8E-ACC2-777685C6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338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21">
            <a:extLst xmlns:a="http://schemas.openxmlformats.org/drawingml/2006/main">
              <a:ext uri="{FF2B5EF4-FFF2-40B4-BE49-F238E27FC236}">
                <a16:creationId xmlns:a16="http://schemas.microsoft.com/office/drawing/2014/main" id="{68293E34-DC0F-46B4-B122-7BCD1A25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E96D55FB-C64D-48E2-8F23-02FD0950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81225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7CC35536-DDFD-4EE0-A064-596F2731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71775"/>
            <a:ext cx="242887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条件を確認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BA55186E-CF5B-4528-A445-AA61FB82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2428875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レイヤー・帯・表記</a:t>
            </a:r>
          </a:p>
        </p:txBody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9318989D-782C-4143-A0A1-F22511ED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52875"/>
            <a:ext cx="2428875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元図の位置関係を確認</a:t>
            </a:r>
          </a:p>
        </p:txBody>
      </p:sp>
      <p:sp>
        <p:nvSpPr>
          <p:cNvPr id="28" name="shape-26">
            <a:extLst xmlns:a="http://schemas.openxmlformats.org/drawingml/2006/main">
              <a:ext uri="{FF2B5EF4-FFF2-40B4-BE49-F238E27FC236}">
                <a16:creationId xmlns:a16="http://schemas.microsoft.com/office/drawing/2014/main" id="{8E05F996-433D-475D-97AA-B99F95F4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57725"/>
            <a:ext cx="242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hape-27">
            <a:extLst xmlns:a="http://schemas.openxmlformats.org/drawingml/2006/main">
              <a:ext uri="{FF2B5EF4-FFF2-40B4-BE49-F238E27FC236}">
                <a16:creationId xmlns:a16="http://schemas.microsoft.com/office/drawing/2014/main" id="{590CA0C7-4BE5-480B-9DD5-07AD8481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7338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hape-28">
            <a:extLst xmlns:a="http://schemas.openxmlformats.org/drawingml/2006/main">
              <a:ext uri="{FF2B5EF4-FFF2-40B4-BE49-F238E27FC236}">
                <a16:creationId xmlns:a16="http://schemas.microsoft.com/office/drawing/2014/main" id="{6EFBBEE8-7F3E-43C2-B589-A236BEB3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A1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29">
            <a:extLst xmlns:a="http://schemas.openxmlformats.org/drawingml/2006/main">
              <a:ext uri="{FF2B5EF4-FFF2-40B4-BE49-F238E27FC236}">
                <a16:creationId xmlns:a16="http://schemas.microsoft.com/office/drawing/2014/main" id="{E75233FE-8F50-4FB9-96E4-80B0AEAD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81225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32" name="text-30">
            <a:extLst xmlns:a="http://schemas.openxmlformats.org/drawingml/2006/main">
              <a:ext uri="{FF2B5EF4-FFF2-40B4-BE49-F238E27FC236}">
                <a16:creationId xmlns:a16="http://schemas.microsoft.com/office/drawing/2014/main" id="{E3CA4996-F950-4DF4-86F9-0B940B82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71775"/>
            <a:ext cx="242887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担当者へ引継ぎ</a:t>
            </a:r>
          </a:p>
        </p:txBody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1511C662-C1E4-4880-90FC-C8B294FB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86150"/>
            <a:ext cx="2428875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DXF・Excel・ログ</a:t>
            </a:r>
          </a:p>
        </p:txBody>
      </p:sp>
      <p:sp>
        <p:nvSpPr>
          <p:cNvPr id="34" name="text-32">
            <a:extLst xmlns:a="http://schemas.openxmlformats.org/drawingml/2006/main">
              <a:ext uri="{FF2B5EF4-FFF2-40B4-BE49-F238E27FC236}">
                <a16:creationId xmlns:a16="http://schemas.microsoft.com/office/drawing/2014/main" id="{8F699B59-72F2-432E-B650-C78E0440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952875"/>
            <a:ext cx="2428875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発生手順をそろえる</a:t>
            </a:r>
          </a:p>
        </p:txBody>
      </p:sp>
      <p:sp>
        <p:nvSpPr>
          <p:cNvPr id="35" name="shape-33">
            <a:extLst xmlns:a="http://schemas.openxmlformats.org/drawingml/2006/main">
              <a:ext uri="{FF2B5EF4-FFF2-40B4-BE49-F238E27FC236}">
                <a16:creationId xmlns:a16="http://schemas.microsoft.com/office/drawing/2014/main" id="{C660B622-8FF6-44AC-BE89-7E78810F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657725"/>
            <a:ext cx="242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34">
            <a:extLst xmlns:a="http://schemas.openxmlformats.org/drawingml/2006/main">
              <a:ext uri="{FF2B5EF4-FFF2-40B4-BE49-F238E27FC236}">
                <a16:creationId xmlns:a16="http://schemas.microsoft.com/office/drawing/2014/main" id="{9719AA7F-17BC-404B-930E-DD750754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447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_logs / run_日時.log</a:t>
            </a:r>
          </a:p>
        </p:txBody>
      </p:sp>
      <p:sp>
        <p:nvSpPr>
          <p:cNvPr id="37" name="text-35">
            <a:extLst xmlns:a="http://schemas.openxmlformats.org/drawingml/2006/main">
              <a:ext uri="{FF2B5EF4-FFF2-40B4-BE49-F238E27FC236}">
                <a16:creationId xmlns:a16="http://schemas.microsoft.com/office/drawing/2014/main" id="{DA95EDEB-477F-4BE6-B499-5C4527C6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05400"/>
            <a:ext cx="63436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設定値も記録。7日より古いログは削除されるため、早めに保管。</a:t>
            </a:r>
          </a:p>
        </p:txBody>
      </p:sp>
      <p:sp>
        <p:nvSpPr>
          <p:cNvPr id="38" name="shape-36">
            <a:extLst xmlns:a="http://schemas.openxmlformats.org/drawingml/2006/main">
              <a:ext uri="{FF2B5EF4-FFF2-40B4-BE49-F238E27FC236}">
                <a16:creationId xmlns:a16="http://schemas.microsoft.com/office/drawing/2014/main" id="{8433D2BA-B67C-4280-9156-24FC1FB7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-37">
            <a:extLst xmlns:a="http://schemas.openxmlformats.org/drawingml/2006/main">
              <a:ext uri="{FF2B5EF4-FFF2-40B4-BE49-F238E27FC236}">
                <a16:creationId xmlns:a16="http://schemas.microsoft.com/office/drawing/2014/main" id="{FE73A91F-A0DB-4415-82F8-67AD36EA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全件失敗でも「DXFなし」と表示され得る。完了画面だけで判断せず、ログと残存ファイルを確認する</a:t>
            </a:r>
          </a:p>
        </p:txBody>
      </p:sp>
    </p:spTree>
    <p:extLst>
      <p:ext uri="{BB962C8B-B14F-4D97-AF65-F5344CB8AC3E}">
        <p14:creationId xmlns:p14="http://schemas.microsoft.com/office/powerpoint/2010/main" val="1491709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2026-09-16T22:25:11.5170000Z</dcterms:created>
  <dcterms:modified xsi:type="dcterms:W3CDTF">2026-09-16T22:25:11.5170000Z</dcterms:modified>
</coreProperties>
</file>