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242" d="100"/>
          <a:sy n="242" d="100"/>
        </p:scale>
        <p:origin x="51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8FD8A410-B983-370B-63A8-490731A1D9E8}"/>
              </a:ext>
            </a:extLst>
          </p:cNvPr>
          <p:cNvSpPr>
            <a:spLocks noGrp="1"/>
          </p:cNvSpPr>
          <p:nvPr/>
        </p:nvSpPr>
        <p:spPr>
          <a:xfrm>
            <a:off x="6096000" y="990600"/>
            <a:ext cx="6096000" cy="3712132"/>
          </a:xfrm>
          <a:prstGeom prst="rect">
            <a:avLst/>
          </a:prstGeom>
          <a:solidFill>
            <a:srgbClr val="EDF3F0"/>
          </a:solidFill>
          <a:ln w="9525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0656B2AF-705E-FD46-5B31-686AB78CF82B}"/>
              </a:ext>
            </a:extLst>
          </p:cNvPr>
          <p:cNvSpPr>
            <a:spLocks noGrp="1"/>
          </p:cNvSpPr>
          <p:nvPr/>
        </p:nvSpPr>
        <p:spPr>
          <a:xfrm>
            <a:off x="0" y="4702732"/>
            <a:ext cx="12192000" cy="2155267"/>
          </a:xfrm>
          <a:prstGeom prst="rect">
            <a:avLst/>
          </a:prstGeom>
          <a:solidFill>
            <a:srgbClr val="CBD3D3"/>
          </a:solidFill>
          <a:ln w="9525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CA6BB5C3-A922-8A6B-618A-D5033F041E21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6096000" cy="3712132"/>
          </a:xfrm>
          <a:prstGeom prst="rect">
            <a:avLst/>
          </a:prstGeom>
          <a:solidFill>
            <a:srgbClr val="E8F7F1"/>
          </a:solidFill>
          <a:ln w="9525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B661BAF7-96C0-A7A9-3C61-4989049B27CB}"/>
              </a:ext>
            </a:extLst>
          </p:cNvPr>
          <p:cNvSpPr txBox="1"/>
          <p:nvPr/>
        </p:nvSpPr>
        <p:spPr>
          <a:xfrm>
            <a:off x="504823" y="1738321"/>
            <a:ext cx="3267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DXF</a:t>
            </a:r>
            <a:r>
              <a:rPr lang="ja-JP" altLang="en-US" sz="2400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縦断図 抽出ツール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E7E79E65-1E14-EB2E-C912-77EF878F1434}"/>
              </a:ext>
            </a:extLst>
          </p:cNvPr>
          <p:cNvSpPr txBox="1"/>
          <p:nvPr/>
        </p:nvSpPr>
        <p:spPr>
          <a:xfrm>
            <a:off x="504823" y="2261541"/>
            <a:ext cx="4009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 err="1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juudan_to_kikakouzou_ippan_extracter</a:t>
            </a:r>
            <a:endParaRPr lang="ja-JP" altLang="en-US" sz="1600" dirty="0">
              <a:solidFill>
                <a:srgbClr val="6C7477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24A383EE-1AC0-E351-0041-5E39515443DC}"/>
              </a:ext>
            </a:extLst>
          </p:cNvPr>
          <p:cNvSpPr txBox="1"/>
          <p:nvPr/>
        </p:nvSpPr>
        <p:spPr>
          <a:xfrm>
            <a:off x="504822" y="2861616"/>
            <a:ext cx="1255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2026/09/17</a:t>
            </a:r>
            <a:endParaRPr lang="ja-JP" altLang="en-US" sz="1600" dirty="0">
              <a:solidFill>
                <a:srgbClr val="6C7477"/>
              </a:solidFill>
              <a:latin typeface="Noto Sans JP"/>
              <a:ea typeface="Noto Sans JP"/>
              <a:cs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851061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kicker-marker">
            <a:extLst>
              <a:ext uri="{FF2B5EF4-FFF2-40B4-BE49-F238E27FC236}">
                <a16:creationId xmlns:a16="http://schemas.microsoft.com/office/drawing/2014/main" id="{F22B736E-0928-4425-A455-C206DBA61452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94632C05-E7D5-4208-B0B1-D8F3A167C92E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01  OVERVIEW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B908D1ED-966D-4FAB-9176-9E399694C8AC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縦断図から、照査に使う値を取り出す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17741C5C-E9A7-433A-A516-9D4328A31DC3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縦断図DXF → 抽出処理 → 幾何構造表（一般道）Excel</a:t>
            </a:r>
          </a:p>
        </p:txBody>
      </p:sp>
      <p:sp>
        <p:nvSpPr>
          <p:cNvPr id="5" name="shape-3">
            <a:extLst>
              <a:ext uri="{FF2B5EF4-FFF2-40B4-BE49-F238E27FC236}">
                <a16:creationId xmlns:a16="http://schemas.microsoft.com/office/drawing/2014/main" id="{2745052B-71A0-43FB-A730-17C62DDBD182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CCCC137C-DA19-4D56-A299-54C067C1094F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現行ソースと同梱テンプレートの確認に基づく説明です。図解・数値例は説明用です。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8EE9C175-60EB-42E1-A02E-A66A83A94FE6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B3F0E7B5-93E1-4114-BD99-A79F82FAE523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5715000" cy="4762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5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CAD図面評価者のための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DFA2A3D3-A9BF-4E7D-88F0-DB44289AB90E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5715000" cy="4762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5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処理と確認のガイド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A8D53AAD-C07D-45F3-A448-BD0D83F5AE72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5715000" cy="3429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v1.0.1  |  現行実装の説明</a:t>
            </a:r>
          </a:p>
        </p:txBody>
      </p:sp>
      <p:sp>
        <p:nvSpPr>
          <p:cNvPr id="12" name="shape-10">
            <a:extLst>
              <a:ext uri="{FF2B5EF4-FFF2-40B4-BE49-F238E27FC236}">
                <a16:creationId xmlns:a16="http://schemas.microsoft.com/office/drawing/2014/main" id="{F8324E10-6E51-47C9-8867-63FBD5EFD9C7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3829050" cy="62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-11">
            <a:extLst>
              <a:ext uri="{FF2B5EF4-FFF2-40B4-BE49-F238E27FC236}">
                <a16:creationId xmlns:a16="http://schemas.microsoft.com/office/drawing/2014/main" id="{E622F222-73F9-4584-950D-D53DA94B6BA0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1143000" cy="6286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3F5D60D0-A088-45D0-84AA-63308C09AC0A}"/>
              </a:ext>
            </a:extLst>
          </p:cNvPr>
          <p:cNvSpPr>
            <a:spLocks noGrp="1"/>
          </p:cNvSpPr>
          <p:nvPr/>
        </p:nvSpPr>
        <p:spPr>
          <a:xfrm>
            <a:off x="723900" y="3781425"/>
            <a:ext cx="933450" cy="628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</a:t>
            </a:r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38F597CC-CDA6-4674-9AC6-DB32F888B2E1}"/>
              </a:ext>
            </a:extLst>
          </p:cNvPr>
          <p:cNvSpPr>
            <a:spLocks noGrp="1"/>
          </p:cNvSpPr>
          <p:nvPr/>
        </p:nvSpPr>
        <p:spPr>
          <a:xfrm>
            <a:off x="1905000" y="3914775"/>
            <a:ext cx="243840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R=200   L=80</a:t>
            </a:r>
          </a:p>
        </p:txBody>
      </p:sp>
      <p:sp>
        <p:nvSpPr>
          <p:cNvPr id="16" name="shape-14">
            <a:extLst>
              <a:ext uri="{FF2B5EF4-FFF2-40B4-BE49-F238E27FC236}">
                <a16:creationId xmlns:a16="http://schemas.microsoft.com/office/drawing/2014/main" id="{762827C6-D7CE-4DFE-8928-F643C668DA83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3829050" cy="62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-15">
            <a:extLst>
              <a:ext uri="{FF2B5EF4-FFF2-40B4-BE49-F238E27FC236}">
                <a16:creationId xmlns:a16="http://schemas.microsoft.com/office/drawing/2014/main" id="{023CF12E-6F73-42AC-968A-E80973CA609C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1143000" cy="6286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6DBDD8DA-D149-4028-91E1-31B1B58A3C37}"/>
              </a:ext>
            </a:extLst>
          </p:cNvPr>
          <p:cNvSpPr>
            <a:spLocks noGrp="1"/>
          </p:cNvSpPr>
          <p:nvPr/>
        </p:nvSpPr>
        <p:spPr>
          <a:xfrm>
            <a:off x="723900" y="4410075"/>
            <a:ext cx="933450" cy="628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</a:t>
            </a:r>
          </a:p>
        </p:txBody>
      </p:sp>
      <p:sp>
        <p:nvSpPr>
          <p:cNvPr id="19" name="text-17">
            <a:extLst>
              <a:ext uri="{FF2B5EF4-FFF2-40B4-BE49-F238E27FC236}">
                <a16:creationId xmlns:a16="http://schemas.microsoft.com/office/drawing/2014/main" id="{D21CF140-3D54-4354-BD38-C49AFAE9B1ED}"/>
              </a:ext>
            </a:extLst>
          </p:cNvPr>
          <p:cNvSpPr>
            <a:spLocks noGrp="1"/>
          </p:cNvSpPr>
          <p:nvPr/>
        </p:nvSpPr>
        <p:spPr>
          <a:xfrm>
            <a:off x="1905000" y="4543425"/>
            <a:ext cx="243840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1/150</a:t>
            </a:r>
          </a:p>
        </p:txBody>
      </p:sp>
      <p:sp>
        <p:nvSpPr>
          <p:cNvPr id="20" name="shape-18">
            <a:extLst>
              <a:ext uri="{FF2B5EF4-FFF2-40B4-BE49-F238E27FC236}">
                <a16:creationId xmlns:a16="http://schemas.microsoft.com/office/drawing/2014/main" id="{8C396C4A-8969-4D02-92D6-DBA3FA247287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3829050" cy="62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-19">
            <a:extLst>
              <a:ext uri="{FF2B5EF4-FFF2-40B4-BE49-F238E27FC236}">
                <a16:creationId xmlns:a16="http://schemas.microsoft.com/office/drawing/2014/main" id="{4F97ACF2-72CF-4693-8558-810A338D241A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1143000" cy="6286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-20">
            <a:extLst>
              <a:ext uri="{FF2B5EF4-FFF2-40B4-BE49-F238E27FC236}">
                <a16:creationId xmlns:a16="http://schemas.microsoft.com/office/drawing/2014/main" id="{A7DB7C78-033D-4FC2-B4DD-67704D8F50A7}"/>
              </a:ext>
            </a:extLst>
          </p:cNvPr>
          <p:cNvSpPr>
            <a:spLocks noGrp="1"/>
          </p:cNvSpPr>
          <p:nvPr/>
        </p:nvSpPr>
        <p:spPr>
          <a:xfrm>
            <a:off x="723900" y="5038725"/>
            <a:ext cx="933450" cy="628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勾配</a:t>
            </a:r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E368317A-83D4-405D-9B16-CC85ADFDA9CC}"/>
              </a:ext>
            </a:extLst>
          </p:cNvPr>
          <p:cNvSpPr>
            <a:spLocks noGrp="1"/>
          </p:cNvSpPr>
          <p:nvPr/>
        </p:nvSpPr>
        <p:spPr>
          <a:xfrm>
            <a:off x="1905000" y="5172075"/>
            <a:ext cx="243840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i=3.5%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EE2C13E7-08BE-4085-A07E-2EF76CE01AC5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3829050" cy="285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縦断図DXF（概念・数値例）</a:t>
            </a:r>
          </a:p>
        </p:txBody>
      </p:sp>
      <p:sp>
        <p:nvSpPr>
          <p:cNvPr id="25" name="shape-23">
            <a:extLst>
              <a:ext uri="{FF2B5EF4-FFF2-40B4-BE49-F238E27FC236}">
                <a16:creationId xmlns:a16="http://schemas.microsoft.com/office/drawing/2014/main" id="{3D711420-079B-4CBD-B96E-2BD6F3771025}"/>
              </a:ext>
            </a:extLst>
          </p:cNvPr>
          <p:cNvSpPr>
            <a:spLocks noGrp="1"/>
          </p:cNvSpPr>
          <p:nvPr/>
        </p:nvSpPr>
        <p:spPr>
          <a:xfrm>
            <a:off x="4714875" y="4572000"/>
            <a:ext cx="55245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-24">
            <a:extLst>
              <a:ext uri="{FF2B5EF4-FFF2-40B4-BE49-F238E27FC236}">
                <a16:creationId xmlns:a16="http://schemas.microsoft.com/office/drawing/2014/main" id="{943EECEB-5A6F-47D3-B8DA-12514E25931B}"/>
              </a:ext>
            </a:extLst>
          </p:cNvPr>
          <p:cNvSpPr>
            <a:spLocks noGrp="1"/>
          </p:cNvSpPr>
          <p:nvPr/>
        </p:nvSpPr>
        <p:spPr>
          <a:xfrm>
            <a:off x="5572125" y="3924300"/>
            <a:ext cx="2095500" cy="1485900"/>
          </a:xfrm>
          <a:prstGeom prst="rect">
            <a:avLst/>
          </a:prstGeom>
          <a:solidFill>
            <a:srgbClr val="F3F5F5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E4C31C30-776E-4E6D-97B1-6182BB134A70}"/>
              </a:ext>
            </a:extLst>
          </p:cNvPr>
          <p:cNvSpPr>
            <a:spLocks noGrp="1"/>
          </p:cNvSpPr>
          <p:nvPr/>
        </p:nvSpPr>
        <p:spPr>
          <a:xfrm>
            <a:off x="5762625" y="4095750"/>
            <a:ext cx="1714500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表記・位置</a:t>
            </a: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4940B41F-077C-43BE-8ED0-969081E78E70}"/>
              </a:ext>
            </a:extLst>
          </p:cNvPr>
          <p:cNvSpPr>
            <a:spLocks noGrp="1"/>
          </p:cNvSpPr>
          <p:nvPr/>
        </p:nvSpPr>
        <p:spPr>
          <a:xfrm>
            <a:off x="5762625" y="4505325"/>
            <a:ext cx="1714500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選択規則</a:t>
            </a:r>
          </a:p>
        </p:txBody>
      </p:sp>
      <p:sp>
        <p:nvSpPr>
          <p:cNvPr id="29" name="text-27">
            <a:extLst>
              <a:ext uri="{FF2B5EF4-FFF2-40B4-BE49-F238E27FC236}">
                <a16:creationId xmlns:a16="http://schemas.microsoft.com/office/drawing/2014/main" id="{1D72A3FD-9CAC-4037-83D4-FE42EFAC8AAE}"/>
              </a:ext>
            </a:extLst>
          </p:cNvPr>
          <p:cNvSpPr>
            <a:spLocks noGrp="1"/>
          </p:cNvSpPr>
          <p:nvPr/>
        </p:nvSpPr>
        <p:spPr>
          <a:xfrm>
            <a:off x="5762625" y="4953000"/>
            <a:ext cx="1714500" cy="3048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抽出処理</a:t>
            </a:r>
          </a:p>
        </p:txBody>
      </p:sp>
      <p:sp>
        <p:nvSpPr>
          <p:cNvPr id="30" name="shape-28">
            <a:extLst>
              <a:ext uri="{FF2B5EF4-FFF2-40B4-BE49-F238E27FC236}">
                <a16:creationId xmlns:a16="http://schemas.microsoft.com/office/drawing/2014/main" id="{5F239A68-BDE4-4779-B306-30FA4AF26C8A}"/>
              </a:ext>
            </a:extLst>
          </p:cNvPr>
          <p:cNvSpPr>
            <a:spLocks noGrp="1"/>
          </p:cNvSpPr>
          <p:nvPr/>
        </p:nvSpPr>
        <p:spPr>
          <a:xfrm>
            <a:off x="7934325" y="4572000"/>
            <a:ext cx="55245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-29">
            <a:extLst>
              <a:ext uri="{FF2B5EF4-FFF2-40B4-BE49-F238E27FC236}">
                <a16:creationId xmlns:a16="http://schemas.microsoft.com/office/drawing/2014/main" id="{3E34CBE3-E3AA-4615-B047-04F14D936E58}"/>
              </a:ext>
            </a:extLst>
          </p:cNvPr>
          <p:cNvSpPr>
            <a:spLocks noGrp="1"/>
          </p:cNvSpPr>
          <p:nvPr/>
        </p:nvSpPr>
        <p:spPr>
          <a:xfrm>
            <a:off x="8791575" y="3124200"/>
            <a:ext cx="2790825" cy="2590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-30">
            <a:extLst>
              <a:ext uri="{FF2B5EF4-FFF2-40B4-BE49-F238E27FC236}">
                <a16:creationId xmlns:a16="http://schemas.microsoft.com/office/drawing/2014/main" id="{553B6000-A790-47A0-A68C-FB24945D5000}"/>
              </a:ext>
            </a:extLst>
          </p:cNvPr>
          <p:cNvSpPr>
            <a:spLocks noGrp="1"/>
          </p:cNvSpPr>
          <p:nvPr/>
        </p:nvSpPr>
        <p:spPr>
          <a:xfrm>
            <a:off x="8791575" y="3124200"/>
            <a:ext cx="2790825" cy="2667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-31">
            <a:extLst>
              <a:ext uri="{FF2B5EF4-FFF2-40B4-BE49-F238E27FC236}">
                <a16:creationId xmlns:a16="http://schemas.microsoft.com/office/drawing/2014/main" id="{308F7354-B7E0-479B-A21F-AAE705A20AF9}"/>
              </a:ext>
            </a:extLst>
          </p:cNvPr>
          <p:cNvSpPr>
            <a:spLocks noGrp="1"/>
          </p:cNvSpPr>
          <p:nvPr/>
        </p:nvSpPr>
        <p:spPr>
          <a:xfrm>
            <a:off x="8791575" y="3778250"/>
            <a:ext cx="27908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-32">
            <a:extLst>
              <a:ext uri="{FF2B5EF4-FFF2-40B4-BE49-F238E27FC236}">
                <a16:creationId xmlns:a16="http://schemas.microsoft.com/office/drawing/2014/main" id="{91795E03-9B7E-4969-838B-AD52D413D1EF}"/>
              </a:ext>
            </a:extLst>
          </p:cNvPr>
          <p:cNvSpPr>
            <a:spLocks noGrp="1"/>
          </p:cNvSpPr>
          <p:nvPr/>
        </p:nvSpPr>
        <p:spPr>
          <a:xfrm>
            <a:off x="8791575" y="4165600"/>
            <a:ext cx="27908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-33">
            <a:extLst>
              <a:ext uri="{FF2B5EF4-FFF2-40B4-BE49-F238E27FC236}">
                <a16:creationId xmlns:a16="http://schemas.microsoft.com/office/drawing/2014/main" id="{409A9581-9C43-4114-BC06-D24DA7F29D99}"/>
              </a:ext>
            </a:extLst>
          </p:cNvPr>
          <p:cNvSpPr>
            <a:spLocks noGrp="1"/>
          </p:cNvSpPr>
          <p:nvPr/>
        </p:nvSpPr>
        <p:spPr>
          <a:xfrm>
            <a:off x="8791575" y="4552950"/>
            <a:ext cx="27908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-34">
            <a:extLst>
              <a:ext uri="{FF2B5EF4-FFF2-40B4-BE49-F238E27FC236}">
                <a16:creationId xmlns:a16="http://schemas.microsoft.com/office/drawing/2014/main" id="{3CEC8B4E-1839-44F7-95DF-F277EA0A1E49}"/>
              </a:ext>
            </a:extLst>
          </p:cNvPr>
          <p:cNvSpPr>
            <a:spLocks noGrp="1"/>
          </p:cNvSpPr>
          <p:nvPr/>
        </p:nvSpPr>
        <p:spPr>
          <a:xfrm>
            <a:off x="8791575" y="4940300"/>
            <a:ext cx="27908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-35">
            <a:extLst>
              <a:ext uri="{FF2B5EF4-FFF2-40B4-BE49-F238E27FC236}">
                <a16:creationId xmlns:a16="http://schemas.microsoft.com/office/drawing/2014/main" id="{03F79FC3-716F-4849-AFBA-E445D592A5F2}"/>
              </a:ext>
            </a:extLst>
          </p:cNvPr>
          <p:cNvSpPr>
            <a:spLocks noGrp="1"/>
          </p:cNvSpPr>
          <p:nvPr/>
        </p:nvSpPr>
        <p:spPr>
          <a:xfrm>
            <a:off x="8791575" y="5327650"/>
            <a:ext cx="27908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-36">
            <a:extLst>
              <a:ext uri="{FF2B5EF4-FFF2-40B4-BE49-F238E27FC236}">
                <a16:creationId xmlns:a16="http://schemas.microsoft.com/office/drawing/2014/main" id="{6700A23C-F60C-459D-BC34-B3F08E0DEF37}"/>
              </a:ext>
            </a:extLst>
          </p:cNvPr>
          <p:cNvSpPr>
            <a:spLocks noGrp="1"/>
          </p:cNvSpPr>
          <p:nvPr/>
        </p:nvSpPr>
        <p:spPr>
          <a:xfrm>
            <a:off x="8791575" y="5715000"/>
            <a:ext cx="27908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-37">
            <a:extLst>
              <a:ext uri="{FF2B5EF4-FFF2-40B4-BE49-F238E27FC236}">
                <a16:creationId xmlns:a16="http://schemas.microsoft.com/office/drawing/2014/main" id="{A6165934-953A-41B0-A4D4-9EA48F6F4016}"/>
              </a:ext>
            </a:extLst>
          </p:cNvPr>
          <p:cNvSpPr>
            <a:spLocks noGrp="1"/>
          </p:cNvSpPr>
          <p:nvPr/>
        </p:nvSpPr>
        <p:spPr>
          <a:xfrm>
            <a:off x="10605611" y="3124200"/>
            <a:ext cx="9525" cy="25908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-38">
            <a:extLst>
              <a:ext uri="{FF2B5EF4-FFF2-40B4-BE49-F238E27FC236}">
                <a16:creationId xmlns:a16="http://schemas.microsoft.com/office/drawing/2014/main" id="{0DC9CDCD-B64F-4A5A-A8A8-A183C1C1F3F0}"/>
              </a:ext>
            </a:extLst>
          </p:cNvPr>
          <p:cNvSpPr>
            <a:spLocks noGrp="1"/>
          </p:cNvSpPr>
          <p:nvPr/>
        </p:nvSpPr>
        <p:spPr>
          <a:xfrm>
            <a:off x="8886825" y="3124200"/>
            <a:ext cx="1674495" cy="2667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項目</a:t>
            </a:r>
          </a:p>
        </p:txBody>
      </p:sp>
      <p:sp>
        <p:nvSpPr>
          <p:cNvPr id="41" name="text-39">
            <a:extLst>
              <a:ext uri="{FF2B5EF4-FFF2-40B4-BE49-F238E27FC236}">
                <a16:creationId xmlns:a16="http://schemas.microsoft.com/office/drawing/2014/main" id="{11A44A87-B3D7-4849-B3B9-6138F1CF48C6}"/>
              </a:ext>
            </a:extLst>
          </p:cNvPr>
          <p:cNvSpPr>
            <a:spLocks noGrp="1"/>
          </p:cNvSpPr>
          <p:nvPr/>
        </p:nvSpPr>
        <p:spPr>
          <a:xfrm>
            <a:off x="10661428" y="3124200"/>
            <a:ext cx="837247" cy="2667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使用値</a:t>
            </a:r>
          </a:p>
        </p:txBody>
      </p:sp>
      <p:sp>
        <p:nvSpPr>
          <p:cNvPr id="42" name="text-40">
            <a:extLst>
              <a:ext uri="{FF2B5EF4-FFF2-40B4-BE49-F238E27FC236}">
                <a16:creationId xmlns:a16="http://schemas.microsoft.com/office/drawing/2014/main" id="{87430AD6-25C6-4749-B91D-3D65DAD25BAF}"/>
              </a:ext>
            </a:extLst>
          </p:cNvPr>
          <p:cNvSpPr>
            <a:spLocks noGrp="1"/>
          </p:cNvSpPr>
          <p:nvPr/>
        </p:nvSpPr>
        <p:spPr>
          <a:xfrm>
            <a:off x="8791575" y="2686050"/>
            <a:ext cx="2790825" cy="3429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幾何構造表Excel</a:t>
            </a:r>
          </a:p>
        </p:txBody>
      </p:sp>
      <p:sp>
        <p:nvSpPr>
          <p:cNvPr id="43" name="text-41">
            <a:extLst>
              <a:ext uri="{FF2B5EF4-FFF2-40B4-BE49-F238E27FC236}">
                <a16:creationId xmlns:a16="http://schemas.microsoft.com/office/drawing/2014/main" id="{B1E6A190-8320-4098-9CE0-C769D34D9D23}"/>
              </a:ext>
            </a:extLst>
          </p:cNvPr>
          <p:cNvSpPr>
            <a:spLocks noGrp="1"/>
          </p:cNvSpPr>
          <p:nvPr/>
        </p:nvSpPr>
        <p:spPr>
          <a:xfrm>
            <a:off x="8924925" y="3438525"/>
            <a:ext cx="16383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最小半径</a:t>
            </a:r>
          </a:p>
        </p:txBody>
      </p:sp>
      <p:sp>
        <p:nvSpPr>
          <p:cNvPr id="44" name="text-42">
            <a:extLst>
              <a:ext uri="{FF2B5EF4-FFF2-40B4-BE49-F238E27FC236}">
                <a16:creationId xmlns:a16="http://schemas.microsoft.com/office/drawing/2014/main" id="{55C9765B-F5F1-4F1F-A74B-12A1631BFE50}"/>
              </a:ext>
            </a:extLst>
          </p:cNvPr>
          <p:cNvSpPr>
            <a:spLocks noGrp="1"/>
          </p:cNvSpPr>
          <p:nvPr/>
        </p:nvSpPr>
        <p:spPr>
          <a:xfrm>
            <a:off x="8924925" y="3819525"/>
            <a:ext cx="16383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緩和曲線長</a:t>
            </a:r>
          </a:p>
        </p:txBody>
      </p:sp>
      <p:sp>
        <p:nvSpPr>
          <p:cNvPr id="45" name="text-43">
            <a:extLst>
              <a:ext uri="{FF2B5EF4-FFF2-40B4-BE49-F238E27FC236}">
                <a16:creationId xmlns:a16="http://schemas.microsoft.com/office/drawing/2014/main" id="{80A58172-EED2-4769-AD60-EFB1EA04553A}"/>
              </a:ext>
            </a:extLst>
          </p:cNvPr>
          <p:cNvSpPr>
            <a:spLocks noGrp="1"/>
          </p:cNvSpPr>
          <p:nvPr/>
        </p:nvSpPr>
        <p:spPr>
          <a:xfrm>
            <a:off x="8924925" y="4200525"/>
            <a:ext cx="16383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曲線長</a:t>
            </a:r>
          </a:p>
        </p:txBody>
      </p:sp>
      <p:sp>
        <p:nvSpPr>
          <p:cNvPr id="46" name="text-44">
            <a:extLst>
              <a:ext uri="{FF2B5EF4-FFF2-40B4-BE49-F238E27FC236}">
                <a16:creationId xmlns:a16="http://schemas.microsoft.com/office/drawing/2014/main" id="{51C10897-8436-407C-8DD6-F0772D48CF60}"/>
              </a:ext>
            </a:extLst>
          </p:cNvPr>
          <p:cNvSpPr>
            <a:spLocks noGrp="1"/>
          </p:cNvSpPr>
          <p:nvPr/>
        </p:nvSpPr>
        <p:spPr>
          <a:xfrm>
            <a:off x="8924925" y="4581525"/>
            <a:ext cx="16383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</a:t>
            </a:r>
          </a:p>
        </p:txBody>
      </p:sp>
      <p:sp>
        <p:nvSpPr>
          <p:cNvPr id="47" name="text-45">
            <a:extLst>
              <a:ext uri="{FF2B5EF4-FFF2-40B4-BE49-F238E27FC236}">
                <a16:creationId xmlns:a16="http://schemas.microsoft.com/office/drawing/2014/main" id="{60D4BC96-3EC0-4672-A4B7-352296864B83}"/>
              </a:ext>
            </a:extLst>
          </p:cNvPr>
          <p:cNvSpPr>
            <a:spLocks noGrp="1"/>
          </p:cNvSpPr>
          <p:nvPr/>
        </p:nvSpPr>
        <p:spPr>
          <a:xfrm>
            <a:off x="8924925" y="4962525"/>
            <a:ext cx="16383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縦断線形</a:t>
            </a:r>
          </a:p>
        </p:txBody>
      </p:sp>
      <p:sp>
        <p:nvSpPr>
          <p:cNvPr id="48" name="text-46">
            <a:extLst>
              <a:ext uri="{FF2B5EF4-FFF2-40B4-BE49-F238E27FC236}">
                <a16:creationId xmlns:a16="http://schemas.microsoft.com/office/drawing/2014/main" id="{DD00EDF0-C3E2-4801-ABD8-4B517DCB7071}"/>
              </a:ext>
            </a:extLst>
          </p:cNvPr>
          <p:cNvSpPr>
            <a:spLocks noGrp="1"/>
          </p:cNvSpPr>
          <p:nvPr/>
        </p:nvSpPr>
        <p:spPr>
          <a:xfrm>
            <a:off x="8924925" y="5343525"/>
            <a:ext cx="16383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未対応欄</a:t>
            </a:r>
          </a:p>
        </p:txBody>
      </p:sp>
      <p:sp>
        <p:nvSpPr>
          <p:cNvPr id="49" name="text-47">
            <a:extLst>
              <a:ext uri="{FF2B5EF4-FFF2-40B4-BE49-F238E27FC236}">
                <a16:creationId xmlns:a16="http://schemas.microsoft.com/office/drawing/2014/main" id="{16ABCB1C-2242-45CB-AF85-C5AFDF1F7C01}"/>
              </a:ext>
            </a:extLst>
          </p:cNvPr>
          <p:cNvSpPr>
            <a:spLocks noGrp="1"/>
          </p:cNvSpPr>
          <p:nvPr/>
        </p:nvSpPr>
        <p:spPr>
          <a:xfrm>
            <a:off x="8791575" y="5829300"/>
            <a:ext cx="2790825" cy="3238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照査の材料を作成</a:t>
            </a:r>
          </a:p>
        </p:txBody>
      </p:sp>
    </p:spTree>
    <p:extLst>
      <p:ext uri="{BB962C8B-B14F-4D97-AF65-F5344CB8AC3E}">
        <p14:creationId xmlns:p14="http://schemas.microsoft.com/office/powerpoint/2010/main" val="208656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kicker-marker">
            <a:extLst>
              <a:ext uri="{FF2B5EF4-FFF2-40B4-BE49-F238E27FC236}">
                <a16:creationId xmlns:a16="http://schemas.microsoft.com/office/drawing/2014/main" id="{B85693E8-4E24-42C5-A1AA-9157A91F233E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DD9C8F4A-2685-414F-95CF-53F57D54EFE8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02  ROLE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BD7CD1FD-E1A8-4159-886B-DED67B59C3DD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抽出・転記はツール、照査の結論は人が担う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75D1744B-894E-4969-8D9A-E04DA93610C2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ExcelのOK/NGはテンプレート数式の参考判定です。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2F49E659-DB5A-4337-BC2C-4C70C29835DA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抽出と転記を支援するツールです。設計条件・適用基準と最終の採否は評価者が確認します。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6C32239F-5252-44F1-B8EE-732F482C8EFA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548D22A1-0BF1-41EA-8EFD-A527451BA095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5219700" cy="325755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-8">
            <a:extLst>
              <a:ext uri="{FF2B5EF4-FFF2-40B4-BE49-F238E27FC236}">
                <a16:creationId xmlns:a16="http://schemas.microsoft.com/office/drawing/2014/main" id="{C65CDEF1-E68C-47CE-BFDE-D66F55F65BB0}"/>
              </a:ext>
            </a:extLst>
          </p:cNvPr>
          <p:cNvSpPr>
            <a:spLocks noGrp="1"/>
          </p:cNvSpPr>
          <p:nvPr/>
        </p:nvSpPr>
        <p:spPr>
          <a:xfrm>
            <a:off x="6153150" y="2162175"/>
            <a:ext cx="5429250" cy="32575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24A184F5-2D98-45C6-B210-E22E90268E0E}"/>
              </a:ext>
            </a:extLst>
          </p:cNvPr>
          <p:cNvSpPr>
            <a:spLocks noGrp="1"/>
          </p:cNvSpPr>
          <p:nvPr/>
        </p:nvSpPr>
        <p:spPr>
          <a:xfrm>
            <a:off x="857250" y="2352675"/>
            <a:ext cx="472440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ツールが担うこと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11EA69E1-FBC1-4329-ADD8-CA5F51906AAA}"/>
              </a:ext>
            </a:extLst>
          </p:cNvPr>
          <p:cNvSpPr>
            <a:spLocks noGrp="1"/>
          </p:cNvSpPr>
          <p:nvPr/>
        </p:nvSpPr>
        <p:spPr>
          <a:xfrm>
            <a:off x="6419850" y="2352675"/>
            <a:ext cx="48958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評価者が担うこと</a:t>
            </a:r>
          </a:p>
        </p:txBody>
      </p:sp>
      <p:sp>
        <p:nvSpPr>
          <p:cNvPr id="13" name="shape-11">
            <a:extLst>
              <a:ext uri="{FF2B5EF4-FFF2-40B4-BE49-F238E27FC236}">
                <a16:creationId xmlns:a16="http://schemas.microsoft.com/office/drawing/2014/main" id="{D4E8C718-618E-4A39-9D37-289631200DFC}"/>
              </a:ext>
            </a:extLst>
          </p:cNvPr>
          <p:cNvSpPr>
            <a:spLocks noGrp="1"/>
          </p:cNvSpPr>
          <p:nvPr/>
        </p:nvSpPr>
        <p:spPr>
          <a:xfrm>
            <a:off x="925830" y="310705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DE2B56E1-D220-4C34-82B1-61FC683F3CCF}"/>
              </a:ext>
            </a:extLst>
          </p:cNvPr>
          <p:cNvSpPr>
            <a:spLocks noGrp="1"/>
          </p:cNvSpPr>
          <p:nvPr/>
        </p:nvSpPr>
        <p:spPr>
          <a:xfrm>
            <a:off x="1085850" y="2933700"/>
            <a:ext cx="449580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指定の帯・文字を探す</a:t>
            </a:r>
          </a:p>
        </p:txBody>
      </p:sp>
      <p:sp>
        <p:nvSpPr>
          <p:cNvPr id="15" name="shape-13">
            <a:extLst>
              <a:ext uri="{FF2B5EF4-FFF2-40B4-BE49-F238E27FC236}">
                <a16:creationId xmlns:a16="http://schemas.microsoft.com/office/drawing/2014/main" id="{4DFCA206-BB66-4540-94EE-D1F37633F07A}"/>
              </a:ext>
            </a:extLst>
          </p:cNvPr>
          <p:cNvSpPr>
            <a:spLocks noGrp="1"/>
          </p:cNvSpPr>
          <p:nvPr/>
        </p:nvSpPr>
        <p:spPr>
          <a:xfrm>
            <a:off x="925830" y="3649980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F4F8F93F-4B55-4A0C-AA5A-DBB6A71BDB84}"/>
              </a:ext>
            </a:extLst>
          </p:cNvPr>
          <p:cNvSpPr>
            <a:spLocks noGrp="1"/>
          </p:cNvSpPr>
          <p:nvPr/>
        </p:nvSpPr>
        <p:spPr>
          <a:xfrm>
            <a:off x="1085850" y="3476625"/>
            <a:ext cx="449580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条件に沿って値を選ぶ</a:t>
            </a:r>
          </a:p>
        </p:txBody>
      </p:sp>
      <p:sp>
        <p:nvSpPr>
          <p:cNvPr id="17" name="shape-15">
            <a:extLst>
              <a:ext uri="{FF2B5EF4-FFF2-40B4-BE49-F238E27FC236}">
                <a16:creationId xmlns:a16="http://schemas.microsoft.com/office/drawing/2014/main" id="{792F8CD6-BAF6-47B4-A4ED-66BFC569F6D7}"/>
              </a:ext>
            </a:extLst>
          </p:cNvPr>
          <p:cNvSpPr>
            <a:spLocks noGrp="1"/>
          </p:cNvSpPr>
          <p:nvPr/>
        </p:nvSpPr>
        <p:spPr>
          <a:xfrm>
            <a:off x="925830" y="419290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C7C32983-2F83-4364-A6E3-EA4D162DC348}"/>
              </a:ext>
            </a:extLst>
          </p:cNvPr>
          <p:cNvSpPr>
            <a:spLocks noGrp="1"/>
          </p:cNvSpPr>
          <p:nvPr/>
        </p:nvSpPr>
        <p:spPr>
          <a:xfrm>
            <a:off x="1085850" y="4019550"/>
            <a:ext cx="449580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15欄へ転記する</a:t>
            </a:r>
          </a:p>
        </p:txBody>
      </p:sp>
      <p:sp>
        <p:nvSpPr>
          <p:cNvPr id="19" name="shape-17">
            <a:extLst>
              <a:ext uri="{FF2B5EF4-FFF2-40B4-BE49-F238E27FC236}">
                <a16:creationId xmlns:a16="http://schemas.microsoft.com/office/drawing/2014/main" id="{9FC51D74-273C-4B70-A6C7-3ADEEF2D0A35}"/>
              </a:ext>
            </a:extLst>
          </p:cNvPr>
          <p:cNvSpPr>
            <a:spLocks noGrp="1"/>
          </p:cNvSpPr>
          <p:nvPr/>
        </p:nvSpPr>
        <p:spPr>
          <a:xfrm>
            <a:off x="925830" y="4735830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DA71832B-0981-4E5D-BEB7-121D3D94441A}"/>
              </a:ext>
            </a:extLst>
          </p:cNvPr>
          <p:cNvSpPr>
            <a:spLocks noGrp="1"/>
          </p:cNvSpPr>
          <p:nvPr/>
        </p:nvSpPr>
        <p:spPr>
          <a:xfrm>
            <a:off x="1085850" y="4562475"/>
            <a:ext cx="449580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帳票の既存数式へ渡す</a:t>
            </a:r>
          </a:p>
        </p:txBody>
      </p:sp>
      <p:sp>
        <p:nvSpPr>
          <p:cNvPr id="21" name="shape-19">
            <a:extLst>
              <a:ext uri="{FF2B5EF4-FFF2-40B4-BE49-F238E27FC236}">
                <a16:creationId xmlns:a16="http://schemas.microsoft.com/office/drawing/2014/main" id="{60CDE086-F382-47CE-9325-AA76CC7A6C83}"/>
              </a:ext>
            </a:extLst>
          </p:cNvPr>
          <p:cNvSpPr>
            <a:spLocks noGrp="1"/>
          </p:cNvSpPr>
          <p:nvPr/>
        </p:nvSpPr>
        <p:spPr>
          <a:xfrm>
            <a:off x="6488430" y="310705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-20">
            <a:extLst>
              <a:ext uri="{FF2B5EF4-FFF2-40B4-BE49-F238E27FC236}">
                <a16:creationId xmlns:a16="http://schemas.microsoft.com/office/drawing/2014/main" id="{DD8B2A34-4CE8-4D27-9D70-DCF319569B83}"/>
              </a:ext>
            </a:extLst>
          </p:cNvPr>
          <p:cNvSpPr>
            <a:spLocks noGrp="1"/>
          </p:cNvSpPr>
          <p:nvPr/>
        </p:nvSpPr>
        <p:spPr>
          <a:xfrm>
            <a:off x="6648450" y="2933700"/>
            <a:ext cx="46672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元図と抽出値を照合する</a:t>
            </a:r>
          </a:p>
        </p:txBody>
      </p:sp>
      <p:sp>
        <p:nvSpPr>
          <p:cNvPr id="23" name="shape-21">
            <a:extLst>
              <a:ext uri="{FF2B5EF4-FFF2-40B4-BE49-F238E27FC236}">
                <a16:creationId xmlns:a16="http://schemas.microsoft.com/office/drawing/2014/main" id="{6599D960-206D-4431-81B4-737887922BCF}"/>
              </a:ext>
            </a:extLst>
          </p:cNvPr>
          <p:cNvSpPr>
            <a:spLocks noGrp="1"/>
          </p:cNvSpPr>
          <p:nvPr/>
        </p:nvSpPr>
        <p:spPr>
          <a:xfrm>
            <a:off x="6488430" y="3649980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3B2D6786-66D3-4601-8922-7F5DEB484DF7}"/>
              </a:ext>
            </a:extLst>
          </p:cNvPr>
          <p:cNvSpPr>
            <a:spLocks noGrp="1"/>
          </p:cNvSpPr>
          <p:nvPr/>
        </p:nvSpPr>
        <p:spPr>
          <a:xfrm>
            <a:off x="6648450" y="3476625"/>
            <a:ext cx="46672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設計速度・道路区分を確認する</a:t>
            </a:r>
          </a:p>
        </p:txBody>
      </p:sp>
      <p:sp>
        <p:nvSpPr>
          <p:cNvPr id="25" name="shape-23">
            <a:extLst>
              <a:ext uri="{FF2B5EF4-FFF2-40B4-BE49-F238E27FC236}">
                <a16:creationId xmlns:a16="http://schemas.microsoft.com/office/drawing/2014/main" id="{5D2EF955-5219-4B6A-8B24-3863399939B5}"/>
              </a:ext>
            </a:extLst>
          </p:cNvPr>
          <p:cNvSpPr>
            <a:spLocks noGrp="1"/>
          </p:cNvSpPr>
          <p:nvPr/>
        </p:nvSpPr>
        <p:spPr>
          <a:xfrm>
            <a:off x="6488430" y="419290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A97D9626-DB4B-4605-861A-894D0215F94C}"/>
              </a:ext>
            </a:extLst>
          </p:cNvPr>
          <p:cNvSpPr>
            <a:spLocks noGrp="1"/>
          </p:cNvSpPr>
          <p:nvPr/>
        </p:nvSpPr>
        <p:spPr>
          <a:xfrm>
            <a:off x="6648450" y="4019550"/>
            <a:ext cx="46672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未取得・未対応欄を補う</a:t>
            </a:r>
          </a:p>
        </p:txBody>
      </p:sp>
      <p:sp>
        <p:nvSpPr>
          <p:cNvPr id="27" name="shape-25">
            <a:extLst>
              <a:ext uri="{FF2B5EF4-FFF2-40B4-BE49-F238E27FC236}">
                <a16:creationId xmlns:a16="http://schemas.microsoft.com/office/drawing/2014/main" id="{F44B86B9-1421-4922-8AF9-22F5C026C357}"/>
              </a:ext>
            </a:extLst>
          </p:cNvPr>
          <p:cNvSpPr>
            <a:spLocks noGrp="1"/>
          </p:cNvSpPr>
          <p:nvPr/>
        </p:nvSpPr>
        <p:spPr>
          <a:xfrm>
            <a:off x="6488430" y="4735830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1060AB9C-3A42-42F8-84BB-488CB2D68D46}"/>
              </a:ext>
            </a:extLst>
          </p:cNvPr>
          <p:cNvSpPr>
            <a:spLocks noGrp="1"/>
          </p:cNvSpPr>
          <p:nvPr/>
        </p:nvSpPr>
        <p:spPr>
          <a:xfrm>
            <a:off x="6648450" y="4562475"/>
            <a:ext cx="46672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適用基準と最終の採否を判断する</a:t>
            </a:r>
          </a:p>
        </p:txBody>
      </p:sp>
      <p:sp>
        <p:nvSpPr>
          <p:cNvPr id="29" name="shape-27">
            <a:extLst>
              <a:ext uri="{FF2B5EF4-FFF2-40B4-BE49-F238E27FC236}">
                <a16:creationId xmlns:a16="http://schemas.microsoft.com/office/drawing/2014/main" id="{40D235DD-AB3B-4063-87A2-069E755D0231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38CDBE83-11FF-426C-A7D1-F2A43A87E724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「抽出値」「参考判定」「最終照査」を、別の確認として扱う</a:t>
            </a:r>
          </a:p>
        </p:txBody>
      </p:sp>
      <p:sp>
        <p:nvSpPr>
          <p:cNvPr id="32" name="shape-3">
            <a:extLst>
              <a:ext uri="{FF2B5EF4-FFF2-40B4-BE49-F238E27FC236}">
                <a16:creationId xmlns:a16="http://schemas.microsoft.com/office/drawing/2014/main" id="{A9EEED91-2ADF-5DFB-8114-DEC7378A725B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6473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kicker-marker">
            <a:extLst>
              <a:ext uri="{FF2B5EF4-FFF2-40B4-BE49-F238E27FC236}">
                <a16:creationId xmlns:a16="http://schemas.microsoft.com/office/drawing/2014/main" id="{3A771EDE-7681-4CEB-9DC1-0248E37F1C9F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ED7F2E59-D9DF-4C46-926C-DDAD56D928AB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03  AUTOMATION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629DB1ED-0445-49C7-9EAA-69F5062813C0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探す・選ぶ・転記する、3つの作業を自動化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E315FCA9-A1FD-4CF5-BAC1-3A092E00F34F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図面の文字と位置関係を、決められた規則で読み取ります。数値は説明用の例です。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E53E09A0-5B7C-4217-8940-5095D25A98C0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文字と位置を手掛かりに候補を選び、規則に沿って数値を帳票へ転記します。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C021EA91-7AD7-4BBE-8A0C-360B5185B8F9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C23AEFB5-686C-4FB1-BAEB-B489C886D56C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323850" cy="32385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C75070EA-EF94-46D3-88C4-B1DA281514B1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323850" cy="3238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6A239307-6522-4573-B129-7AC97B861731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327660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対象を探す</a:t>
            </a:r>
          </a:p>
        </p:txBody>
      </p:sp>
      <p:sp>
        <p:nvSpPr>
          <p:cNvPr id="12" name="shape-10">
            <a:extLst>
              <a:ext uri="{FF2B5EF4-FFF2-40B4-BE49-F238E27FC236}">
                <a16:creationId xmlns:a16="http://schemas.microsoft.com/office/drawing/2014/main" id="{FE44D96C-AFB4-4E60-9167-38CF51F72F3F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3276600" cy="190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-11">
            <a:extLst>
              <a:ext uri="{FF2B5EF4-FFF2-40B4-BE49-F238E27FC236}">
                <a16:creationId xmlns:a16="http://schemas.microsoft.com/office/drawing/2014/main" id="{825D942E-5BF6-4202-B8E7-CAE14E5C45AE}"/>
              </a:ext>
            </a:extLst>
          </p:cNvPr>
          <p:cNvSpPr>
            <a:spLocks noGrp="1"/>
          </p:cNvSpPr>
          <p:nvPr/>
        </p:nvSpPr>
        <p:spPr>
          <a:xfrm>
            <a:off x="4457700" y="2162175"/>
            <a:ext cx="323850" cy="32385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BC85A856-24C8-47A1-979A-D90E0B92950A}"/>
              </a:ext>
            </a:extLst>
          </p:cNvPr>
          <p:cNvSpPr>
            <a:spLocks noGrp="1"/>
          </p:cNvSpPr>
          <p:nvPr/>
        </p:nvSpPr>
        <p:spPr>
          <a:xfrm>
            <a:off x="4457700" y="2162175"/>
            <a:ext cx="323850" cy="3238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1F027EF3-D420-4E72-A6E9-4F581AF03B34}"/>
              </a:ext>
            </a:extLst>
          </p:cNvPr>
          <p:cNvSpPr>
            <a:spLocks noGrp="1"/>
          </p:cNvSpPr>
          <p:nvPr/>
        </p:nvSpPr>
        <p:spPr>
          <a:xfrm>
            <a:off x="4457700" y="2667000"/>
            <a:ext cx="327660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値を読み取り、選ぶ</a:t>
            </a:r>
          </a:p>
        </p:txBody>
      </p:sp>
      <p:sp>
        <p:nvSpPr>
          <p:cNvPr id="16" name="shape-14">
            <a:extLst>
              <a:ext uri="{FF2B5EF4-FFF2-40B4-BE49-F238E27FC236}">
                <a16:creationId xmlns:a16="http://schemas.microsoft.com/office/drawing/2014/main" id="{0D1622EC-0406-46DD-A559-3D4CE99D162F}"/>
              </a:ext>
            </a:extLst>
          </p:cNvPr>
          <p:cNvSpPr>
            <a:spLocks noGrp="1"/>
          </p:cNvSpPr>
          <p:nvPr/>
        </p:nvSpPr>
        <p:spPr>
          <a:xfrm>
            <a:off x="4457700" y="5314950"/>
            <a:ext cx="3276600" cy="190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-15">
            <a:extLst>
              <a:ext uri="{FF2B5EF4-FFF2-40B4-BE49-F238E27FC236}">
                <a16:creationId xmlns:a16="http://schemas.microsoft.com/office/drawing/2014/main" id="{7C762D9C-1F25-4066-BDF1-149400F48649}"/>
              </a:ext>
            </a:extLst>
          </p:cNvPr>
          <p:cNvSpPr>
            <a:spLocks noGrp="1"/>
          </p:cNvSpPr>
          <p:nvPr/>
        </p:nvSpPr>
        <p:spPr>
          <a:xfrm>
            <a:off x="8305800" y="2162175"/>
            <a:ext cx="323850" cy="32385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3BDDD21E-C14E-4E41-855E-6CC6185418AC}"/>
              </a:ext>
            </a:extLst>
          </p:cNvPr>
          <p:cNvSpPr>
            <a:spLocks noGrp="1"/>
          </p:cNvSpPr>
          <p:nvPr/>
        </p:nvSpPr>
        <p:spPr>
          <a:xfrm>
            <a:off x="8305800" y="2162175"/>
            <a:ext cx="323850" cy="3238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9" name="text-17">
            <a:extLst>
              <a:ext uri="{FF2B5EF4-FFF2-40B4-BE49-F238E27FC236}">
                <a16:creationId xmlns:a16="http://schemas.microsoft.com/office/drawing/2014/main" id="{4F444BEA-B6BB-43AB-A15F-8F5BDD7F697F}"/>
              </a:ext>
            </a:extLst>
          </p:cNvPr>
          <p:cNvSpPr>
            <a:spLocks noGrp="1"/>
          </p:cNvSpPr>
          <p:nvPr/>
        </p:nvSpPr>
        <p:spPr>
          <a:xfrm>
            <a:off x="8305800" y="2667000"/>
            <a:ext cx="327660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帳票へ反映</a:t>
            </a:r>
          </a:p>
        </p:txBody>
      </p:sp>
      <p:sp>
        <p:nvSpPr>
          <p:cNvPr id="20" name="shape-18">
            <a:extLst>
              <a:ext uri="{FF2B5EF4-FFF2-40B4-BE49-F238E27FC236}">
                <a16:creationId xmlns:a16="http://schemas.microsoft.com/office/drawing/2014/main" id="{D3F1D640-EAB7-4ACA-AED5-4D67E3AF7D74}"/>
              </a:ext>
            </a:extLst>
          </p:cNvPr>
          <p:cNvSpPr>
            <a:spLocks noGrp="1"/>
          </p:cNvSpPr>
          <p:nvPr/>
        </p:nvSpPr>
        <p:spPr>
          <a:xfrm>
            <a:off x="8305800" y="5314950"/>
            <a:ext cx="3276600" cy="190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-19">
            <a:extLst>
              <a:ext uri="{FF2B5EF4-FFF2-40B4-BE49-F238E27FC236}">
                <a16:creationId xmlns:a16="http://schemas.microsoft.com/office/drawing/2014/main" id="{62BCF1FB-632B-418F-A493-29991A02FA24}"/>
              </a:ext>
            </a:extLst>
          </p:cNvPr>
          <p:cNvSpPr>
            <a:spLocks noGrp="1"/>
          </p:cNvSpPr>
          <p:nvPr/>
        </p:nvSpPr>
        <p:spPr>
          <a:xfrm>
            <a:off x="609600" y="3438525"/>
            <a:ext cx="3276600" cy="933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-20">
            <a:extLst>
              <a:ext uri="{FF2B5EF4-FFF2-40B4-BE49-F238E27FC236}">
                <a16:creationId xmlns:a16="http://schemas.microsoft.com/office/drawing/2014/main" id="{922BE82E-A599-42B1-AB37-659572606947}"/>
              </a:ext>
            </a:extLst>
          </p:cNvPr>
          <p:cNvSpPr>
            <a:spLocks noGrp="1"/>
          </p:cNvSpPr>
          <p:nvPr/>
        </p:nvSpPr>
        <p:spPr>
          <a:xfrm>
            <a:off x="609600" y="3438525"/>
            <a:ext cx="1143000" cy="9334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18737C3E-8E2F-44D6-BF7E-B4F6C40BE03F}"/>
              </a:ext>
            </a:extLst>
          </p:cNvPr>
          <p:cNvSpPr>
            <a:spLocks noGrp="1"/>
          </p:cNvSpPr>
          <p:nvPr/>
        </p:nvSpPr>
        <p:spPr>
          <a:xfrm>
            <a:off x="723900" y="3438525"/>
            <a:ext cx="933450" cy="9334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9717BA38-6D6B-45B5-9D77-8A356E06390D}"/>
              </a:ext>
            </a:extLst>
          </p:cNvPr>
          <p:cNvSpPr>
            <a:spLocks noGrp="1"/>
          </p:cNvSpPr>
          <p:nvPr/>
        </p:nvSpPr>
        <p:spPr>
          <a:xfrm>
            <a:off x="1924050" y="3571875"/>
            <a:ext cx="186690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R=200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3609CF5F-2349-4479-BF8D-898426B7C08D}"/>
              </a:ext>
            </a:extLst>
          </p:cNvPr>
          <p:cNvSpPr>
            <a:spLocks noGrp="1"/>
          </p:cNvSpPr>
          <p:nvPr/>
        </p:nvSpPr>
        <p:spPr>
          <a:xfrm>
            <a:off x="1924050" y="3905250"/>
            <a:ext cx="186690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L=80</a:t>
            </a:r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337910C2-A7F8-47D9-88A1-3FD1804A1BE0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3276600" cy="285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レイヤー・帯タイトル</a:t>
            </a:r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E8F1254A-23E0-4A7E-82A1-DA15D32C950B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3276600" cy="285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上下の罫線</a:t>
            </a: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881C2C93-55CF-484E-AE2F-5F19372506ED}"/>
              </a:ext>
            </a:extLst>
          </p:cNvPr>
          <p:cNvSpPr>
            <a:spLocks noGrp="1"/>
          </p:cNvSpPr>
          <p:nvPr/>
        </p:nvSpPr>
        <p:spPr>
          <a:xfrm>
            <a:off x="4457700" y="3381375"/>
            <a:ext cx="3276600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R=200  /  R=100</a:t>
            </a:r>
          </a:p>
        </p:txBody>
      </p:sp>
      <p:sp>
        <p:nvSpPr>
          <p:cNvPr id="29" name="shape-27">
            <a:extLst>
              <a:ext uri="{FF2B5EF4-FFF2-40B4-BE49-F238E27FC236}">
                <a16:creationId xmlns:a16="http://schemas.microsoft.com/office/drawing/2014/main" id="{6AA7A89D-D464-411E-9A07-3FA39D247C68}"/>
              </a:ext>
            </a:extLst>
          </p:cNvPr>
          <p:cNvSpPr>
            <a:spLocks noGrp="1"/>
          </p:cNvSpPr>
          <p:nvPr/>
        </p:nvSpPr>
        <p:spPr>
          <a:xfrm>
            <a:off x="5838825" y="3914775"/>
            <a:ext cx="171450" cy="276225"/>
          </a:xfrm>
          <a:prstGeom prst="down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AE5DEFE6-B77B-4304-BECE-63670643AD24}"/>
              </a:ext>
            </a:extLst>
          </p:cNvPr>
          <p:cNvSpPr>
            <a:spLocks noGrp="1"/>
          </p:cNvSpPr>
          <p:nvPr/>
        </p:nvSpPr>
        <p:spPr>
          <a:xfrm>
            <a:off x="4457700" y="4314825"/>
            <a:ext cx="3276600" cy="4762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最小半径 100</a:t>
            </a:r>
          </a:p>
        </p:txBody>
      </p:sp>
      <p:sp>
        <p:nvSpPr>
          <p:cNvPr id="31" name="text-29">
            <a:extLst>
              <a:ext uri="{FF2B5EF4-FFF2-40B4-BE49-F238E27FC236}">
                <a16:creationId xmlns:a16="http://schemas.microsoft.com/office/drawing/2014/main" id="{0E77EE4E-4B4B-4F65-BC68-C1C0EBC1309D}"/>
              </a:ext>
            </a:extLst>
          </p:cNvPr>
          <p:cNvSpPr>
            <a:spLocks noGrp="1"/>
          </p:cNvSpPr>
          <p:nvPr/>
        </p:nvSpPr>
        <p:spPr>
          <a:xfrm>
            <a:off x="4457700" y="4895850"/>
            <a:ext cx="3276600" cy="285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候補と条件から採用</a:t>
            </a:r>
          </a:p>
        </p:txBody>
      </p:sp>
      <p:sp>
        <p:nvSpPr>
          <p:cNvPr id="32" name="shape-30">
            <a:extLst>
              <a:ext uri="{FF2B5EF4-FFF2-40B4-BE49-F238E27FC236}">
                <a16:creationId xmlns:a16="http://schemas.microsoft.com/office/drawing/2014/main" id="{EDD51CB1-1B38-4294-998C-B874B16E2246}"/>
              </a:ext>
            </a:extLst>
          </p:cNvPr>
          <p:cNvSpPr>
            <a:spLocks noGrp="1"/>
          </p:cNvSpPr>
          <p:nvPr/>
        </p:nvSpPr>
        <p:spPr>
          <a:xfrm>
            <a:off x="8305800" y="3333750"/>
            <a:ext cx="3276600" cy="1552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-31">
            <a:extLst>
              <a:ext uri="{FF2B5EF4-FFF2-40B4-BE49-F238E27FC236}">
                <a16:creationId xmlns:a16="http://schemas.microsoft.com/office/drawing/2014/main" id="{34516E8E-33EB-446A-878A-DE4EEE210B24}"/>
              </a:ext>
            </a:extLst>
          </p:cNvPr>
          <p:cNvSpPr>
            <a:spLocks noGrp="1"/>
          </p:cNvSpPr>
          <p:nvPr/>
        </p:nvSpPr>
        <p:spPr>
          <a:xfrm>
            <a:off x="8305800" y="3333750"/>
            <a:ext cx="3276600" cy="2667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-32">
            <a:extLst>
              <a:ext uri="{FF2B5EF4-FFF2-40B4-BE49-F238E27FC236}">
                <a16:creationId xmlns:a16="http://schemas.microsoft.com/office/drawing/2014/main" id="{627D23B3-838F-4E74-B1B9-8B2FAD95FF93}"/>
              </a:ext>
            </a:extLst>
          </p:cNvPr>
          <p:cNvSpPr>
            <a:spLocks noGrp="1"/>
          </p:cNvSpPr>
          <p:nvPr/>
        </p:nvSpPr>
        <p:spPr>
          <a:xfrm>
            <a:off x="8305800" y="4029075"/>
            <a:ext cx="32766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-33">
            <a:extLst>
              <a:ext uri="{FF2B5EF4-FFF2-40B4-BE49-F238E27FC236}">
                <a16:creationId xmlns:a16="http://schemas.microsoft.com/office/drawing/2014/main" id="{764BE791-F008-4070-8630-F0F522D143A1}"/>
              </a:ext>
            </a:extLst>
          </p:cNvPr>
          <p:cNvSpPr>
            <a:spLocks noGrp="1"/>
          </p:cNvSpPr>
          <p:nvPr/>
        </p:nvSpPr>
        <p:spPr>
          <a:xfrm>
            <a:off x="8305800" y="4457700"/>
            <a:ext cx="32766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-34">
            <a:extLst>
              <a:ext uri="{FF2B5EF4-FFF2-40B4-BE49-F238E27FC236}">
                <a16:creationId xmlns:a16="http://schemas.microsoft.com/office/drawing/2014/main" id="{4BC8D2E0-0EE2-4B6F-9B62-24A516D45E17}"/>
              </a:ext>
            </a:extLst>
          </p:cNvPr>
          <p:cNvSpPr>
            <a:spLocks noGrp="1"/>
          </p:cNvSpPr>
          <p:nvPr/>
        </p:nvSpPr>
        <p:spPr>
          <a:xfrm>
            <a:off x="8305800" y="4886325"/>
            <a:ext cx="32766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-35">
            <a:extLst>
              <a:ext uri="{FF2B5EF4-FFF2-40B4-BE49-F238E27FC236}">
                <a16:creationId xmlns:a16="http://schemas.microsoft.com/office/drawing/2014/main" id="{FBEB9187-E9C6-4961-8CAD-64B1F6747557}"/>
              </a:ext>
            </a:extLst>
          </p:cNvPr>
          <p:cNvSpPr>
            <a:spLocks noGrp="1"/>
          </p:cNvSpPr>
          <p:nvPr/>
        </p:nvSpPr>
        <p:spPr>
          <a:xfrm>
            <a:off x="10435590" y="3333750"/>
            <a:ext cx="9525" cy="155257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-36">
            <a:extLst>
              <a:ext uri="{FF2B5EF4-FFF2-40B4-BE49-F238E27FC236}">
                <a16:creationId xmlns:a16="http://schemas.microsoft.com/office/drawing/2014/main" id="{7FA0AE0C-C0B0-4F6E-A9E5-E0F726803A1F}"/>
              </a:ext>
            </a:extLst>
          </p:cNvPr>
          <p:cNvSpPr>
            <a:spLocks noGrp="1"/>
          </p:cNvSpPr>
          <p:nvPr/>
        </p:nvSpPr>
        <p:spPr>
          <a:xfrm>
            <a:off x="8401050" y="3333750"/>
            <a:ext cx="1965960" cy="2667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項目</a:t>
            </a:r>
          </a:p>
        </p:txBody>
      </p:sp>
      <p:sp>
        <p:nvSpPr>
          <p:cNvPr id="39" name="text-37">
            <a:extLst>
              <a:ext uri="{FF2B5EF4-FFF2-40B4-BE49-F238E27FC236}">
                <a16:creationId xmlns:a16="http://schemas.microsoft.com/office/drawing/2014/main" id="{4CC84CE4-1324-4D89-A176-E9D129E91660}"/>
              </a:ext>
            </a:extLst>
          </p:cNvPr>
          <p:cNvSpPr>
            <a:spLocks noGrp="1"/>
          </p:cNvSpPr>
          <p:nvPr/>
        </p:nvSpPr>
        <p:spPr>
          <a:xfrm>
            <a:off x="10501122" y="3333750"/>
            <a:ext cx="982980" cy="2667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使用値</a:t>
            </a:r>
          </a:p>
        </p:txBody>
      </p:sp>
      <p:sp>
        <p:nvSpPr>
          <p:cNvPr id="40" name="text-38">
            <a:extLst>
              <a:ext uri="{FF2B5EF4-FFF2-40B4-BE49-F238E27FC236}">
                <a16:creationId xmlns:a16="http://schemas.microsoft.com/office/drawing/2014/main" id="{1665B5FA-63A1-474C-BC6B-4BCB4F6A3512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3276600" cy="285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テンプレートの使用値へ転記</a:t>
            </a:r>
          </a:p>
        </p:txBody>
      </p:sp>
      <p:sp>
        <p:nvSpPr>
          <p:cNvPr id="41" name="shape-39">
            <a:extLst>
              <a:ext uri="{FF2B5EF4-FFF2-40B4-BE49-F238E27FC236}">
                <a16:creationId xmlns:a16="http://schemas.microsoft.com/office/drawing/2014/main" id="{F4B3D730-7334-4F82-9521-4E0CF464EABE}"/>
              </a:ext>
            </a:extLst>
          </p:cNvPr>
          <p:cNvSpPr>
            <a:spLocks noGrp="1"/>
          </p:cNvSpPr>
          <p:nvPr/>
        </p:nvSpPr>
        <p:spPr>
          <a:xfrm>
            <a:off x="4067175" y="3724275"/>
            <a:ext cx="24765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-40">
            <a:extLst>
              <a:ext uri="{FF2B5EF4-FFF2-40B4-BE49-F238E27FC236}">
                <a16:creationId xmlns:a16="http://schemas.microsoft.com/office/drawing/2014/main" id="{4C539CB6-A354-417F-A63E-6D55DE8EBA2D}"/>
              </a:ext>
            </a:extLst>
          </p:cNvPr>
          <p:cNvSpPr>
            <a:spLocks noGrp="1"/>
          </p:cNvSpPr>
          <p:nvPr/>
        </p:nvSpPr>
        <p:spPr>
          <a:xfrm>
            <a:off x="7915275" y="3724275"/>
            <a:ext cx="24765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-41">
            <a:extLst>
              <a:ext uri="{FF2B5EF4-FFF2-40B4-BE49-F238E27FC236}">
                <a16:creationId xmlns:a16="http://schemas.microsoft.com/office/drawing/2014/main" id="{90067964-814B-4076-BB48-77303B48A6A3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-42">
            <a:extLst>
              <a:ext uri="{FF2B5EF4-FFF2-40B4-BE49-F238E27FC236}">
                <a16:creationId xmlns:a16="http://schemas.microsoft.com/office/drawing/2014/main" id="{0789EA35-3993-48AB-9C28-0CFF1D674771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繰り返しの探索と転記を支援し、評価者が照合に集中できる形へ</a:t>
            </a:r>
          </a:p>
        </p:txBody>
      </p:sp>
      <p:sp>
        <p:nvSpPr>
          <p:cNvPr id="46" name="shape-3">
            <a:extLst>
              <a:ext uri="{FF2B5EF4-FFF2-40B4-BE49-F238E27FC236}">
                <a16:creationId xmlns:a16="http://schemas.microsoft.com/office/drawing/2014/main" id="{9927D3E2-4C50-B399-A202-6DBE11397492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8140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kicker-marker">
            <a:extLst>
              <a:ext uri="{FF2B5EF4-FFF2-40B4-BE49-F238E27FC236}">
                <a16:creationId xmlns:a16="http://schemas.microsoft.com/office/drawing/2014/main" id="{12652AFB-152C-4E71-8E0D-5D11C62A8ED9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BB6FB1C7-F7E1-4AEF-B682-F3B6BEDD4FBD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04  OPERATION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C2B60004-3A72-4F33-900A-1C6612B0C7E0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日常操作は、配置 → 実行 → 結果確認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F05650E7-9859-4E6F-9507-FA71400E1315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input直下のDXFをまとめて処理し、DXFごとのExcelを作成します。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84D945E8-356C-4E22-846F-77CEAE262280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input直下のDXFが対象です。処理後は出力Excel・元図・ログを照合してください。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E3DFF026-2913-4F4A-8B81-CCCD18F3A986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E69DCC56-16F8-4AC4-B224-38118BBA87FB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323850" cy="32385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0C9546C3-AB89-4FD9-9D52-122FFF9EC664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323850" cy="3238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D8189BFC-07E0-4F40-A480-C2FCDA517115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327660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input に配置</a:t>
            </a:r>
          </a:p>
        </p:txBody>
      </p:sp>
      <p:sp>
        <p:nvSpPr>
          <p:cNvPr id="12" name="shape-10">
            <a:extLst>
              <a:ext uri="{FF2B5EF4-FFF2-40B4-BE49-F238E27FC236}">
                <a16:creationId xmlns:a16="http://schemas.microsoft.com/office/drawing/2014/main" id="{531E6472-589D-4E95-9E71-A0CEB4637BFB}"/>
              </a:ext>
            </a:extLst>
          </p:cNvPr>
          <p:cNvSpPr>
            <a:spLocks noGrp="1"/>
          </p:cNvSpPr>
          <p:nvPr/>
        </p:nvSpPr>
        <p:spPr>
          <a:xfrm>
            <a:off x="4457700" y="2181225"/>
            <a:ext cx="323850" cy="32385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D794E4BA-3721-4D5A-AD0B-0CD97A4BE9AB}"/>
              </a:ext>
            </a:extLst>
          </p:cNvPr>
          <p:cNvSpPr>
            <a:spLocks noGrp="1"/>
          </p:cNvSpPr>
          <p:nvPr/>
        </p:nvSpPr>
        <p:spPr>
          <a:xfrm>
            <a:off x="4457700" y="2181225"/>
            <a:ext cx="323850" cy="3238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778192C3-581B-41E3-8745-DEA34CC1D8FA}"/>
              </a:ext>
            </a:extLst>
          </p:cNvPr>
          <p:cNvSpPr>
            <a:spLocks noGrp="1"/>
          </p:cNvSpPr>
          <p:nvPr/>
        </p:nvSpPr>
        <p:spPr>
          <a:xfrm>
            <a:off x="4457700" y="2667000"/>
            <a:ext cx="327660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実行する</a:t>
            </a:r>
          </a:p>
        </p:txBody>
      </p:sp>
      <p:sp>
        <p:nvSpPr>
          <p:cNvPr id="15" name="shape-13">
            <a:extLst>
              <a:ext uri="{FF2B5EF4-FFF2-40B4-BE49-F238E27FC236}">
                <a16:creationId xmlns:a16="http://schemas.microsoft.com/office/drawing/2014/main" id="{3E2B0C78-91F5-4BD9-A738-471D661D9047}"/>
              </a:ext>
            </a:extLst>
          </p:cNvPr>
          <p:cNvSpPr>
            <a:spLocks noGrp="1"/>
          </p:cNvSpPr>
          <p:nvPr/>
        </p:nvSpPr>
        <p:spPr>
          <a:xfrm>
            <a:off x="8305800" y="2181225"/>
            <a:ext cx="323850" cy="32385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C09BCBBF-791B-436D-BB53-AA454DB87CFF}"/>
              </a:ext>
            </a:extLst>
          </p:cNvPr>
          <p:cNvSpPr>
            <a:spLocks noGrp="1"/>
          </p:cNvSpPr>
          <p:nvPr/>
        </p:nvSpPr>
        <p:spPr>
          <a:xfrm>
            <a:off x="8305800" y="2181225"/>
            <a:ext cx="323850" cy="3238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7" name="text-15">
            <a:extLst>
              <a:ext uri="{FF2B5EF4-FFF2-40B4-BE49-F238E27FC236}">
                <a16:creationId xmlns:a16="http://schemas.microsoft.com/office/drawing/2014/main" id="{2D937328-0675-43B8-B9EF-F27862C7B1A7}"/>
              </a:ext>
            </a:extLst>
          </p:cNvPr>
          <p:cNvSpPr>
            <a:spLocks noGrp="1"/>
          </p:cNvSpPr>
          <p:nvPr/>
        </p:nvSpPr>
        <p:spPr>
          <a:xfrm>
            <a:off x="8305800" y="2667000"/>
            <a:ext cx="327660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output を確認</a:t>
            </a:r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12271CCC-5FC5-428E-B0CE-A5A2E4728B80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3276600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input / *.dxf</a:t>
            </a:r>
          </a:p>
        </p:txBody>
      </p:sp>
      <p:sp>
        <p:nvSpPr>
          <p:cNvPr id="19" name="text-17">
            <a:extLst>
              <a:ext uri="{FF2B5EF4-FFF2-40B4-BE49-F238E27FC236}">
                <a16:creationId xmlns:a16="http://schemas.microsoft.com/office/drawing/2014/main" id="{F6DBA200-9A64-4C85-8531-7035050414B2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3276600" cy="3143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直下のDXFが対象</a:t>
            </a:r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5288360F-2E8B-47C7-AE81-45B494A2869F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3276600" cy="3143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サブフォルダは対象外</a:t>
            </a:r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B15282FA-A774-44E7-A588-40261C233C1F}"/>
              </a:ext>
            </a:extLst>
          </p:cNvPr>
          <p:cNvSpPr>
            <a:spLocks noGrp="1"/>
          </p:cNvSpPr>
          <p:nvPr/>
        </p:nvSpPr>
        <p:spPr>
          <a:xfrm>
            <a:off x="4457700" y="3352800"/>
            <a:ext cx="3276600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exe または 01_run.bat</a:t>
            </a:r>
          </a:p>
        </p:txBody>
      </p:sp>
      <p:sp>
        <p:nvSpPr>
          <p:cNvPr id="22" name="text-20">
            <a:extLst>
              <a:ext uri="{FF2B5EF4-FFF2-40B4-BE49-F238E27FC236}">
                <a16:creationId xmlns:a16="http://schemas.microsoft.com/office/drawing/2014/main" id="{39D00CAC-CC17-447C-A0FA-23690A11E204}"/>
              </a:ext>
            </a:extLst>
          </p:cNvPr>
          <p:cNvSpPr>
            <a:spLocks noGrp="1"/>
          </p:cNvSpPr>
          <p:nvPr/>
        </p:nvSpPr>
        <p:spPr>
          <a:xfrm>
            <a:off x="4457700" y="3924300"/>
            <a:ext cx="3276600" cy="3143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処理確認で OK</a:t>
            </a:r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D1849819-D540-4E35-97EE-4C68C7DDE326}"/>
              </a:ext>
            </a:extLst>
          </p:cNvPr>
          <p:cNvSpPr>
            <a:spLocks noGrp="1"/>
          </p:cNvSpPr>
          <p:nvPr/>
        </p:nvSpPr>
        <p:spPr>
          <a:xfrm>
            <a:off x="4457700" y="4238625"/>
            <a:ext cx="3276600" cy="3143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完了表示とログを確認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E84762D8-A324-4907-80D3-C9105746E081}"/>
              </a:ext>
            </a:extLst>
          </p:cNvPr>
          <p:cNvSpPr>
            <a:spLocks noGrp="1"/>
          </p:cNvSpPr>
          <p:nvPr/>
        </p:nvSpPr>
        <p:spPr>
          <a:xfrm>
            <a:off x="8305800" y="3352800"/>
            <a:ext cx="3276600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output / exec_日時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73CA952F-AEE6-413C-B5BD-7A9F9EC384A5}"/>
              </a:ext>
            </a:extLst>
          </p:cNvPr>
          <p:cNvSpPr>
            <a:spLocks noGrp="1"/>
          </p:cNvSpPr>
          <p:nvPr/>
        </p:nvSpPr>
        <p:spPr>
          <a:xfrm>
            <a:off x="8305800" y="3924300"/>
            <a:ext cx="3276600" cy="3143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DXFごとのExcel</a:t>
            </a:r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AAD70C6C-4AA9-45C5-9907-6DB05B475522}"/>
              </a:ext>
            </a:extLst>
          </p:cNvPr>
          <p:cNvSpPr>
            <a:spLocks noGrp="1"/>
          </p:cNvSpPr>
          <p:nvPr/>
        </p:nvSpPr>
        <p:spPr>
          <a:xfrm>
            <a:off x="8305800" y="4238625"/>
            <a:ext cx="3276600" cy="3143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抽出値と欠損を確認</a:t>
            </a:r>
          </a:p>
        </p:txBody>
      </p:sp>
      <p:sp>
        <p:nvSpPr>
          <p:cNvPr id="27" name="shape-25">
            <a:extLst>
              <a:ext uri="{FF2B5EF4-FFF2-40B4-BE49-F238E27FC236}">
                <a16:creationId xmlns:a16="http://schemas.microsoft.com/office/drawing/2014/main" id="{0974DA25-B703-42EA-A655-B2ECF3EAEFC0}"/>
              </a:ext>
            </a:extLst>
          </p:cNvPr>
          <p:cNvSpPr>
            <a:spLocks noGrp="1"/>
          </p:cNvSpPr>
          <p:nvPr/>
        </p:nvSpPr>
        <p:spPr>
          <a:xfrm>
            <a:off x="4019550" y="3571875"/>
            <a:ext cx="30480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-26">
            <a:extLst>
              <a:ext uri="{FF2B5EF4-FFF2-40B4-BE49-F238E27FC236}">
                <a16:creationId xmlns:a16="http://schemas.microsoft.com/office/drawing/2014/main" id="{A2C443DD-C416-4302-ACC8-3CEF6CB703DE}"/>
              </a:ext>
            </a:extLst>
          </p:cNvPr>
          <p:cNvSpPr>
            <a:spLocks noGrp="1"/>
          </p:cNvSpPr>
          <p:nvPr/>
        </p:nvSpPr>
        <p:spPr>
          <a:xfrm>
            <a:off x="7867650" y="3571875"/>
            <a:ext cx="30480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-27">
            <a:extLst>
              <a:ext uri="{FF2B5EF4-FFF2-40B4-BE49-F238E27FC236}">
                <a16:creationId xmlns:a16="http://schemas.microsoft.com/office/drawing/2014/main" id="{D026950D-5384-4EEE-A528-0531FA4789C4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252222F0-5BD2-485B-9462-A1E970997836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8859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Excel保存後</a:t>
            </a:r>
          </a:p>
        </p:txBody>
      </p:sp>
      <p:sp>
        <p:nvSpPr>
          <p:cNvPr id="31" name="shape-29">
            <a:extLst>
              <a:ext uri="{FF2B5EF4-FFF2-40B4-BE49-F238E27FC236}">
                <a16:creationId xmlns:a16="http://schemas.microsoft.com/office/drawing/2014/main" id="{11EA5B2F-67F7-4B2A-BAFA-80B4331028BE}"/>
              </a:ext>
            </a:extLst>
          </p:cNvPr>
          <p:cNvSpPr>
            <a:spLocks noGrp="1"/>
          </p:cNvSpPr>
          <p:nvPr/>
        </p:nvSpPr>
        <p:spPr>
          <a:xfrm>
            <a:off x="2667000" y="5400675"/>
            <a:ext cx="45720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-30">
            <a:extLst>
              <a:ext uri="{FF2B5EF4-FFF2-40B4-BE49-F238E27FC236}">
                <a16:creationId xmlns:a16="http://schemas.microsoft.com/office/drawing/2014/main" id="{52D4AAD6-3576-4DAF-9EED-A1A3FC9CF5F4}"/>
              </a:ext>
            </a:extLst>
          </p:cNvPr>
          <p:cNvSpPr>
            <a:spLocks noGrp="1"/>
          </p:cNvSpPr>
          <p:nvPr/>
        </p:nvSpPr>
        <p:spPr>
          <a:xfrm>
            <a:off x="3429000" y="5257800"/>
            <a:ext cx="4514850" cy="3429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F9D4DDA2-E7CF-4F8F-B95F-B8155CBFAEAC}"/>
              </a:ext>
            </a:extLst>
          </p:cNvPr>
          <p:cNvSpPr>
            <a:spLocks noGrp="1"/>
          </p:cNvSpPr>
          <p:nvPr/>
        </p:nvSpPr>
        <p:spPr>
          <a:xfrm>
            <a:off x="3543300" y="5257800"/>
            <a:ext cx="4286250" cy="3429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input / used_日時 へ移動</a:t>
            </a:r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34BEF125-E30C-4B93-B1F4-3B8AF6FD90F4}"/>
              </a:ext>
            </a:extLst>
          </p:cNvPr>
          <p:cNvSpPr>
            <a:spLocks noGrp="1"/>
          </p:cNvSpPr>
          <p:nvPr/>
        </p:nvSpPr>
        <p:spPr>
          <a:xfrm>
            <a:off x="8305800" y="5257800"/>
            <a:ext cx="327660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移動後も元図として照合</a:t>
            </a:r>
          </a:p>
        </p:txBody>
      </p:sp>
      <p:sp>
        <p:nvSpPr>
          <p:cNvPr id="35" name="shape-33">
            <a:extLst>
              <a:ext uri="{FF2B5EF4-FFF2-40B4-BE49-F238E27FC236}">
                <a16:creationId xmlns:a16="http://schemas.microsoft.com/office/drawing/2014/main" id="{7A2FF26E-B4D8-4061-B756-929DC50830F9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-34">
            <a:extLst>
              <a:ext uri="{FF2B5EF4-FFF2-40B4-BE49-F238E27FC236}">
                <a16:creationId xmlns:a16="http://schemas.microsoft.com/office/drawing/2014/main" id="{F2527C55-935E-499B-990E-F9544C16EF9B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usedへの移動は「全項目が正しく読めた」という保証ではない</a:t>
            </a:r>
          </a:p>
        </p:txBody>
      </p:sp>
      <p:sp>
        <p:nvSpPr>
          <p:cNvPr id="38" name="shape-3">
            <a:extLst>
              <a:ext uri="{FF2B5EF4-FFF2-40B4-BE49-F238E27FC236}">
                <a16:creationId xmlns:a16="http://schemas.microsoft.com/office/drawing/2014/main" id="{92153FED-5B67-E0AB-8EF9-7B422EA03294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63143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kicker-marker">
            <a:extLst>
              <a:ext uri="{FF2B5EF4-FFF2-40B4-BE49-F238E27FC236}">
                <a16:creationId xmlns:a16="http://schemas.microsoft.com/office/drawing/2014/main" id="{27918739-4E8F-4BB3-8281-CC5D2CEEC5EB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3730FAB9-14A2-436A-A547-0F42D82B2C80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05  PIPELINE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1262A4D9-540F-4AF4-883E-F3D043032DFE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文字と線を整えてから、4系統の値を抽出する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660AB558-A107-480A-9797-113797DEAF44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処理順は現行コードに対応。図面倍率を自動補正する工程はありません。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2197EB4C-B0CF-4E85-B774-A0FB353CFA18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線と文字の前処理後、曲率・片勾配・勾配・縦断曲線の順に値を取得します。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A3940E69-0CFA-45DF-9BBC-57C8AEA0C929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23A0701A-B926-4998-BCE7-2C4CBD848964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390650" cy="1600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1264BA30-8327-4A4F-9451-7AD7C956AC7B}"/>
              </a:ext>
            </a:extLst>
          </p:cNvPr>
          <p:cNvSpPr>
            <a:spLocks noGrp="1"/>
          </p:cNvSpPr>
          <p:nvPr/>
        </p:nvSpPr>
        <p:spPr>
          <a:xfrm>
            <a:off x="742950" y="271462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C5EF4613-DC66-4067-B1CD-C78AFCC05492}"/>
              </a:ext>
            </a:extLst>
          </p:cNvPr>
          <p:cNvSpPr>
            <a:spLocks noGrp="1"/>
          </p:cNvSpPr>
          <p:nvPr/>
        </p:nvSpPr>
        <p:spPr>
          <a:xfrm>
            <a:off x="723900" y="3067050"/>
            <a:ext cx="116205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DXF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D79B532C-D15B-4C7A-8F36-4760466880C7}"/>
              </a:ext>
            </a:extLst>
          </p:cNvPr>
          <p:cNvSpPr>
            <a:spLocks noGrp="1"/>
          </p:cNvSpPr>
          <p:nvPr/>
        </p:nvSpPr>
        <p:spPr>
          <a:xfrm>
            <a:off x="723900" y="3400425"/>
            <a:ext cx="116205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読込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C3E6D2F3-9BC1-4847-A363-7A44BC37E7E3}"/>
              </a:ext>
            </a:extLst>
          </p:cNvPr>
          <p:cNvSpPr>
            <a:spLocks noGrp="1"/>
          </p:cNvSpPr>
          <p:nvPr/>
        </p:nvSpPr>
        <p:spPr>
          <a:xfrm>
            <a:off x="571500" y="4400550"/>
            <a:ext cx="1466850" cy="4381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レイアウト数も取得</a:t>
            </a:r>
          </a:p>
        </p:txBody>
      </p:sp>
      <p:sp>
        <p:nvSpPr>
          <p:cNvPr id="14" name="shape-12">
            <a:extLst>
              <a:ext uri="{FF2B5EF4-FFF2-40B4-BE49-F238E27FC236}">
                <a16:creationId xmlns:a16="http://schemas.microsoft.com/office/drawing/2014/main" id="{54688B3F-7AAA-4BBC-AA5F-D2BFB380C6DA}"/>
              </a:ext>
            </a:extLst>
          </p:cNvPr>
          <p:cNvSpPr>
            <a:spLocks noGrp="1"/>
          </p:cNvSpPr>
          <p:nvPr/>
        </p:nvSpPr>
        <p:spPr>
          <a:xfrm>
            <a:off x="2038350" y="3333750"/>
            <a:ext cx="11430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-13">
            <a:extLst>
              <a:ext uri="{FF2B5EF4-FFF2-40B4-BE49-F238E27FC236}">
                <a16:creationId xmlns:a16="http://schemas.microsoft.com/office/drawing/2014/main" id="{38AEFCA5-6F19-43FC-82E6-E9416672E0C4}"/>
              </a:ext>
            </a:extLst>
          </p:cNvPr>
          <p:cNvSpPr>
            <a:spLocks noGrp="1"/>
          </p:cNvSpPr>
          <p:nvPr/>
        </p:nvSpPr>
        <p:spPr>
          <a:xfrm>
            <a:off x="2190750" y="2609850"/>
            <a:ext cx="1390650" cy="1600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8B3650D4-2F74-4CDA-ACEB-D5AEE4E3E9AA}"/>
              </a:ext>
            </a:extLst>
          </p:cNvPr>
          <p:cNvSpPr>
            <a:spLocks noGrp="1"/>
          </p:cNvSpPr>
          <p:nvPr/>
        </p:nvSpPr>
        <p:spPr>
          <a:xfrm>
            <a:off x="2324100" y="271462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7" name="text-15">
            <a:extLst>
              <a:ext uri="{FF2B5EF4-FFF2-40B4-BE49-F238E27FC236}">
                <a16:creationId xmlns:a16="http://schemas.microsoft.com/office/drawing/2014/main" id="{59B6F7B1-9CDD-44D7-AAB6-E5B2E0C8BAB5}"/>
              </a:ext>
            </a:extLst>
          </p:cNvPr>
          <p:cNvSpPr>
            <a:spLocks noGrp="1"/>
          </p:cNvSpPr>
          <p:nvPr/>
        </p:nvSpPr>
        <p:spPr>
          <a:xfrm>
            <a:off x="2305050" y="3067050"/>
            <a:ext cx="1162050" cy="666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前処理</a:t>
            </a:r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360A868A-AFB8-42F6-94A8-2D4581124D5E}"/>
              </a:ext>
            </a:extLst>
          </p:cNvPr>
          <p:cNvSpPr>
            <a:spLocks noGrp="1"/>
          </p:cNvSpPr>
          <p:nvPr/>
        </p:nvSpPr>
        <p:spPr>
          <a:xfrm>
            <a:off x="2152650" y="4400550"/>
            <a:ext cx="1466850" cy="4381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線・文字を整える</a:t>
            </a:r>
          </a:p>
        </p:txBody>
      </p:sp>
      <p:sp>
        <p:nvSpPr>
          <p:cNvPr id="19" name="shape-17">
            <a:extLst>
              <a:ext uri="{FF2B5EF4-FFF2-40B4-BE49-F238E27FC236}">
                <a16:creationId xmlns:a16="http://schemas.microsoft.com/office/drawing/2014/main" id="{CFF46CD5-A894-41A7-8014-A000684DE4A1}"/>
              </a:ext>
            </a:extLst>
          </p:cNvPr>
          <p:cNvSpPr>
            <a:spLocks noGrp="1"/>
          </p:cNvSpPr>
          <p:nvPr/>
        </p:nvSpPr>
        <p:spPr>
          <a:xfrm>
            <a:off x="3619500" y="3333750"/>
            <a:ext cx="11430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-18">
            <a:extLst>
              <a:ext uri="{FF2B5EF4-FFF2-40B4-BE49-F238E27FC236}">
                <a16:creationId xmlns:a16="http://schemas.microsoft.com/office/drawing/2014/main" id="{369C74EB-CA79-4E35-8FE4-924C9FBE810F}"/>
              </a:ext>
            </a:extLst>
          </p:cNvPr>
          <p:cNvSpPr>
            <a:spLocks noGrp="1"/>
          </p:cNvSpPr>
          <p:nvPr/>
        </p:nvSpPr>
        <p:spPr>
          <a:xfrm>
            <a:off x="3771900" y="2609850"/>
            <a:ext cx="1390650" cy="1600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3A88398B-1A43-42E6-8305-55D2949E54D7}"/>
              </a:ext>
            </a:extLst>
          </p:cNvPr>
          <p:cNvSpPr>
            <a:spLocks noGrp="1"/>
          </p:cNvSpPr>
          <p:nvPr/>
        </p:nvSpPr>
        <p:spPr>
          <a:xfrm>
            <a:off x="3905250" y="271462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2" name="text-20">
            <a:extLst>
              <a:ext uri="{FF2B5EF4-FFF2-40B4-BE49-F238E27FC236}">
                <a16:creationId xmlns:a16="http://schemas.microsoft.com/office/drawing/2014/main" id="{37B35FE9-AF4D-4052-A420-A86857D9D231}"/>
              </a:ext>
            </a:extLst>
          </p:cNvPr>
          <p:cNvSpPr>
            <a:spLocks noGrp="1"/>
          </p:cNvSpPr>
          <p:nvPr/>
        </p:nvSpPr>
        <p:spPr>
          <a:xfrm>
            <a:off x="3886200" y="3067050"/>
            <a:ext cx="1162050" cy="666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</a:t>
            </a:r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13573069-2FCF-457E-8643-033E3310C1C9}"/>
              </a:ext>
            </a:extLst>
          </p:cNvPr>
          <p:cNvSpPr>
            <a:spLocks noGrp="1"/>
          </p:cNvSpPr>
          <p:nvPr/>
        </p:nvSpPr>
        <p:spPr>
          <a:xfrm>
            <a:off x="3733800" y="4400550"/>
            <a:ext cx="1466850" cy="4381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R / A / L</a:t>
            </a:r>
          </a:p>
        </p:txBody>
      </p:sp>
      <p:sp>
        <p:nvSpPr>
          <p:cNvPr id="24" name="shape-22">
            <a:extLst>
              <a:ext uri="{FF2B5EF4-FFF2-40B4-BE49-F238E27FC236}">
                <a16:creationId xmlns:a16="http://schemas.microsoft.com/office/drawing/2014/main" id="{CE6806E8-9824-4C5F-B8CF-1C4F3E7AB758}"/>
              </a:ext>
            </a:extLst>
          </p:cNvPr>
          <p:cNvSpPr>
            <a:spLocks noGrp="1"/>
          </p:cNvSpPr>
          <p:nvPr/>
        </p:nvSpPr>
        <p:spPr>
          <a:xfrm>
            <a:off x="5200650" y="3333750"/>
            <a:ext cx="11430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-23">
            <a:extLst>
              <a:ext uri="{FF2B5EF4-FFF2-40B4-BE49-F238E27FC236}">
                <a16:creationId xmlns:a16="http://schemas.microsoft.com/office/drawing/2014/main" id="{E92019FE-D416-4F74-B153-5E1EBAB8E01F}"/>
              </a:ext>
            </a:extLst>
          </p:cNvPr>
          <p:cNvSpPr>
            <a:spLocks noGrp="1"/>
          </p:cNvSpPr>
          <p:nvPr/>
        </p:nvSpPr>
        <p:spPr>
          <a:xfrm>
            <a:off x="5353050" y="2609850"/>
            <a:ext cx="1390650" cy="1600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3ADAD2F4-2E6A-44F7-8FCC-429847A1114A}"/>
              </a:ext>
            </a:extLst>
          </p:cNvPr>
          <p:cNvSpPr>
            <a:spLocks noGrp="1"/>
          </p:cNvSpPr>
          <p:nvPr/>
        </p:nvSpPr>
        <p:spPr>
          <a:xfrm>
            <a:off x="5486400" y="271462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E80CB68A-1E55-494B-B762-8845190AB3C7}"/>
              </a:ext>
            </a:extLst>
          </p:cNvPr>
          <p:cNvSpPr>
            <a:spLocks noGrp="1"/>
          </p:cNvSpPr>
          <p:nvPr/>
        </p:nvSpPr>
        <p:spPr>
          <a:xfrm>
            <a:off x="5467350" y="3067050"/>
            <a:ext cx="1162050" cy="666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</a:t>
            </a: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27D8BE93-68A7-4C59-A961-04C8E3085585}"/>
              </a:ext>
            </a:extLst>
          </p:cNvPr>
          <p:cNvSpPr>
            <a:spLocks noGrp="1"/>
          </p:cNvSpPr>
          <p:nvPr/>
        </p:nvSpPr>
        <p:spPr>
          <a:xfrm>
            <a:off x="5314950" y="4400550"/>
            <a:ext cx="1466850" cy="4381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分数の比較</a:t>
            </a:r>
          </a:p>
        </p:txBody>
      </p:sp>
      <p:sp>
        <p:nvSpPr>
          <p:cNvPr id="29" name="shape-27">
            <a:extLst>
              <a:ext uri="{FF2B5EF4-FFF2-40B4-BE49-F238E27FC236}">
                <a16:creationId xmlns:a16="http://schemas.microsoft.com/office/drawing/2014/main" id="{55DC0895-670A-43FF-9247-442B3B43789F}"/>
              </a:ext>
            </a:extLst>
          </p:cNvPr>
          <p:cNvSpPr>
            <a:spLocks noGrp="1"/>
          </p:cNvSpPr>
          <p:nvPr/>
        </p:nvSpPr>
        <p:spPr>
          <a:xfrm>
            <a:off x="6781800" y="3333750"/>
            <a:ext cx="11430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-28">
            <a:extLst>
              <a:ext uri="{FF2B5EF4-FFF2-40B4-BE49-F238E27FC236}">
                <a16:creationId xmlns:a16="http://schemas.microsoft.com/office/drawing/2014/main" id="{2A23CC5A-3848-42E9-A4CC-AAA69F45B840}"/>
              </a:ext>
            </a:extLst>
          </p:cNvPr>
          <p:cNvSpPr>
            <a:spLocks noGrp="1"/>
          </p:cNvSpPr>
          <p:nvPr/>
        </p:nvSpPr>
        <p:spPr>
          <a:xfrm>
            <a:off x="6934200" y="2609850"/>
            <a:ext cx="1390650" cy="1600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-29">
            <a:extLst>
              <a:ext uri="{FF2B5EF4-FFF2-40B4-BE49-F238E27FC236}">
                <a16:creationId xmlns:a16="http://schemas.microsoft.com/office/drawing/2014/main" id="{9CA07497-4BC0-4CB8-8810-D31A00482FB1}"/>
              </a:ext>
            </a:extLst>
          </p:cNvPr>
          <p:cNvSpPr>
            <a:spLocks noGrp="1"/>
          </p:cNvSpPr>
          <p:nvPr/>
        </p:nvSpPr>
        <p:spPr>
          <a:xfrm>
            <a:off x="7067550" y="271462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C7F611E5-AE36-40EB-81EF-9916999DBAFA}"/>
              </a:ext>
            </a:extLst>
          </p:cNvPr>
          <p:cNvSpPr>
            <a:spLocks noGrp="1"/>
          </p:cNvSpPr>
          <p:nvPr/>
        </p:nvSpPr>
        <p:spPr>
          <a:xfrm>
            <a:off x="7048500" y="3067050"/>
            <a:ext cx="1162050" cy="666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勾配</a:t>
            </a:r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C6A09A01-136F-4F9F-98F8-CE94559545FF}"/>
              </a:ext>
            </a:extLst>
          </p:cNvPr>
          <p:cNvSpPr>
            <a:spLocks noGrp="1"/>
          </p:cNvSpPr>
          <p:nvPr/>
        </p:nvSpPr>
        <p:spPr>
          <a:xfrm>
            <a:off x="6896100" y="4400550"/>
            <a:ext cx="1466850" cy="4381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i= の値</a:t>
            </a:r>
          </a:p>
        </p:txBody>
      </p:sp>
      <p:sp>
        <p:nvSpPr>
          <p:cNvPr id="34" name="shape-32">
            <a:extLst>
              <a:ext uri="{FF2B5EF4-FFF2-40B4-BE49-F238E27FC236}">
                <a16:creationId xmlns:a16="http://schemas.microsoft.com/office/drawing/2014/main" id="{41E0FDDE-A492-487A-A278-F918B9DDEC89}"/>
              </a:ext>
            </a:extLst>
          </p:cNvPr>
          <p:cNvSpPr>
            <a:spLocks noGrp="1"/>
          </p:cNvSpPr>
          <p:nvPr/>
        </p:nvSpPr>
        <p:spPr>
          <a:xfrm>
            <a:off x="8362950" y="3333750"/>
            <a:ext cx="11430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-33">
            <a:extLst>
              <a:ext uri="{FF2B5EF4-FFF2-40B4-BE49-F238E27FC236}">
                <a16:creationId xmlns:a16="http://schemas.microsoft.com/office/drawing/2014/main" id="{8743A54E-7309-41A2-982E-6DC050F5744B}"/>
              </a:ext>
            </a:extLst>
          </p:cNvPr>
          <p:cNvSpPr>
            <a:spLocks noGrp="1"/>
          </p:cNvSpPr>
          <p:nvPr/>
        </p:nvSpPr>
        <p:spPr>
          <a:xfrm>
            <a:off x="8515350" y="2609850"/>
            <a:ext cx="1390650" cy="1600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-34">
            <a:extLst>
              <a:ext uri="{FF2B5EF4-FFF2-40B4-BE49-F238E27FC236}">
                <a16:creationId xmlns:a16="http://schemas.microsoft.com/office/drawing/2014/main" id="{C2FC6CCD-E054-4783-957E-D9CF37ACB831}"/>
              </a:ext>
            </a:extLst>
          </p:cNvPr>
          <p:cNvSpPr>
            <a:spLocks noGrp="1"/>
          </p:cNvSpPr>
          <p:nvPr/>
        </p:nvSpPr>
        <p:spPr>
          <a:xfrm>
            <a:off x="8648700" y="271462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sp>
        <p:nvSpPr>
          <p:cNvPr id="37" name="text-35">
            <a:extLst>
              <a:ext uri="{FF2B5EF4-FFF2-40B4-BE49-F238E27FC236}">
                <a16:creationId xmlns:a16="http://schemas.microsoft.com/office/drawing/2014/main" id="{460ED6F2-F4C4-4640-A4AA-A09C9BD5C42B}"/>
              </a:ext>
            </a:extLst>
          </p:cNvPr>
          <p:cNvSpPr>
            <a:spLocks noGrp="1"/>
          </p:cNvSpPr>
          <p:nvPr/>
        </p:nvSpPr>
        <p:spPr>
          <a:xfrm>
            <a:off x="8629650" y="3067050"/>
            <a:ext cx="1162050" cy="666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縦断曲線</a:t>
            </a:r>
          </a:p>
        </p:txBody>
      </p:sp>
      <p:sp>
        <p:nvSpPr>
          <p:cNvPr id="38" name="text-36">
            <a:extLst>
              <a:ext uri="{FF2B5EF4-FFF2-40B4-BE49-F238E27FC236}">
                <a16:creationId xmlns:a16="http://schemas.microsoft.com/office/drawing/2014/main" id="{219E74AD-7FF0-499C-BF5D-7AA7223B6DC5}"/>
              </a:ext>
            </a:extLst>
          </p:cNvPr>
          <p:cNvSpPr>
            <a:spLocks noGrp="1"/>
          </p:cNvSpPr>
          <p:nvPr/>
        </p:nvSpPr>
        <p:spPr>
          <a:xfrm>
            <a:off x="8477250" y="4400550"/>
            <a:ext cx="1466850" cy="4381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VCR / VCL</a:t>
            </a:r>
          </a:p>
        </p:txBody>
      </p:sp>
      <p:sp>
        <p:nvSpPr>
          <p:cNvPr id="39" name="shape-37">
            <a:extLst>
              <a:ext uri="{FF2B5EF4-FFF2-40B4-BE49-F238E27FC236}">
                <a16:creationId xmlns:a16="http://schemas.microsoft.com/office/drawing/2014/main" id="{8AA077BB-AA19-45BD-A0D1-C405D783FF77}"/>
              </a:ext>
            </a:extLst>
          </p:cNvPr>
          <p:cNvSpPr>
            <a:spLocks noGrp="1"/>
          </p:cNvSpPr>
          <p:nvPr/>
        </p:nvSpPr>
        <p:spPr>
          <a:xfrm>
            <a:off x="9944100" y="3333750"/>
            <a:ext cx="11430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-38">
            <a:extLst>
              <a:ext uri="{FF2B5EF4-FFF2-40B4-BE49-F238E27FC236}">
                <a16:creationId xmlns:a16="http://schemas.microsoft.com/office/drawing/2014/main" id="{05361519-37C3-4372-86C5-E5150FBC281C}"/>
              </a:ext>
            </a:extLst>
          </p:cNvPr>
          <p:cNvSpPr>
            <a:spLocks noGrp="1"/>
          </p:cNvSpPr>
          <p:nvPr/>
        </p:nvSpPr>
        <p:spPr>
          <a:xfrm>
            <a:off x="10096500" y="2609850"/>
            <a:ext cx="1390650" cy="1600200"/>
          </a:xfrm>
          <a:prstGeom prst="rect">
            <a:avLst/>
          </a:prstGeom>
          <a:solidFill>
            <a:srgbClr val="E8F7F1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-39">
            <a:extLst>
              <a:ext uri="{FF2B5EF4-FFF2-40B4-BE49-F238E27FC236}">
                <a16:creationId xmlns:a16="http://schemas.microsoft.com/office/drawing/2014/main" id="{1E8A31C9-2E20-4640-9580-022B80831D07}"/>
              </a:ext>
            </a:extLst>
          </p:cNvPr>
          <p:cNvSpPr>
            <a:spLocks noGrp="1"/>
          </p:cNvSpPr>
          <p:nvPr/>
        </p:nvSpPr>
        <p:spPr>
          <a:xfrm>
            <a:off x="10229850" y="271462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42" name="text-40">
            <a:extLst>
              <a:ext uri="{FF2B5EF4-FFF2-40B4-BE49-F238E27FC236}">
                <a16:creationId xmlns:a16="http://schemas.microsoft.com/office/drawing/2014/main" id="{C2D656EB-A256-4F24-ADFC-C0E5F36A9086}"/>
              </a:ext>
            </a:extLst>
          </p:cNvPr>
          <p:cNvSpPr>
            <a:spLocks noGrp="1"/>
          </p:cNvSpPr>
          <p:nvPr/>
        </p:nvSpPr>
        <p:spPr>
          <a:xfrm>
            <a:off x="10210800" y="3067050"/>
            <a:ext cx="116205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</a:t>
            </a:r>
          </a:p>
        </p:txBody>
      </p:sp>
      <p:sp>
        <p:nvSpPr>
          <p:cNvPr id="43" name="text-41">
            <a:extLst>
              <a:ext uri="{FF2B5EF4-FFF2-40B4-BE49-F238E27FC236}">
                <a16:creationId xmlns:a16="http://schemas.microsoft.com/office/drawing/2014/main" id="{B9DB9084-C963-4EAB-A160-4B5F377C23BA}"/>
              </a:ext>
            </a:extLst>
          </p:cNvPr>
          <p:cNvSpPr>
            <a:spLocks noGrp="1"/>
          </p:cNvSpPr>
          <p:nvPr/>
        </p:nvSpPr>
        <p:spPr>
          <a:xfrm>
            <a:off x="10210800" y="3400425"/>
            <a:ext cx="116205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保存</a:t>
            </a:r>
          </a:p>
        </p:txBody>
      </p:sp>
      <p:sp>
        <p:nvSpPr>
          <p:cNvPr id="44" name="text-42">
            <a:extLst>
              <a:ext uri="{FF2B5EF4-FFF2-40B4-BE49-F238E27FC236}">
                <a16:creationId xmlns:a16="http://schemas.microsoft.com/office/drawing/2014/main" id="{28E1DFA1-365A-4DB9-B3A9-1C78E8E5BD7A}"/>
              </a:ext>
            </a:extLst>
          </p:cNvPr>
          <p:cNvSpPr>
            <a:spLocks noGrp="1"/>
          </p:cNvSpPr>
          <p:nvPr/>
        </p:nvSpPr>
        <p:spPr>
          <a:xfrm>
            <a:off x="10058400" y="4400550"/>
            <a:ext cx="1466850" cy="4381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成功後にused移動</a:t>
            </a:r>
          </a:p>
        </p:txBody>
      </p:sp>
      <p:sp>
        <p:nvSpPr>
          <p:cNvPr id="45" name="shape-43">
            <a:extLst>
              <a:ext uri="{FF2B5EF4-FFF2-40B4-BE49-F238E27FC236}">
                <a16:creationId xmlns:a16="http://schemas.microsoft.com/office/drawing/2014/main" id="{EBDB855D-0FCD-4C76-909A-3AED6B4A675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10972800" cy="190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-44">
            <a:extLst>
              <a:ext uri="{FF2B5EF4-FFF2-40B4-BE49-F238E27FC236}">
                <a16:creationId xmlns:a16="http://schemas.microsoft.com/office/drawing/2014/main" id="{A359EC56-A573-4B06-8F6A-25342C67D04F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4381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前処理：LWPOLYLINE → LINE、MTEXT → TEXT、空白除去、重複文字の整理</a:t>
            </a:r>
          </a:p>
        </p:txBody>
      </p:sp>
      <p:sp>
        <p:nvSpPr>
          <p:cNvPr id="47" name="shape-45">
            <a:extLst>
              <a:ext uri="{FF2B5EF4-FFF2-40B4-BE49-F238E27FC236}">
                <a16:creationId xmlns:a16="http://schemas.microsoft.com/office/drawing/2014/main" id="{6A547D0C-A305-46E0-A40A-5BFCCF0EC910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-46">
            <a:extLst>
              <a:ext uri="{FF2B5EF4-FFF2-40B4-BE49-F238E27FC236}">
                <a16:creationId xmlns:a16="http://schemas.microsoft.com/office/drawing/2014/main" id="{F4449FF1-04B9-4179-AFAE-E38ABA286197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各項目を取得できなくても、「-」を入れて後続へ進むことがある</a:t>
            </a:r>
          </a:p>
        </p:txBody>
      </p:sp>
      <p:sp>
        <p:nvSpPr>
          <p:cNvPr id="50" name="shape-3">
            <a:extLst>
              <a:ext uri="{FF2B5EF4-FFF2-40B4-BE49-F238E27FC236}">
                <a16:creationId xmlns:a16="http://schemas.microsoft.com/office/drawing/2014/main" id="{ABD185A1-C385-B122-4E2C-147AAD5ACF5D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85406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kicker-marker">
            <a:extLst>
              <a:ext uri="{FF2B5EF4-FFF2-40B4-BE49-F238E27FC236}">
                <a16:creationId xmlns:a16="http://schemas.microsoft.com/office/drawing/2014/main" id="{8C2EF73C-A809-4A82-A3C7-39EAE46D8EE2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885E9C26-3CC8-4C46-BF5D-7B4823F726C7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06  DXF READ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5203B09D-4033-4987-8C2C-27E7F061BEE0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読むのは、図面内部の文字・線・レイヤー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A8B426C6-B48F-49DC-BB6A-35F6E80BACB1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モデル空間を処理します。下図と数値は説明用の概念・例です。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F8B88B94-DCCE-40C2-90AA-941D179B24BC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モデル空間の文字・線・レイヤー・座標を読みます。図形の見た目を解析する処理ではありません。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39B71821-2A1C-43BD-87FB-1AA9B511FA5E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F9C06099-FCFD-4473-9913-897536AAF9F2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6838950" cy="37147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9B8B6CDE-560D-44F0-8219-D1E61440334F}"/>
              </a:ext>
            </a:extLst>
          </p:cNvPr>
          <p:cNvSpPr>
            <a:spLocks noGrp="1"/>
          </p:cNvSpPr>
          <p:nvPr/>
        </p:nvSpPr>
        <p:spPr>
          <a:xfrm>
            <a:off x="838200" y="2266950"/>
            <a:ext cx="2857500" cy="285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縦断図の概念</a:t>
            </a:r>
          </a:p>
        </p:txBody>
      </p:sp>
      <p:sp>
        <p:nvSpPr>
          <p:cNvPr id="11" name="path-9">
            <a:extLst>
              <a:ext uri="{FF2B5EF4-FFF2-40B4-BE49-F238E27FC236}">
                <a16:creationId xmlns:a16="http://schemas.microsoft.com/office/drawing/2014/main" id="{4BF7B461-1968-4332-88F9-9E71A654794F}"/>
              </a:ext>
            </a:extLst>
          </p:cNvPr>
          <p:cNvSpPr>
            <a:spLocks noGrp="1"/>
          </p:cNvSpPr>
          <p:nvPr/>
        </p:nvSpPr>
        <p:spPr>
          <a:xfrm>
            <a:off x="895350" y="2657475"/>
            <a:ext cx="6210300" cy="819150"/>
          </a:xfrm>
          <a:custGeom>
            <a:avLst/>
            <a:gdLst/>
            <a:ahLst/>
            <a:cxnLst/>
            <a:rect l="0" t="0" r="0" b="0"/>
            <a:pathLst>
              <a:path w="6210300" h="819150">
                <a:moveTo>
                  <a:pt x="0" y="819150"/>
                </a:moveTo>
                <a:lnTo>
                  <a:pt x="1047750" y="257175"/>
                </a:lnTo>
                <a:lnTo>
                  <a:pt x="2171700" y="504825"/>
                </a:lnTo>
                <a:lnTo>
                  <a:pt x="3352800" y="0"/>
                </a:lnTo>
                <a:lnTo>
                  <a:pt x="4495800" y="371475"/>
                </a:lnTo>
                <a:lnTo>
                  <a:pt x="6210300" y="57150"/>
                </a:lnTo>
              </a:path>
            </a:pathLst>
          </a:custGeom>
          <a:noFill/>
          <a:ln w="19050">
            <a:solidFill>
              <a:srgbClr val="7077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1553F4F4-58BF-456C-9EEB-B368399179FE}"/>
              </a:ext>
            </a:extLst>
          </p:cNvPr>
          <p:cNvSpPr>
            <a:spLocks noGrp="1"/>
          </p:cNvSpPr>
          <p:nvPr/>
        </p:nvSpPr>
        <p:spPr>
          <a:xfrm>
            <a:off x="4114800" y="2266950"/>
            <a:ext cx="257175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VCR=1200</a:t>
            </a:r>
          </a:p>
        </p:txBody>
      </p:sp>
      <p:sp>
        <p:nvSpPr>
          <p:cNvPr id="13" name="shape-11">
            <a:extLst>
              <a:ext uri="{FF2B5EF4-FFF2-40B4-BE49-F238E27FC236}">
                <a16:creationId xmlns:a16="http://schemas.microsoft.com/office/drawing/2014/main" id="{679C71C8-E337-41A9-B396-1F1B356C01D3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6362700" cy="590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-12">
            <a:extLst>
              <a:ext uri="{FF2B5EF4-FFF2-40B4-BE49-F238E27FC236}">
                <a16:creationId xmlns:a16="http://schemas.microsoft.com/office/drawing/2014/main" id="{866E5328-2E01-44EB-840E-9483A0FE81F4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143000" cy="5905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054EBE3B-3E18-4C87-9330-4FC1E0636366}"/>
              </a:ext>
            </a:extLst>
          </p:cNvPr>
          <p:cNvSpPr>
            <a:spLocks noGrp="1"/>
          </p:cNvSpPr>
          <p:nvPr/>
        </p:nvSpPr>
        <p:spPr>
          <a:xfrm>
            <a:off x="952500" y="3733800"/>
            <a:ext cx="933450" cy="590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</a:t>
            </a:r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3B6634A5-459E-4E9C-AF2B-5C8290D38D61}"/>
              </a:ext>
            </a:extLst>
          </p:cNvPr>
          <p:cNvSpPr>
            <a:spLocks noGrp="1"/>
          </p:cNvSpPr>
          <p:nvPr/>
        </p:nvSpPr>
        <p:spPr>
          <a:xfrm>
            <a:off x="2438400" y="3848100"/>
            <a:ext cx="466725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R=200   L=80</a:t>
            </a:r>
          </a:p>
        </p:txBody>
      </p:sp>
      <p:sp>
        <p:nvSpPr>
          <p:cNvPr id="17" name="shape-15">
            <a:extLst>
              <a:ext uri="{FF2B5EF4-FFF2-40B4-BE49-F238E27FC236}">
                <a16:creationId xmlns:a16="http://schemas.microsoft.com/office/drawing/2014/main" id="{3D4CDDEE-810B-4B8C-A57B-8D6C226AF934}"/>
              </a:ext>
            </a:extLst>
          </p:cNvPr>
          <p:cNvSpPr>
            <a:spLocks noGrp="1"/>
          </p:cNvSpPr>
          <p:nvPr/>
        </p:nvSpPr>
        <p:spPr>
          <a:xfrm>
            <a:off x="838200" y="4324350"/>
            <a:ext cx="6362700" cy="590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-16">
            <a:extLst>
              <a:ext uri="{FF2B5EF4-FFF2-40B4-BE49-F238E27FC236}">
                <a16:creationId xmlns:a16="http://schemas.microsoft.com/office/drawing/2014/main" id="{AE78BF49-D7A9-4B1C-A357-0E70D8173FEB}"/>
              </a:ext>
            </a:extLst>
          </p:cNvPr>
          <p:cNvSpPr>
            <a:spLocks noGrp="1"/>
          </p:cNvSpPr>
          <p:nvPr/>
        </p:nvSpPr>
        <p:spPr>
          <a:xfrm>
            <a:off x="838200" y="4324350"/>
            <a:ext cx="1143000" cy="5905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-17">
            <a:extLst>
              <a:ext uri="{FF2B5EF4-FFF2-40B4-BE49-F238E27FC236}">
                <a16:creationId xmlns:a16="http://schemas.microsoft.com/office/drawing/2014/main" id="{AC1A38F0-62F8-4E48-8A5B-F1660D540B80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933450" cy="590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</a:t>
            </a:r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20CE61C8-C9EE-4950-8D1D-1D88BB835305}"/>
              </a:ext>
            </a:extLst>
          </p:cNvPr>
          <p:cNvSpPr>
            <a:spLocks noGrp="1"/>
          </p:cNvSpPr>
          <p:nvPr/>
        </p:nvSpPr>
        <p:spPr>
          <a:xfrm>
            <a:off x="2438400" y="4438650"/>
            <a:ext cx="466725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1/150</a:t>
            </a:r>
          </a:p>
        </p:txBody>
      </p:sp>
      <p:sp>
        <p:nvSpPr>
          <p:cNvPr id="21" name="shape-19">
            <a:extLst>
              <a:ext uri="{FF2B5EF4-FFF2-40B4-BE49-F238E27FC236}">
                <a16:creationId xmlns:a16="http://schemas.microsoft.com/office/drawing/2014/main" id="{7FF1FB2A-F83E-422A-B60F-2B42ED10E2A2}"/>
              </a:ext>
            </a:extLst>
          </p:cNvPr>
          <p:cNvSpPr>
            <a:spLocks noGrp="1"/>
          </p:cNvSpPr>
          <p:nvPr/>
        </p:nvSpPr>
        <p:spPr>
          <a:xfrm>
            <a:off x="838200" y="4914900"/>
            <a:ext cx="6362700" cy="590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-20">
            <a:extLst>
              <a:ext uri="{FF2B5EF4-FFF2-40B4-BE49-F238E27FC236}">
                <a16:creationId xmlns:a16="http://schemas.microsoft.com/office/drawing/2014/main" id="{208D014C-4CF9-4BFC-A8EA-8D94B3B47449}"/>
              </a:ext>
            </a:extLst>
          </p:cNvPr>
          <p:cNvSpPr>
            <a:spLocks noGrp="1"/>
          </p:cNvSpPr>
          <p:nvPr/>
        </p:nvSpPr>
        <p:spPr>
          <a:xfrm>
            <a:off x="838200" y="4914900"/>
            <a:ext cx="1143000" cy="5905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205D92C5-0606-4AE2-B7A8-A66734B5FF10}"/>
              </a:ext>
            </a:extLst>
          </p:cNvPr>
          <p:cNvSpPr>
            <a:spLocks noGrp="1"/>
          </p:cNvSpPr>
          <p:nvPr/>
        </p:nvSpPr>
        <p:spPr>
          <a:xfrm>
            <a:off x="952500" y="4914900"/>
            <a:ext cx="933450" cy="590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勾配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4364717B-7AE3-43E9-B4EC-06F43D89408C}"/>
              </a:ext>
            </a:extLst>
          </p:cNvPr>
          <p:cNvSpPr>
            <a:spLocks noGrp="1"/>
          </p:cNvSpPr>
          <p:nvPr/>
        </p:nvSpPr>
        <p:spPr>
          <a:xfrm>
            <a:off x="2438400" y="5029200"/>
            <a:ext cx="466725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i=3.5%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A38F0F5A-7A18-49E3-B84F-087D2698251D}"/>
              </a:ext>
            </a:extLst>
          </p:cNvPr>
          <p:cNvSpPr>
            <a:spLocks noGrp="1"/>
          </p:cNvSpPr>
          <p:nvPr/>
        </p:nvSpPr>
        <p:spPr>
          <a:xfrm>
            <a:off x="7981950" y="2124075"/>
            <a:ext cx="3600450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読み取る手掛かり</a:t>
            </a:r>
          </a:p>
        </p:txBody>
      </p:sp>
      <p:sp>
        <p:nvSpPr>
          <p:cNvPr id="26" name="shape-24">
            <a:extLst>
              <a:ext uri="{FF2B5EF4-FFF2-40B4-BE49-F238E27FC236}">
                <a16:creationId xmlns:a16="http://schemas.microsoft.com/office/drawing/2014/main" id="{D8810D01-0D0B-4DFE-AD2B-D4B945EA3C82}"/>
              </a:ext>
            </a:extLst>
          </p:cNvPr>
          <p:cNvSpPr>
            <a:spLocks noGrp="1"/>
          </p:cNvSpPr>
          <p:nvPr/>
        </p:nvSpPr>
        <p:spPr>
          <a:xfrm>
            <a:off x="7981950" y="2752725"/>
            <a:ext cx="3600450" cy="619125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28FA5E65-382C-42C8-9546-479FC634871B}"/>
              </a:ext>
            </a:extLst>
          </p:cNvPr>
          <p:cNvSpPr>
            <a:spLocks noGrp="1"/>
          </p:cNvSpPr>
          <p:nvPr/>
        </p:nvSpPr>
        <p:spPr>
          <a:xfrm>
            <a:off x="8096250" y="2867025"/>
            <a:ext cx="97155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要素</a:t>
            </a: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239D39E2-DF82-4C43-A4CD-CCB1B627D077}"/>
              </a:ext>
            </a:extLst>
          </p:cNvPr>
          <p:cNvSpPr>
            <a:spLocks noGrp="1"/>
          </p:cNvSpPr>
          <p:nvPr/>
        </p:nvSpPr>
        <p:spPr>
          <a:xfrm>
            <a:off x="9296400" y="2867025"/>
            <a:ext cx="217170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使い方</a:t>
            </a:r>
          </a:p>
        </p:txBody>
      </p:sp>
      <p:sp>
        <p:nvSpPr>
          <p:cNvPr id="29" name="shape-27">
            <a:extLst>
              <a:ext uri="{FF2B5EF4-FFF2-40B4-BE49-F238E27FC236}">
                <a16:creationId xmlns:a16="http://schemas.microsoft.com/office/drawing/2014/main" id="{72D3B6C6-4E0B-4116-9661-0F73129A6192}"/>
              </a:ext>
            </a:extLst>
          </p:cNvPr>
          <p:cNvSpPr>
            <a:spLocks noGrp="1"/>
          </p:cNvSpPr>
          <p:nvPr/>
        </p:nvSpPr>
        <p:spPr>
          <a:xfrm>
            <a:off x="7981950" y="3990975"/>
            <a:ext cx="360045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587432EE-9F3D-4A4D-A233-101C26E9F545}"/>
              </a:ext>
            </a:extLst>
          </p:cNvPr>
          <p:cNvSpPr>
            <a:spLocks noGrp="1"/>
          </p:cNvSpPr>
          <p:nvPr/>
        </p:nvSpPr>
        <p:spPr>
          <a:xfrm>
            <a:off x="8096250" y="3486150"/>
            <a:ext cx="97155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TEXT</a:t>
            </a:r>
          </a:p>
        </p:txBody>
      </p:sp>
      <p:sp>
        <p:nvSpPr>
          <p:cNvPr id="31" name="text-29">
            <a:extLst>
              <a:ext uri="{FF2B5EF4-FFF2-40B4-BE49-F238E27FC236}">
                <a16:creationId xmlns:a16="http://schemas.microsoft.com/office/drawing/2014/main" id="{CA64B4B6-819E-4B2D-A849-6E6CD034D0D9}"/>
              </a:ext>
            </a:extLst>
          </p:cNvPr>
          <p:cNvSpPr>
            <a:spLocks noGrp="1"/>
          </p:cNvSpPr>
          <p:nvPr/>
        </p:nvSpPr>
        <p:spPr>
          <a:xfrm>
            <a:off x="9296400" y="3486150"/>
            <a:ext cx="217170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表記・座標・回転</a:t>
            </a:r>
          </a:p>
        </p:txBody>
      </p:sp>
      <p:sp>
        <p:nvSpPr>
          <p:cNvPr id="32" name="shape-30">
            <a:extLst>
              <a:ext uri="{FF2B5EF4-FFF2-40B4-BE49-F238E27FC236}">
                <a16:creationId xmlns:a16="http://schemas.microsoft.com/office/drawing/2014/main" id="{E2089026-570F-4DA6-9E93-3618895A69FF}"/>
              </a:ext>
            </a:extLst>
          </p:cNvPr>
          <p:cNvSpPr>
            <a:spLocks noGrp="1"/>
          </p:cNvSpPr>
          <p:nvPr/>
        </p:nvSpPr>
        <p:spPr>
          <a:xfrm>
            <a:off x="7981950" y="3990975"/>
            <a:ext cx="3600450" cy="619125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-31">
            <a:extLst>
              <a:ext uri="{FF2B5EF4-FFF2-40B4-BE49-F238E27FC236}">
                <a16:creationId xmlns:a16="http://schemas.microsoft.com/office/drawing/2014/main" id="{CACA772E-B623-4038-8100-57E508DFC855}"/>
              </a:ext>
            </a:extLst>
          </p:cNvPr>
          <p:cNvSpPr>
            <a:spLocks noGrp="1"/>
          </p:cNvSpPr>
          <p:nvPr/>
        </p:nvSpPr>
        <p:spPr>
          <a:xfrm>
            <a:off x="7981950" y="4610100"/>
            <a:ext cx="360045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CD96F163-4110-4663-8116-EA12E7A23460}"/>
              </a:ext>
            </a:extLst>
          </p:cNvPr>
          <p:cNvSpPr>
            <a:spLocks noGrp="1"/>
          </p:cNvSpPr>
          <p:nvPr/>
        </p:nvSpPr>
        <p:spPr>
          <a:xfrm>
            <a:off x="8096250" y="4105275"/>
            <a:ext cx="97155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LINE</a:t>
            </a:r>
          </a:p>
        </p:txBody>
      </p:sp>
      <p:sp>
        <p:nvSpPr>
          <p:cNvPr id="35" name="text-33">
            <a:extLst>
              <a:ext uri="{FF2B5EF4-FFF2-40B4-BE49-F238E27FC236}">
                <a16:creationId xmlns:a16="http://schemas.microsoft.com/office/drawing/2014/main" id="{49EFAA6A-B866-462C-9BDB-4BB048098D4D}"/>
              </a:ext>
            </a:extLst>
          </p:cNvPr>
          <p:cNvSpPr>
            <a:spLocks noGrp="1"/>
          </p:cNvSpPr>
          <p:nvPr/>
        </p:nvSpPr>
        <p:spPr>
          <a:xfrm>
            <a:off x="9296400" y="4105275"/>
            <a:ext cx="217170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帯の上下の罫線</a:t>
            </a:r>
          </a:p>
        </p:txBody>
      </p:sp>
      <p:sp>
        <p:nvSpPr>
          <p:cNvPr id="36" name="shape-34">
            <a:extLst>
              <a:ext uri="{FF2B5EF4-FFF2-40B4-BE49-F238E27FC236}">
                <a16:creationId xmlns:a16="http://schemas.microsoft.com/office/drawing/2014/main" id="{45560963-BA50-4F8D-A444-099F4BEB9B39}"/>
              </a:ext>
            </a:extLst>
          </p:cNvPr>
          <p:cNvSpPr>
            <a:spLocks noGrp="1"/>
          </p:cNvSpPr>
          <p:nvPr/>
        </p:nvSpPr>
        <p:spPr>
          <a:xfrm>
            <a:off x="7981950" y="5229225"/>
            <a:ext cx="360045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-35">
            <a:extLst>
              <a:ext uri="{FF2B5EF4-FFF2-40B4-BE49-F238E27FC236}">
                <a16:creationId xmlns:a16="http://schemas.microsoft.com/office/drawing/2014/main" id="{8329614E-B412-43AA-90BE-50C9C4E67AA8}"/>
              </a:ext>
            </a:extLst>
          </p:cNvPr>
          <p:cNvSpPr>
            <a:spLocks noGrp="1"/>
          </p:cNvSpPr>
          <p:nvPr/>
        </p:nvSpPr>
        <p:spPr>
          <a:xfrm>
            <a:off x="8096250" y="4724400"/>
            <a:ext cx="97155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レイヤー</a:t>
            </a:r>
          </a:p>
        </p:txBody>
      </p:sp>
      <p:sp>
        <p:nvSpPr>
          <p:cNvPr id="38" name="text-36">
            <a:extLst>
              <a:ext uri="{FF2B5EF4-FFF2-40B4-BE49-F238E27FC236}">
                <a16:creationId xmlns:a16="http://schemas.microsoft.com/office/drawing/2014/main" id="{DE2701AA-BBD8-4F9F-9A93-1D079118AE8E}"/>
              </a:ext>
            </a:extLst>
          </p:cNvPr>
          <p:cNvSpPr>
            <a:spLocks noGrp="1"/>
          </p:cNvSpPr>
          <p:nvPr/>
        </p:nvSpPr>
        <p:spPr>
          <a:xfrm>
            <a:off x="9296400" y="4724400"/>
            <a:ext cx="217170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文字の取得対象</a:t>
            </a:r>
          </a:p>
        </p:txBody>
      </p:sp>
      <p:sp>
        <p:nvSpPr>
          <p:cNvPr id="39" name="shape-37">
            <a:extLst>
              <a:ext uri="{FF2B5EF4-FFF2-40B4-BE49-F238E27FC236}">
                <a16:creationId xmlns:a16="http://schemas.microsoft.com/office/drawing/2014/main" id="{65CFA5E9-277E-4504-A64F-3416595474D8}"/>
              </a:ext>
            </a:extLst>
          </p:cNvPr>
          <p:cNvSpPr>
            <a:spLocks noGrp="1"/>
          </p:cNvSpPr>
          <p:nvPr/>
        </p:nvSpPr>
        <p:spPr>
          <a:xfrm>
            <a:off x="7981950" y="5229225"/>
            <a:ext cx="3600450" cy="619125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-38">
            <a:extLst>
              <a:ext uri="{FF2B5EF4-FFF2-40B4-BE49-F238E27FC236}">
                <a16:creationId xmlns:a16="http://schemas.microsoft.com/office/drawing/2014/main" id="{B85CE6FD-0AC6-4643-969A-F7FB1E6E1703}"/>
              </a:ext>
            </a:extLst>
          </p:cNvPr>
          <p:cNvSpPr>
            <a:spLocks noGrp="1"/>
          </p:cNvSpPr>
          <p:nvPr/>
        </p:nvSpPr>
        <p:spPr>
          <a:xfrm>
            <a:off x="7981950" y="5848350"/>
            <a:ext cx="360045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-39">
            <a:extLst>
              <a:ext uri="{FF2B5EF4-FFF2-40B4-BE49-F238E27FC236}">
                <a16:creationId xmlns:a16="http://schemas.microsoft.com/office/drawing/2014/main" id="{1ECFAF74-225A-446E-8838-6C383E2AC65E}"/>
              </a:ext>
            </a:extLst>
          </p:cNvPr>
          <p:cNvSpPr>
            <a:spLocks noGrp="1"/>
          </p:cNvSpPr>
          <p:nvPr/>
        </p:nvSpPr>
        <p:spPr>
          <a:xfrm>
            <a:off x="8096250" y="5343525"/>
            <a:ext cx="97155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X / Y座標</a:t>
            </a:r>
          </a:p>
        </p:txBody>
      </p:sp>
      <p:sp>
        <p:nvSpPr>
          <p:cNvPr id="42" name="text-40">
            <a:extLst>
              <a:ext uri="{FF2B5EF4-FFF2-40B4-BE49-F238E27FC236}">
                <a16:creationId xmlns:a16="http://schemas.microsoft.com/office/drawing/2014/main" id="{029D1BD4-9B7B-4609-917E-DFC88ADE4C79}"/>
              </a:ext>
            </a:extLst>
          </p:cNvPr>
          <p:cNvSpPr>
            <a:spLocks noGrp="1"/>
          </p:cNvSpPr>
          <p:nvPr/>
        </p:nvSpPr>
        <p:spPr>
          <a:xfrm>
            <a:off x="9296400" y="5343525"/>
            <a:ext cx="217170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並び・帯内・前後</a:t>
            </a:r>
          </a:p>
        </p:txBody>
      </p:sp>
      <p:sp>
        <p:nvSpPr>
          <p:cNvPr id="43" name="text-41">
            <a:extLst>
              <a:ext uri="{FF2B5EF4-FFF2-40B4-BE49-F238E27FC236}">
                <a16:creationId xmlns:a16="http://schemas.microsoft.com/office/drawing/2014/main" id="{B81FC7C5-9728-40EC-B366-2CB8C7E0441A}"/>
              </a:ext>
            </a:extLst>
          </p:cNvPr>
          <p:cNvSpPr>
            <a:spLocks noGrp="1"/>
          </p:cNvSpPr>
          <p:nvPr/>
        </p:nvSpPr>
        <p:spPr>
          <a:xfrm>
            <a:off x="7981950" y="5943600"/>
            <a:ext cx="3600450" cy="3238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画像認識（OCR）ではない</a:t>
            </a:r>
          </a:p>
        </p:txBody>
      </p:sp>
      <p:sp>
        <p:nvSpPr>
          <p:cNvPr id="45" name="shape-3">
            <a:extLst>
              <a:ext uri="{FF2B5EF4-FFF2-40B4-BE49-F238E27FC236}">
                <a16:creationId xmlns:a16="http://schemas.microsoft.com/office/drawing/2014/main" id="{18A1A042-757D-0879-A215-0B53D60DC8F5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1955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-marker">
            <a:extLst>
              <a:ext uri="{FF2B5EF4-FFF2-40B4-BE49-F238E27FC236}">
                <a16:creationId xmlns:a16="http://schemas.microsoft.com/office/drawing/2014/main" id="{0B60325B-AAD2-4E7A-831A-7B826DAA7B94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A441EEDF-F22D-4C78-A8A8-B7AA4F63FC39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07  BAND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1801EFAE-70DF-42B5-ABE9-31CCAD52F0CE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帯タイトルの上下にある罫線で、読む高さを決める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BEE4FB33-9191-4E8E-B645-C7F0AA69B611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文字の挿入点Y座標で帯内を判定します。文字枠全体の収まり判定ではありません。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601E4CC3-D444-424E-A677-204ED634018C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帯の範囲は罫線と文字の挿入点で決まります。左右端のX範囲による制限はありません。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7FF67E38-C272-4C35-8C5D-1840D64220A7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D7AC9044-2C42-411D-9B94-9D778719C9A1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4429125" cy="3429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D-TTL-BAND の文字を確認</a:t>
            </a:r>
          </a:p>
        </p:txBody>
      </p:sp>
      <p:sp>
        <p:nvSpPr>
          <p:cNvPr id="10" name="shape-8">
            <a:extLst>
              <a:ext uri="{FF2B5EF4-FFF2-40B4-BE49-F238E27FC236}">
                <a16:creationId xmlns:a16="http://schemas.microsoft.com/office/drawing/2014/main" id="{75933FD1-5350-4F03-AFF7-7C9D741168C1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7105650" cy="19050"/>
          </a:xfrm>
          <a:prstGeom prst="rect">
            <a:avLst/>
          </a:prstGeom>
          <a:solidFill>
            <a:srgbClr val="70777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-9">
            <a:extLst>
              <a:ext uri="{FF2B5EF4-FFF2-40B4-BE49-F238E27FC236}">
                <a16:creationId xmlns:a16="http://schemas.microsoft.com/office/drawing/2014/main" id="{463EF531-9DED-4C29-878A-2A964A8047D1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7105650" cy="19050"/>
          </a:xfrm>
          <a:prstGeom prst="rect">
            <a:avLst/>
          </a:prstGeom>
          <a:solidFill>
            <a:srgbClr val="70777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EF8D9453-90F4-45C4-A9F1-B045ADDC9628}"/>
              </a:ext>
            </a:extLst>
          </p:cNvPr>
          <p:cNvSpPr>
            <a:spLocks noGrp="1"/>
          </p:cNvSpPr>
          <p:nvPr/>
        </p:nvSpPr>
        <p:spPr>
          <a:xfrm>
            <a:off x="952500" y="3609975"/>
            <a:ext cx="1047750" cy="4381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</a:t>
            </a:r>
          </a:p>
        </p:txBody>
      </p:sp>
      <p:sp>
        <p:nvSpPr>
          <p:cNvPr id="13" name="path-11">
            <a:extLst>
              <a:ext uri="{FF2B5EF4-FFF2-40B4-BE49-F238E27FC236}">
                <a16:creationId xmlns:a16="http://schemas.microsoft.com/office/drawing/2014/main" id="{85E0A0B3-17EB-47C3-AFF1-3C80C3944375}"/>
              </a:ext>
            </a:extLst>
          </p:cNvPr>
          <p:cNvSpPr>
            <a:spLocks noGrp="1"/>
          </p:cNvSpPr>
          <p:nvPr/>
        </p:nvSpPr>
        <p:spPr>
          <a:xfrm>
            <a:off x="952500" y="2828925"/>
            <a:ext cx="9525" cy="676275"/>
          </a:xfrm>
          <a:custGeom>
            <a:avLst/>
            <a:gdLst/>
            <a:ahLst/>
            <a:cxnLst/>
            <a:rect l="0" t="0" r="0" b="0"/>
            <a:pathLst>
              <a:path w="9525" h="676275">
                <a:moveTo>
                  <a:pt x="0" y="0"/>
                </a:moveTo>
                <a:lnTo>
                  <a:pt x="0" y="676275"/>
                </a:lnTo>
              </a:path>
            </a:pathLst>
          </a:custGeom>
          <a:noFill/>
          <a:ln w="9525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path-12">
            <a:extLst>
              <a:ext uri="{FF2B5EF4-FFF2-40B4-BE49-F238E27FC236}">
                <a16:creationId xmlns:a16="http://schemas.microsoft.com/office/drawing/2014/main" id="{5D669A7D-3DFD-4A3E-8D79-3D599D341656}"/>
              </a:ext>
            </a:extLst>
          </p:cNvPr>
          <p:cNvSpPr>
            <a:spLocks noGrp="1"/>
          </p:cNvSpPr>
          <p:nvPr/>
        </p:nvSpPr>
        <p:spPr>
          <a:xfrm>
            <a:off x="952500" y="4143375"/>
            <a:ext cx="9525" cy="1057275"/>
          </a:xfrm>
          <a:custGeom>
            <a:avLst/>
            <a:gdLst/>
            <a:ahLst/>
            <a:cxnLst/>
            <a:rect l="0" t="0" r="0" b="0"/>
            <a:pathLst>
              <a:path w="9525" h="1057275">
                <a:moveTo>
                  <a:pt x="0" y="0"/>
                </a:moveTo>
                <a:lnTo>
                  <a:pt x="0" y="1057275"/>
                </a:lnTo>
              </a:path>
            </a:pathLst>
          </a:custGeom>
          <a:noFill/>
          <a:ln w="9525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-13">
            <a:extLst>
              <a:ext uri="{FF2B5EF4-FFF2-40B4-BE49-F238E27FC236}">
                <a16:creationId xmlns:a16="http://schemas.microsoft.com/office/drawing/2014/main" id="{042EF6B7-EED2-4A5C-A4A6-A14F43C64BF0}"/>
              </a:ext>
            </a:extLst>
          </p:cNvPr>
          <p:cNvSpPr>
            <a:spLocks noGrp="1"/>
          </p:cNvSpPr>
          <p:nvPr/>
        </p:nvSpPr>
        <p:spPr>
          <a:xfrm>
            <a:off x="904875" y="4029075"/>
            <a:ext cx="95250" cy="9525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D9DE2207-0DE2-48CD-888A-4038208D313B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2381250" cy="285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タイトルの挿入点X</a:t>
            </a:r>
          </a:p>
        </p:txBody>
      </p:sp>
      <p:sp>
        <p:nvSpPr>
          <p:cNvPr id="17" name="text-15">
            <a:extLst>
              <a:ext uri="{FF2B5EF4-FFF2-40B4-BE49-F238E27FC236}">
                <a16:creationId xmlns:a16="http://schemas.microsoft.com/office/drawing/2014/main" id="{CFFA5816-022F-4F12-A5D5-A925BB808D5D}"/>
              </a:ext>
            </a:extLst>
          </p:cNvPr>
          <p:cNvSpPr>
            <a:spLocks noGrp="1"/>
          </p:cNvSpPr>
          <p:nvPr/>
        </p:nvSpPr>
        <p:spPr>
          <a:xfrm>
            <a:off x="3333750" y="3476625"/>
            <a:ext cx="1905000" cy="381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R=200</a:t>
            </a:r>
          </a:p>
        </p:txBody>
      </p:sp>
      <p:sp>
        <p:nvSpPr>
          <p:cNvPr id="18" name="shape-16">
            <a:extLst>
              <a:ext uri="{FF2B5EF4-FFF2-40B4-BE49-F238E27FC236}">
                <a16:creationId xmlns:a16="http://schemas.microsoft.com/office/drawing/2014/main" id="{BF99E7E2-633E-474C-B62F-5A7A75944DE8}"/>
              </a:ext>
            </a:extLst>
          </p:cNvPr>
          <p:cNvSpPr>
            <a:spLocks noGrp="1"/>
          </p:cNvSpPr>
          <p:nvPr/>
        </p:nvSpPr>
        <p:spPr>
          <a:xfrm>
            <a:off x="3286125" y="3857625"/>
            <a:ext cx="95250" cy="9525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-17">
            <a:extLst>
              <a:ext uri="{FF2B5EF4-FFF2-40B4-BE49-F238E27FC236}">
                <a16:creationId xmlns:a16="http://schemas.microsoft.com/office/drawing/2014/main" id="{75B6F754-7584-45D4-9609-5C7C362BD6E9}"/>
              </a:ext>
            </a:extLst>
          </p:cNvPr>
          <p:cNvSpPr>
            <a:spLocks noGrp="1"/>
          </p:cNvSpPr>
          <p:nvPr/>
        </p:nvSpPr>
        <p:spPr>
          <a:xfrm>
            <a:off x="3324225" y="4057650"/>
            <a:ext cx="40005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挿入点が帯内 → 候補</a:t>
            </a:r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EA1A6761-616F-4DCA-8F1D-DD1289C23A72}"/>
              </a:ext>
            </a:extLst>
          </p:cNvPr>
          <p:cNvSpPr>
            <a:spLocks noGrp="1"/>
          </p:cNvSpPr>
          <p:nvPr/>
        </p:nvSpPr>
        <p:spPr>
          <a:xfrm>
            <a:off x="5314950" y="2333625"/>
            <a:ext cx="1676400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R=80</a:t>
            </a:r>
          </a:p>
        </p:txBody>
      </p:sp>
      <p:sp>
        <p:nvSpPr>
          <p:cNvPr id="21" name="shape-19">
            <a:extLst>
              <a:ext uri="{FF2B5EF4-FFF2-40B4-BE49-F238E27FC236}">
                <a16:creationId xmlns:a16="http://schemas.microsoft.com/office/drawing/2014/main" id="{6222DA48-22AC-4B68-A9F1-312A131E244F}"/>
              </a:ext>
            </a:extLst>
          </p:cNvPr>
          <p:cNvSpPr>
            <a:spLocks noGrp="1"/>
          </p:cNvSpPr>
          <p:nvPr/>
        </p:nvSpPr>
        <p:spPr>
          <a:xfrm>
            <a:off x="5267325" y="2705100"/>
            <a:ext cx="95250" cy="95250"/>
          </a:xfrm>
          <a:prstGeom prst="ellipse">
            <a:avLst/>
          </a:prstGeom>
          <a:solidFill>
            <a:srgbClr val="70777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-20">
            <a:extLst>
              <a:ext uri="{FF2B5EF4-FFF2-40B4-BE49-F238E27FC236}">
                <a16:creationId xmlns:a16="http://schemas.microsoft.com/office/drawing/2014/main" id="{CE888E57-6147-45E0-80FC-E6FC80FE8801}"/>
              </a:ext>
            </a:extLst>
          </p:cNvPr>
          <p:cNvSpPr>
            <a:spLocks noGrp="1"/>
          </p:cNvSpPr>
          <p:nvPr/>
        </p:nvSpPr>
        <p:spPr>
          <a:xfrm>
            <a:off x="5314950" y="2790825"/>
            <a:ext cx="2114550" cy="3048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帯外 → 対象外</a:t>
            </a:r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BEEB171B-F6ED-452B-A237-74D23E991912}"/>
              </a:ext>
            </a:extLst>
          </p:cNvPr>
          <p:cNvSpPr>
            <a:spLocks noGrp="1"/>
          </p:cNvSpPr>
          <p:nvPr/>
        </p:nvSpPr>
        <p:spPr>
          <a:xfrm>
            <a:off x="6934200" y="3200400"/>
            <a:ext cx="762000" cy="285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2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上端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323F0F1D-BAE1-468D-A784-4D56C1F4BF9B}"/>
              </a:ext>
            </a:extLst>
          </p:cNvPr>
          <p:cNvSpPr>
            <a:spLocks noGrp="1"/>
          </p:cNvSpPr>
          <p:nvPr/>
        </p:nvSpPr>
        <p:spPr>
          <a:xfrm>
            <a:off x="6934200" y="4419600"/>
            <a:ext cx="762000" cy="285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2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下端</a:t>
            </a:r>
          </a:p>
        </p:txBody>
      </p:sp>
      <p:sp>
        <p:nvSpPr>
          <p:cNvPr id="25" name="shape-23">
            <a:extLst>
              <a:ext uri="{FF2B5EF4-FFF2-40B4-BE49-F238E27FC236}">
                <a16:creationId xmlns:a16="http://schemas.microsoft.com/office/drawing/2014/main" id="{F971F56F-6E9A-4C44-9D77-16856CF588BB}"/>
              </a:ext>
            </a:extLst>
          </p:cNvPr>
          <p:cNvSpPr>
            <a:spLocks noGrp="1"/>
          </p:cNvSpPr>
          <p:nvPr/>
        </p:nvSpPr>
        <p:spPr>
          <a:xfrm>
            <a:off x="8250555" y="232600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19626F11-1985-410C-B84A-95D64D6C9A2E}"/>
              </a:ext>
            </a:extLst>
          </p:cNvPr>
          <p:cNvSpPr>
            <a:spLocks noGrp="1"/>
          </p:cNvSpPr>
          <p:nvPr/>
        </p:nvSpPr>
        <p:spPr>
          <a:xfrm>
            <a:off x="8410575" y="2152650"/>
            <a:ext cx="3171825" cy="29337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タイトルと完全一致</a:t>
            </a:r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EEA68063-6D1A-4079-88CE-8C661330EC5C}"/>
              </a:ext>
            </a:extLst>
          </p:cNvPr>
          <p:cNvSpPr>
            <a:spLocks noGrp="1"/>
          </p:cNvSpPr>
          <p:nvPr/>
        </p:nvSpPr>
        <p:spPr>
          <a:xfrm>
            <a:off x="8410575" y="2446020"/>
            <a:ext cx="3171825" cy="29337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分割文字も候補にする</a:t>
            </a:r>
          </a:p>
        </p:txBody>
      </p:sp>
      <p:sp>
        <p:nvSpPr>
          <p:cNvPr id="28" name="shape-26">
            <a:extLst>
              <a:ext uri="{FF2B5EF4-FFF2-40B4-BE49-F238E27FC236}">
                <a16:creationId xmlns:a16="http://schemas.microsoft.com/office/drawing/2014/main" id="{2307EA67-3F6F-4119-99C1-D7B558E9B4BE}"/>
              </a:ext>
            </a:extLst>
          </p:cNvPr>
          <p:cNvSpPr>
            <a:spLocks noGrp="1"/>
          </p:cNvSpPr>
          <p:nvPr/>
        </p:nvSpPr>
        <p:spPr>
          <a:xfrm>
            <a:off x="8250555" y="339280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-27">
            <a:extLst>
              <a:ext uri="{FF2B5EF4-FFF2-40B4-BE49-F238E27FC236}">
                <a16:creationId xmlns:a16="http://schemas.microsoft.com/office/drawing/2014/main" id="{57CBEF34-1793-425C-A290-C17646362D30}"/>
              </a:ext>
            </a:extLst>
          </p:cNvPr>
          <p:cNvSpPr>
            <a:spLocks noGrp="1"/>
          </p:cNvSpPr>
          <p:nvPr/>
        </p:nvSpPr>
        <p:spPr>
          <a:xfrm>
            <a:off x="8410575" y="3219450"/>
            <a:ext cx="3171825" cy="29337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タイトルXをまたぐ</a:t>
            </a:r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7CD27F11-E3F4-4B7E-8343-DC5F6B2FAF9F}"/>
              </a:ext>
            </a:extLst>
          </p:cNvPr>
          <p:cNvSpPr>
            <a:spLocks noGrp="1"/>
          </p:cNvSpPr>
          <p:nvPr/>
        </p:nvSpPr>
        <p:spPr>
          <a:xfrm>
            <a:off x="8410575" y="3512820"/>
            <a:ext cx="3171825" cy="29337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直近の上下水平LINE</a:t>
            </a:r>
          </a:p>
        </p:txBody>
      </p:sp>
      <p:sp>
        <p:nvSpPr>
          <p:cNvPr id="31" name="shape-29">
            <a:extLst>
              <a:ext uri="{FF2B5EF4-FFF2-40B4-BE49-F238E27FC236}">
                <a16:creationId xmlns:a16="http://schemas.microsoft.com/office/drawing/2014/main" id="{7719C990-49F5-4242-9154-C6B630279B7A}"/>
              </a:ext>
            </a:extLst>
          </p:cNvPr>
          <p:cNvSpPr>
            <a:spLocks noGrp="1"/>
          </p:cNvSpPr>
          <p:nvPr/>
        </p:nvSpPr>
        <p:spPr>
          <a:xfrm>
            <a:off x="8250555" y="445960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A4AAA763-1AB0-4BDC-8BEF-B9640C1AF739}"/>
              </a:ext>
            </a:extLst>
          </p:cNvPr>
          <p:cNvSpPr>
            <a:spLocks noGrp="1"/>
          </p:cNvSpPr>
          <p:nvPr/>
        </p:nvSpPr>
        <p:spPr>
          <a:xfrm>
            <a:off x="8410575" y="4286250"/>
            <a:ext cx="3171825" cy="29337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罫線は全レイヤー対象</a:t>
            </a:r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8F53AE80-B92C-4F3C-8EBA-F2825547544D}"/>
              </a:ext>
            </a:extLst>
          </p:cNvPr>
          <p:cNvSpPr>
            <a:spLocks noGrp="1"/>
          </p:cNvSpPr>
          <p:nvPr/>
        </p:nvSpPr>
        <p:spPr>
          <a:xfrm>
            <a:off x="8410575" y="4579620"/>
            <a:ext cx="3171825" cy="29337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左右端のX範囲制限はない</a:t>
            </a:r>
          </a:p>
        </p:txBody>
      </p:sp>
      <p:sp>
        <p:nvSpPr>
          <p:cNvPr id="34" name="shape-32">
            <a:extLst>
              <a:ext uri="{FF2B5EF4-FFF2-40B4-BE49-F238E27FC236}">
                <a16:creationId xmlns:a16="http://schemas.microsoft.com/office/drawing/2014/main" id="{71CEB06E-5EBB-4110-B25F-57660E39CFC8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-33">
            <a:extLst>
              <a:ext uri="{FF2B5EF4-FFF2-40B4-BE49-F238E27FC236}">
                <a16:creationId xmlns:a16="http://schemas.microsoft.com/office/drawing/2014/main" id="{63474C34-400B-4070-ABBC-88BA7A3D166D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曲率・片勾配は帯の上下端内。勾配は帯の下端以上を、上限なしで取得する</a:t>
            </a:r>
          </a:p>
        </p:txBody>
      </p:sp>
      <p:sp>
        <p:nvSpPr>
          <p:cNvPr id="37" name="shape-3">
            <a:extLst>
              <a:ext uri="{FF2B5EF4-FFF2-40B4-BE49-F238E27FC236}">
                <a16:creationId xmlns:a16="http://schemas.microsoft.com/office/drawing/2014/main" id="{2EB5A90E-5FBA-3DCB-C40C-27A765D426F8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7258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kicker-marker">
            <a:extLst>
              <a:ext uri="{FF2B5EF4-FFF2-40B4-BE49-F238E27FC236}">
                <a16:creationId xmlns:a16="http://schemas.microsoft.com/office/drawing/2014/main" id="{52F0313B-02C5-4B0A-A5EB-D6E32DBCFB76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E394AD2E-08AD-4C5F-B436-FB67317CE153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08  CANDIDATE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97958B2E-72E8-411C-B572-F313E40C8969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R・A・Lの表記を拾い、X位置で組にする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A66DAF79-E559-4F5A-BF10-86522470112E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接頭辞と数値化、件数、位置の順に確認します。数値は説明用の例です。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91EECD0C-6B10-49FF-94AE-13DF26BCF253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件数とX位置が対応付けの条件です。文字を読めても、組を作れなければ取得できない欄があります。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BB69063F-5780-46A1-A282-0B20E6C16CCB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56AA10F0-1AF7-4C07-B9E0-ACC08A4C0E71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6915150" cy="59055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6DE9CD40-A980-480E-AEF2-267046426C04}"/>
              </a:ext>
            </a:extLst>
          </p:cNvPr>
          <p:cNvSpPr>
            <a:spLocks noGrp="1"/>
          </p:cNvSpPr>
          <p:nvPr/>
        </p:nvSpPr>
        <p:spPr>
          <a:xfrm>
            <a:off x="723900" y="2286000"/>
            <a:ext cx="15240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候補文字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BF688DBF-8717-4C4E-8C3F-80DB09463410}"/>
              </a:ext>
            </a:extLst>
          </p:cNvPr>
          <p:cNvSpPr>
            <a:spLocks noGrp="1"/>
          </p:cNvSpPr>
          <p:nvPr/>
        </p:nvSpPr>
        <p:spPr>
          <a:xfrm>
            <a:off x="2476500" y="2286000"/>
            <a:ext cx="299085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条件確認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31F8A3BE-A0EA-48D8-BAF2-544A2F27BBB1}"/>
              </a:ext>
            </a:extLst>
          </p:cNvPr>
          <p:cNvSpPr>
            <a:spLocks noGrp="1"/>
          </p:cNvSpPr>
          <p:nvPr/>
        </p:nvSpPr>
        <p:spPr>
          <a:xfrm>
            <a:off x="5695950" y="2286000"/>
            <a:ext cx="17145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扱い</a:t>
            </a:r>
          </a:p>
        </p:txBody>
      </p:sp>
      <p:sp>
        <p:nvSpPr>
          <p:cNvPr id="13" name="shape-11">
            <a:extLst>
              <a:ext uri="{FF2B5EF4-FFF2-40B4-BE49-F238E27FC236}">
                <a16:creationId xmlns:a16="http://schemas.microsoft.com/office/drawing/2014/main" id="{1A4FFBC8-C286-4E0E-9F20-339364CBDB5E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91515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89FF51CF-4B5D-4E45-8F7D-04A984450C76}"/>
              </a:ext>
            </a:extLst>
          </p:cNvPr>
          <p:cNvSpPr>
            <a:spLocks noGrp="1"/>
          </p:cNvSpPr>
          <p:nvPr/>
        </p:nvSpPr>
        <p:spPr>
          <a:xfrm>
            <a:off x="723900" y="2876550"/>
            <a:ext cx="15240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R=200</a:t>
            </a:r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2CB1BF60-C391-47F1-AFEC-7AFECC5E9E14}"/>
              </a:ext>
            </a:extLst>
          </p:cNvPr>
          <p:cNvSpPr>
            <a:spLocks noGrp="1"/>
          </p:cNvSpPr>
          <p:nvPr/>
        </p:nvSpPr>
        <p:spPr>
          <a:xfrm>
            <a:off x="2476500" y="2876550"/>
            <a:ext cx="299085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指定接頭辞＋数値</a:t>
            </a:r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952E2FC0-C1B3-43CF-ACD0-A21587DFAA12}"/>
              </a:ext>
            </a:extLst>
          </p:cNvPr>
          <p:cNvSpPr>
            <a:spLocks noGrp="1"/>
          </p:cNvSpPr>
          <p:nvPr/>
        </p:nvSpPr>
        <p:spPr>
          <a:xfrm>
            <a:off x="5695950" y="2876550"/>
            <a:ext cx="17145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半径候補</a:t>
            </a:r>
          </a:p>
        </p:txBody>
      </p:sp>
      <p:sp>
        <p:nvSpPr>
          <p:cNvPr id="17" name="shape-15">
            <a:extLst>
              <a:ext uri="{FF2B5EF4-FFF2-40B4-BE49-F238E27FC236}">
                <a16:creationId xmlns:a16="http://schemas.microsoft.com/office/drawing/2014/main" id="{E9B4A39A-B685-4AEB-84AB-36F0C6CDEB60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915150" cy="5905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-16">
            <a:extLst>
              <a:ext uri="{FF2B5EF4-FFF2-40B4-BE49-F238E27FC236}">
                <a16:creationId xmlns:a16="http://schemas.microsoft.com/office/drawing/2014/main" id="{143584CA-95FE-41CB-9722-CD524B5A4C00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691515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-17">
            <a:extLst>
              <a:ext uri="{FF2B5EF4-FFF2-40B4-BE49-F238E27FC236}">
                <a16:creationId xmlns:a16="http://schemas.microsoft.com/office/drawing/2014/main" id="{9792886C-B8ED-4E27-831F-B23DFAE97424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15240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A=80</a:t>
            </a:r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F0A06853-86B8-4441-8C68-9599826BD184}"/>
              </a:ext>
            </a:extLst>
          </p:cNvPr>
          <p:cNvSpPr>
            <a:spLocks noGrp="1"/>
          </p:cNvSpPr>
          <p:nvPr/>
        </p:nvSpPr>
        <p:spPr>
          <a:xfrm>
            <a:off x="2476500" y="3467100"/>
            <a:ext cx="299085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指定接頭辞＋数値</a:t>
            </a:r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C1B0A9D6-7F10-4C9C-9E69-F6157D2506CF}"/>
              </a:ext>
            </a:extLst>
          </p:cNvPr>
          <p:cNvSpPr>
            <a:spLocks noGrp="1"/>
          </p:cNvSpPr>
          <p:nvPr/>
        </p:nvSpPr>
        <p:spPr>
          <a:xfrm>
            <a:off x="5695950" y="3467100"/>
            <a:ext cx="17145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緩和曲線候補</a:t>
            </a:r>
          </a:p>
        </p:txBody>
      </p:sp>
      <p:sp>
        <p:nvSpPr>
          <p:cNvPr id="22" name="shape-20">
            <a:extLst>
              <a:ext uri="{FF2B5EF4-FFF2-40B4-BE49-F238E27FC236}">
                <a16:creationId xmlns:a16="http://schemas.microsoft.com/office/drawing/2014/main" id="{AD58B9DA-D9E7-4264-AF8B-E2FAE55A9676}"/>
              </a:ext>
            </a:extLst>
          </p:cNvPr>
          <p:cNvSpPr>
            <a:spLocks noGrp="1"/>
          </p:cNvSpPr>
          <p:nvPr/>
        </p:nvSpPr>
        <p:spPr>
          <a:xfrm>
            <a:off x="609600" y="4533900"/>
            <a:ext cx="691515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3B616216-5E47-434B-AEB5-51E4390B661E}"/>
              </a:ext>
            </a:extLst>
          </p:cNvPr>
          <p:cNvSpPr>
            <a:spLocks noGrp="1"/>
          </p:cNvSpPr>
          <p:nvPr/>
        </p:nvSpPr>
        <p:spPr>
          <a:xfrm>
            <a:off x="723900" y="4057650"/>
            <a:ext cx="15240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L=30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D53CB180-041E-402E-B592-49A56B1BD7F4}"/>
              </a:ext>
            </a:extLst>
          </p:cNvPr>
          <p:cNvSpPr>
            <a:spLocks noGrp="1"/>
          </p:cNvSpPr>
          <p:nvPr/>
        </p:nvSpPr>
        <p:spPr>
          <a:xfrm>
            <a:off x="2476500" y="4057650"/>
            <a:ext cx="299085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指定接頭辞＋数値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8213F18B-D912-42EF-A175-6DBE07605F1A}"/>
              </a:ext>
            </a:extLst>
          </p:cNvPr>
          <p:cNvSpPr>
            <a:spLocks noGrp="1"/>
          </p:cNvSpPr>
          <p:nvPr/>
        </p:nvSpPr>
        <p:spPr>
          <a:xfrm>
            <a:off x="5695950" y="4057650"/>
            <a:ext cx="17145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長さ候補</a:t>
            </a:r>
          </a:p>
        </p:txBody>
      </p:sp>
      <p:sp>
        <p:nvSpPr>
          <p:cNvPr id="26" name="shape-24">
            <a:extLst>
              <a:ext uri="{FF2B5EF4-FFF2-40B4-BE49-F238E27FC236}">
                <a16:creationId xmlns:a16="http://schemas.microsoft.com/office/drawing/2014/main" id="{87AE2C7E-148F-42E2-9692-A4AC55C6A2C6}"/>
              </a:ext>
            </a:extLst>
          </p:cNvPr>
          <p:cNvSpPr>
            <a:spLocks noGrp="1"/>
          </p:cNvSpPr>
          <p:nvPr/>
        </p:nvSpPr>
        <p:spPr>
          <a:xfrm>
            <a:off x="609600" y="4533900"/>
            <a:ext cx="6915150" cy="5905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-25">
            <a:extLst>
              <a:ext uri="{FF2B5EF4-FFF2-40B4-BE49-F238E27FC236}">
                <a16:creationId xmlns:a16="http://schemas.microsoft.com/office/drawing/2014/main" id="{229699D5-E2F0-467C-9411-220D395332FA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691515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9CB4C2F3-4968-4B04-A8C4-CC409DE4E1A9}"/>
              </a:ext>
            </a:extLst>
          </p:cNvPr>
          <p:cNvSpPr>
            <a:spLocks noGrp="1"/>
          </p:cNvSpPr>
          <p:nvPr/>
        </p:nvSpPr>
        <p:spPr>
          <a:xfrm>
            <a:off x="723900" y="4648200"/>
            <a:ext cx="15240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R=50m</a:t>
            </a:r>
          </a:p>
        </p:txBody>
      </p:sp>
      <p:sp>
        <p:nvSpPr>
          <p:cNvPr id="29" name="text-27">
            <a:extLst>
              <a:ext uri="{FF2B5EF4-FFF2-40B4-BE49-F238E27FC236}">
                <a16:creationId xmlns:a16="http://schemas.microsoft.com/office/drawing/2014/main" id="{8B487BC5-147A-4929-B6E3-6FE2CA871B7A}"/>
              </a:ext>
            </a:extLst>
          </p:cNvPr>
          <p:cNvSpPr>
            <a:spLocks noGrp="1"/>
          </p:cNvSpPr>
          <p:nvPr/>
        </p:nvSpPr>
        <p:spPr>
          <a:xfrm>
            <a:off x="2476500" y="4648200"/>
            <a:ext cx="299085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mを含み数値化できない</a:t>
            </a:r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B2E15FFC-3E90-45F1-A7E5-A775965E401F}"/>
              </a:ext>
            </a:extLst>
          </p:cNvPr>
          <p:cNvSpPr>
            <a:spLocks noGrp="1"/>
          </p:cNvSpPr>
          <p:nvPr/>
        </p:nvSpPr>
        <p:spPr>
          <a:xfrm>
            <a:off x="5695950" y="4648200"/>
            <a:ext cx="17145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対象外</a:t>
            </a:r>
          </a:p>
        </p:txBody>
      </p:sp>
      <p:sp>
        <p:nvSpPr>
          <p:cNvPr id="31" name="text-29">
            <a:extLst>
              <a:ext uri="{FF2B5EF4-FFF2-40B4-BE49-F238E27FC236}">
                <a16:creationId xmlns:a16="http://schemas.microsoft.com/office/drawing/2014/main" id="{750C340B-243B-4778-997D-1BE231C9EFF9}"/>
              </a:ext>
            </a:extLst>
          </p:cNvPr>
          <p:cNvSpPr>
            <a:spLocks noGrp="1"/>
          </p:cNvSpPr>
          <p:nvPr/>
        </p:nvSpPr>
        <p:spPr>
          <a:xfrm>
            <a:off x="8096250" y="2105025"/>
            <a:ext cx="3486150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対応付けの手順</a:t>
            </a:r>
          </a:p>
        </p:txBody>
      </p:sp>
      <p:sp>
        <p:nvSpPr>
          <p:cNvPr id="32" name="shape-30">
            <a:extLst>
              <a:ext uri="{FF2B5EF4-FFF2-40B4-BE49-F238E27FC236}">
                <a16:creationId xmlns:a16="http://schemas.microsoft.com/office/drawing/2014/main" id="{AB8537F2-171C-43BA-A190-B991A8DB8BFE}"/>
              </a:ext>
            </a:extLst>
          </p:cNvPr>
          <p:cNvSpPr>
            <a:spLocks noGrp="1"/>
          </p:cNvSpPr>
          <p:nvPr/>
        </p:nvSpPr>
        <p:spPr>
          <a:xfrm>
            <a:off x="8164830" y="2868930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9B07D462-CDA2-433D-BFDB-E0530B942F9E}"/>
              </a:ext>
            </a:extLst>
          </p:cNvPr>
          <p:cNvSpPr>
            <a:spLocks noGrp="1"/>
          </p:cNvSpPr>
          <p:nvPr/>
        </p:nvSpPr>
        <p:spPr>
          <a:xfrm>
            <a:off x="8324850" y="2695575"/>
            <a:ext cx="3257550" cy="28003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Rの件数＋Aの件数</a:t>
            </a:r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A84C7DA7-407B-4037-A15C-FF5579DBC929}"/>
              </a:ext>
            </a:extLst>
          </p:cNvPr>
          <p:cNvSpPr>
            <a:spLocks noGrp="1"/>
          </p:cNvSpPr>
          <p:nvPr/>
        </p:nvSpPr>
        <p:spPr>
          <a:xfrm>
            <a:off x="8324850" y="2975610"/>
            <a:ext cx="3257550" cy="28003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＝Lの件数か確認</a:t>
            </a:r>
          </a:p>
        </p:txBody>
      </p:sp>
      <p:sp>
        <p:nvSpPr>
          <p:cNvPr id="35" name="shape-33">
            <a:extLst>
              <a:ext uri="{FF2B5EF4-FFF2-40B4-BE49-F238E27FC236}">
                <a16:creationId xmlns:a16="http://schemas.microsoft.com/office/drawing/2014/main" id="{875C7230-544F-4AF1-973D-FA6B14A75CC9}"/>
              </a:ext>
            </a:extLst>
          </p:cNvPr>
          <p:cNvSpPr>
            <a:spLocks noGrp="1"/>
          </p:cNvSpPr>
          <p:nvPr/>
        </p:nvSpPr>
        <p:spPr>
          <a:xfrm>
            <a:off x="8164830" y="386905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-34">
            <a:extLst>
              <a:ext uri="{FF2B5EF4-FFF2-40B4-BE49-F238E27FC236}">
                <a16:creationId xmlns:a16="http://schemas.microsoft.com/office/drawing/2014/main" id="{4101B16C-B88D-4BE4-93D1-4720228F30BC}"/>
              </a:ext>
            </a:extLst>
          </p:cNvPr>
          <p:cNvSpPr>
            <a:spLocks noGrp="1"/>
          </p:cNvSpPr>
          <p:nvPr/>
        </p:nvSpPr>
        <p:spPr>
          <a:xfrm>
            <a:off x="8324850" y="3695700"/>
            <a:ext cx="3257550" cy="28003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Xが近い隣接要素を整理</a:t>
            </a:r>
          </a:p>
        </p:txBody>
      </p:sp>
      <p:sp>
        <p:nvSpPr>
          <p:cNvPr id="37" name="text-35">
            <a:extLst>
              <a:ext uri="{FF2B5EF4-FFF2-40B4-BE49-F238E27FC236}">
                <a16:creationId xmlns:a16="http://schemas.microsoft.com/office/drawing/2014/main" id="{23605B66-ED55-4C1F-97FB-E32C00D0F03B}"/>
              </a:ext>
            </a:extLst>
          </p:cNvPr>
          <p:cNvSpPr>
            <a:spLocks noGrp="1"/>
          </p:cNvSpPr>
          <p:nvPr/>
        </p:nvSpPr>
        <p:spPr>
          <a:xfrm>
            <a:off x="8324850" y="3975735"/>
            <a:ext cx="3257550" cy="28003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同じXのLとA/Rを組にする</a:t>
            </a:r>
          </a:p>
        </p:txBody>
      </p:sp>
      <p:sp>
        <p:nvSpPr>
          <p:cNvPr id="38" name="shape-36">
            <a:extLst>
              <a:ext uri="{FF2B5EF4-FFF2-40B4-BE49-F238E27FC236}">
                <a16:creationId xmlns:a16="http://schemas.microsoft.com/office/drawing/2014/main" id="{47F80472-8AE8-4F12-A133-2A30A0DEB115}"/>
              </a:ext>
            </a:extLst>
          </p:cNvPr>
          <p:cNvSpPr>
            <a:spLocks noGrp="1"/>
          </p:cNvSpPr>
          <p:nvPr/>
        </p:nvSpPr>
        <p:spPr>
          <a:xfrm>
            <a:off x="8164830" y="4869180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-37">
            <a:extLst>
              <a:ext uri="{FF2B5EF4-FFF2-40B4-BE49-F238E27FC236}">
                <a16:creationId xmlns:a16="http://schemas.microsoft.com/office/drawing/2014/main" id="{F90F6B4C-BE2B-4E14-A10E-87CDEF608274}"/>
              </a:ext>
            </a:extLst>
          </p:cNvPr>
          <p:cNvSpPr>
            <a:spLocks noGrp="1"/>
          </p:cNvSpPr>
          <p:nvPr/>
        </p:nvSpPr>
        <p:spPr>
          <a:xfrm>
            <a:off x="8324850" y="4695825"/>
            <a:ext cx="3257550" cy="28003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同じXではAを優先</a:t>
            </a:r>
          </a:p>
        </p:txBody>
      </p:sp>
      <p:sp>
        <p:nvSpPr>
          <p:cNvPr id="40" name="text-38">
            <a:extLst>
              <a:ext uri="{FF2B5EF4-FFF2-40B4-BE49-F238E27FC236}">
                <a16:creationId xmlns:a16="http://schemas.microsoft.com/office/drawing/2014/main" id="{604A5770-F5D3-4F50-884D-2990F3057DAC}"/>
              </a:ext>
            </a:extLst>
          </p:cNvPr>
          <p:cNvSpPr>
            <a:spLocks noGrp="1"/>
          </p:cNvSpPr>
          <p:nvPr/>
        </p:nvSpPr>
        <p:spPr>
          <a:xfrm>
            <a:off x="8324850" y="4975860"/>
            <a:ext cx="3257550" cy="28003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組のY中点で左右を分類</a:t>
            </a:r>
          </a:p>
        </p:txBody>
      </p:sp>
      <p:sp>
        <p:nvSpPr>
          <p:cNvPr id="41" name="shape-39">
            <a:extLst>
              <a:ext uri="{FF2B5EF4-FFF2-40B4-BE49-F238E27FC236}">
                <a16:creationId xmlns:a16="http://schemas.microsoft.com/office/drawing/2014/main" id="{041504DA-ECBC-4750-A632-945E792F9303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-40">
            <a:extLst>
              <a:ext uri="{FF2B5EF4-FFF2-40B4-BE49-F238E27FC236}">
                <a16:creationId xmlns:a16="http://schemas.microsoft.com/office/drawing/2014/main" id="{F4C0A32E-2358-4C3E-A815-762755E176C8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件数が合わないと、緩和曲線・省略半径・速度別曲線長は「-」。半径は残る場合あり</a:t>
            </a:r>
          </a:p>
        </p:txBody>
      </p:sp>
      <p:sp>
        <p:nvSpPr>
          <p:cNvPr id="44" name="shape-3">
            <a:extLst>
              <a:ext uri="{FF2B5EF4-FFF2-40B4-BE49-F238E27FC236}">
                <a16:creationId xmlns:a16="http://schemas.microsoft.com/office/drawing/2014/main" id="{C96920F3-E703-8EE3-2DF1-C389105D3861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5844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kicker-marker">
            <a:extLst>
              <a:ext uri="{FF2B5EF4-FFF2-40B4-BE49-F238E27FC236}">
                <a16:creationId xmlns:a16="http://schemas.microsoft.com/office/drawing/2014/main" id="{19347638-7483-4E53-857F-A756809DBC3A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4C53FAD7-BDFB-4BA5-B5C2-E8B6C3555A10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09  CLASSIFICATION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F5A0A4D0-5B09-4DB3-A8E8-076FB61A148D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取得元は、平面線形・片勾配・縦断線形の3系統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87B40164-EF14-4071-84E1-D66563A7E5C1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同じ「R=」でも、指定レイヤーと処理が異なります。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355C9D0C-1098-4B15-BE03-4BEA0F8DF313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取得元はレイヤーと処理ごとに分かれます。同じ表記でも、同じ項目として扱うとは限りません。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D4D18AA5-6A1E-4310-B2A9-8005E9C4FAB6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9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E0EB4BAE-2270-4DDC-AD07-AA19F3545987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344805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平面線形</a:t>
            </a:r>
          </a:p>
        </p:txBody>
      </p:sp>
      <p:sp>
        <p:nvSpPr>
          <p:cNvPr id="10" name="shape-8">
            <a:extLst>
              <a:ext uri="{FF2B5EF4-FFF2-40B4-BE49-F238E27FC236}">
                <a16:creationId xmlns:a16="http://schemas.microsoft.com/office/drawing/2014/main" id="{9466DD8A-A2BE-4728-8F4C-8A49A47ED13B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3448050" cy="190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7B042AA5-3AC4-4C09-B240-97863C33A0C9}"/>
              </a:ext>
            </a:extLst>
          </p:cNvPr>
          <p:cNvSpPr>
            <a:spLocks noGrp="1"/>
          </p:cNvSpPr>
          <p:nvPr/>
        </p:nvSpPr>
        <p:spPr>
          <a:xfrm>
            <a:off x="4371975" y="2133600"/>
            <a:ext cx="344805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片勾配</a:t>
            </a:r>
          </a:p>
        </p:txBody>
      </p:sp>
      <p:sp>
        <p:nvSpPr>
          <p:cNvPr id="12" name="shape-10">
            <a:extLst>
              <a:ext uri="{FF2B5EF4-FFF2-40B4-BE49-F238E27FC236}">
                <a16:creationId xmlns:a16="http://schemas.microsoft.com/office/drawing/2014/main" id="{F2B3B86D-7A3A-4788-8B41-4FC63AD2216A}"/>
              </a:ext>
            </a:extLst>
          </p:cNvPr>
          <p:cNvSpPr>
            <a:spLocks noGrp="1"/>
          </p:cNvSpPr>
          <p:nvPr/>
        </p:nvSpPr>
        <p:spPr>
          <a:xfrm>
            <a:off x="4371975" y="2714625"/>
            <a:ext cx="3448050" cy="190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C7E11BB1-9152-4D1B-B841-14D791C5B81D}"/>
              </a:ext>
            </a:extLst>
          </p:cNvPr>
          <p:cNvSpPr>
            <a:spLocks noGrp="1"/>
          </p:cNvSpPr>
          <p:nvPr/>
        </p:nvSpPr>
        <p:spPr>
          <a:xfrm>
            <a:off x="8134350" y="2133600"/>
            <a:ext cx="344805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縦断線形</a:t>
            </a:r>
          </a:p>
        </p:txBody>
      </p:sp>
      <p:sp>
        <p:nvSpPr>
          <p:cNvPr id="14" name="shape-12">
            <a:extLst>
              <a:ext uri="{FF2B5EF4-FFF2-40B4-BE49-F238E27FC236}">
                <a16:creationId xmlns:a16="http://schemas.microsoft.com/office/drawing/2014/main" id="{5562E717-6C1E-44AA-B73C-993EB6FF931C}"/>
              </a:ext>
            </a:extLst>
          </p:cNvPr>
          <p:cNvSpPr>
            <a:spLocks noGrp="1"/>
          </p:cNvSpPr>
          <p:nvPr/>
        </p:nvSpPr>
        <p:spPr>
          <a:xfrm>
            <a:off x="8134350" y="2714625"/>
            <a:ext cx="3448050" cy="190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39E0550C-E63A-475B-96EB-FD8C8AD7E534}"/>
              </a:ext>
            </a:extLst>
          </p:cNvPr>
          <p:cNvSpPr>
            <a:spLocks noGrp="1"/>
          </p:cNvSpPr>
          <p:nvPr/>
        </p:nvSpPr>
        <p:spPr>
          <a:xfrm>
            <a:off x="609600" y="2886075"/>
            <a:ext cx="344805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曲率帯</a:t>
            </a:r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E2A9B32A-1E05-40F7-B5AB-9F471743C799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3448050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 / A= / L= など</a:t>
            </a:r>
          </a:p>
        </p:txBody>
      </p:sp>
      <p:sp>
        <p:nvSpPr>
          <p:cNvPr id="17" name="shape-15">
            <a:extLst>
              <a:ext uri="{FF2B5EF4-FFF2-40B4-BE49-F238E27FC236}">
                <a16:creationId xmlns:a16="http://schemas.microsoft.com/office/drawing/2014/main" id="{21580D82-09E9-4E07-A32A-6A8794F2027D}"/>
              </a:ext>
            </a:extLst>
          </p:cNvPr>
          <p:cNvSpPr>
            <a:spLocks noGrp="1"/>
          </p:cNvSpPr>
          <p:nvPr/>
        </p:nvSpPr>
        <p:spPr>
          <a:xfrm>
            <a:off x="678180" y="405955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6B8A7FE5-3C89-4828-B565-9C0A56B0B036}"/>
              </a:ext>
            </a:extLst>
          </p:cNvPr>
          <p:cNvSpPr>
            <a:spLocks noGrp="1"/>
          </p:cNvSpPr>
          <p:nvPr/>
        </p:nvSpPr>
        <p:spPr>
          <a:xfrm>
            <a:off x="838200" y="3886200"/>
            <a:ext cx="3219450" cy="3714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最小曲線半径</a:t>
            </a:r>
          </a:p>
        </p:txBody>
      </p:sp>
      <p:sp>
        <p:nvSpPr>
          <p:cNvPr id="19" name="shape-17">
            <a:extLst>
              <a:ext uri="{FF2B5EF4-FFF2-40B4-BE49-F238E27FC236}">
                <a16:creationId xmlns:a16="http://schemas.microsoft.com/office/drawing/2014/main" id="{4BC0E4D9-9516-4984-AC11-991FF2BFCD24}"/>
              </a:ext>
            </a:extLst>
          </p:cNvPr>
          <p:cNvSpPr>
            <a:spLocks noGrp="1"/>
          </p:cNvSpPr>
          <p:nvPr/>
        </p:nvSpPr>
        <p:spPr>
          <a:xfrm>
            <a:off x="678180" y="4469130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97F105B2-2ACC-4097-8242-EC880F0BB407}"/>
              </a:ext>
            </a:extLst>
          </p:cNvPr>
          <p:cNvSpPr>
            <a:spLocks noGrp="1"/>
          </p:cNvSpPr>
          <p:nvPr/>
        </p:nvSpPr>
        <p:spPr>
          <a:xfrm>
            <a:off x="838200" y="4295775"/>
            <a:ext cx="3219450" cy="3714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最小緩和曲線長</a:t>
            </a:r>
          </a:p>
        </p:txBody>
      </p:sp>
      <p:sp>
        <p:nvSpPr>
          <p:cNvPr id="21" name="shape-19">
            <a:extLst>
              <a:ext uri="{FF2B5EF4-FFF2-40B4-BE49-F238E27FC236}">
                <a16:creationId xmlns:a16="http://schemas.microsoft.com/office/drawing/2014/main" id="{E7461371-CDFB-4CB9-ACA1-0F7D9760B0F3}"/>
              </a:ext>
            </a:extLst>
          </p:cNvPr>
          <p:cNvSpPr>
            <a:spLocks noGrp="1"/>
          </p:cNvSpPr>
          <p:nvPr/>
        </p:nvSpPr>
        <p:spPr>
          <a:xfrm>
            <a:off x="678180" y="487870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-20">
            <a:extLst>
              <a:ext uri="{FF2B5EF4-FFF2-40B4-BE49-F238E27FC236}">
                <a16:creationId xmlns:a16="http://schemas.microsoft.com/office/drawing/2014/main" id="{B5253321-D3D7-4565-8A9B-F76F787D4686}"/>
              </a:ext>
            </a:extLst>
          </p:cNvPr>
          <p:cNvSpPr>
            <a:spLocks noGrp="1"/>
          </p:cNvSpPr>
          <p:nvPr/>
        </p:nvSpPr>
        <p:spPr>
          <a:xfrm>
            <a:off x="838200" y="4705350"/>
            <a:ext cx="3219450" cy="3714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緩和曲線省略半径</a:t>
            </a:r>
          </a:p>
        </p:txBody>
      </p:sp>
      <p:sp>
        <p:nvSpPr>
          <p:cNvPr id="23" name="shape-21">
            <a:extLst>
              <a:ext uri="{FF2B5EF4-FFF2-40B4-BE49-F238E27FC236}">
                <a16:creationId xmlns:a16="http://schemas.microsoft.com/office/drawing/2014/main" id="{0C6A0AAD-BF64-4606-87CF-B06EDC8CC0EB}"/>
              </a:ext>
            </a:extLst>
          </p:cNvPr>
          <p:cNvSpPr>
            <a:spLocks noGrp="1"/>
          </p:cNvSpPr>
          <p:nvPr/>
        </p:nvSpPr>
        <p:spPr>
          <a:xfrm>
            <a:off x="678180" y="5288280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203BF85B-F826-43A3-B81E-3F11CABC7524}"/>
              </a:ext>
            </a:extLst>
          </p:cNvPr>
          <p:cNvSpPr>
            <a:spLocks noGrp="1"/>
          </p:cNvSpPr>
          <p:nvPr/>
        </p:nvSpPr>
        <p:spPr>
          <a:xfrm>
            <a:off x="838200" y="5114925"/>
            <a:ext cx="3219450" cy="3714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速度別の最小曲線長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42A8CFA7-55E0-4C3A-88C1-CDDB6FA9841F}"/>
              </a:ext>
            </a:extLst>
          </p:cNvPr>
          <p:cNvSpPr>
            <a:spLocks noGrp="1"/>
          </p:cNvSpPr>
          <p:nvPr/>
        </p:nvSpPr>
        <p:spPr>
          <a:xfrm>
            <a:off x="4371975" y="2886075"/>
            <a:ext cx="344805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片勾配帯</a:t>
            </a:r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E62D898A-72FB-4748-92FC-5859D73196A7}"/>
              </a:ext>
            </a:extLst>
          </p:cNvPr>
          <p:cNvSpPr>
            <a:spLocks noGrp="1"/>
          </p:cNvSpPr>
          <p:nvPr/>
        </p:nvSpPr>
        <p:spPr>
          <a:xfrm>
            <a:off x="4371975" y="3333750"/>
            <a:ext cx="3448050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1/150 などの分数</a:t>
            </a:r>
          </a:p>
        </p:txBody>
      </p:sp>
      <p:sp>
        <p:nvSpPr>
          <p:cNvPr id="27" name="shape-25">
            <a:extLst>
              <a:ext uri="{FF2B5EF4-FFF2-40B4-BE49-F238E27FC236}">
                <a16:creationId xmlns:a16="http://schemas.microsoft.com/office/drawing/2014/main" id="{55A21CE3-CDDA-4CE4-93C8-748985402FE8}"/>
              </a:ext>
            </a:extLst>
          </p:cNvPr>
          <p:cNvSpPr>
            <a:spLocks noGrp="1"/>
          </p:cNvSpPr>
          <p:nvPr/>
        </p:nvSpPr>
        <p:spPr>
          <a:xfrm>
            <a:off x="4440555" y="405955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2D8EFAC7-16E1-48AB-8F4A-02DF5F8797DB}"/>
              </a:ext>
            </a:extLst>
          </p:cNvPr>
          <p:cNvSpPr>
            <a:spLocks noGrp="1"/>
          </p:cNvSpPr>
          <p:nvPr/>
        </p:nvSpPr>
        <p:spPr>
          <a:xfrm>
            <a:off x="4600575" y="3886200"/>
            <a:ext cx="32194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分数を数値に直す</a:t>
            </a:r>
          </a:p>
        </p:txBody>
      </p:sp>
      <p:sp>
        <p:nvSpPr>
          <p:cNvPr id="29" name="shape-27">
            <a:extLst>
              <a:ext uri="{FF2B5EF4-FFF2-40B4-BE49-F238E27FC236}">
                <a16:creationId xmlns:a16="http://schemas.microsoft.com/office/drawing/2014/main" id="{C77793A6-B53A-48D8-9BEA-C7DBE7C26DA4}"/>
              </a:ext>
            </a:extLst>
          </p:cNvPr>
          <p:cNvSpPr>
            <a:spLocks noGrp="1"/>
          </p:cNvSpPr>
          <p:nvPr/>
        </p:nvSpPr>
        <p:spPr>
          <a:xfrm>
            <a:off x="4440555" y="4583430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B504BB97-77AD-4B92-BAA5-9ADD9F2A9B18}"/>
              </a:ext>
            </a:extLst>
          </p:cNvPr>
          <p:cNvSpPr>
            <a:spLocks noGrp="1"/>
          </p:cNvSpPr>
          <p:nvPr/>
        </p:nvSpPr>
        <p:spPr>
          <a:xfrm>
            <a:off x="4600575" y="4410075"/>
            <a:ext cx="32194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数値として最大を選ぶ</a:t>
            </a:r>
          </a:p>
        </p:txBody>
      </p:sp>
      <p:sp>
        <p:nvSpPr>
          <p:cNvPr id="31" name="shape-29">
            <a:extLst>
              <a:ext uri="{FF2B5EF4-FFF2-40B4-BE49-F238E27FC236}">
                <a16:creationId xmlns:a16="http://schemas.microsoft.com/office/drawing/2014/main" id="{1B1C2E82-044E-4792-BE3D-488262D8F75F}"/>
              </a:ext>
            </a:extLst>
          </p:cNvPr>
          <p:cNvSpPr>
            <a:spLocks noGrp="1"/>
          </p:cNvSpPr>
          <p:nvPr/>
        </p:nvSpPr>
        <p:spPr>
          <a:xfrm>
            <a:off x="4440555" y="510730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C284B1F9-5A71-4C57-B6A5-2884EA8DD8F4}"/>
              </a:ext>
            </a:extLst>
          </p:cNvPr>
          <p:cNvSpPr>
            <a:spLocks noGrp="1"/>
          </p:cNvSpPr>
          <p:nvPr/>
        </p:nvSpPr>
        <p:spPr>
          <a:xfrm>
            <a:off x="4600575" y="4933950"/>
            <a:ext cx="32194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対応する文字を返す</a:t>
            </a:r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60395A68-2B8D-4D03-A3D7-5E351F2581A9}"/>
              </a:ext>
            </a:extLst>
          </p:cNvPr>
          <p:cNvSpPr>
            <a:spLocks noGrp="1"/>
          </p:cNvSpPr>
          <p:nvPr/>
        </p:nvSpPr>
        <p:spPr>
          <a:xfrm>
            <a:off x="8134350" y="2886075"/>
            <a:ext cx="344805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勾配帯 ＋ 構造物レイヤー</a:t>
            </a:r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CA5E676D-ED7F-42BF-8942-1C0684DED6A2}"/>
              </a:ext>
            </a:extLst>
          </p:cNvPr>
          <p:cNvSpPr>
            <a:spLocks noGrp="1"/>
          </p:cNvSpPr>
          <p:nvPr/>
        </p:nvSpPr>
        <p:spPr>
          <a:xfrm>
            <a:off x="8134350" y="3333750"/>
            <a:ext cx="3448050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i= / VCR= / VCL=</a:t>
            </a:r>
          </a:p>
        </p:txBody>
      </p:sp>
      <p:sp>
        <p:nvSpPr>
          <p:cNvPr id="35" name="shape-33">
            <a:extLst>
              <a:ext uri="{FF2B5EF4-FFF2-40B4-BE49-F238E27FC236}">
                <a16:creationId xmlns:a16="http://schemas.microsoft.com/office/drawing/2014/main" id="{D7AAD935-F80D-454D-A006-05B27F67B46F}"/>
              </a:ext>
            </a:extLst>
          </p:cNvPr>
          <p:cNvSpPr>
            <a:spLocks noGrp="1"/>
          </p:cNvSpPr>
          <p:nvPr/>
        </p:nvSpPr>
        <p:spPr>
          <a:xfrm>
            <a:off x="8202930" y="405955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-34">
            <a:extLst>
              <a:ext uri="{FF2B5EF4-FFF2-40B4-BE49-F238E27FC236}">
                <a16:creationId xmlns:a16="http://schemas.microsoft.com/office/drawing/2014/main" id="{19CDB3CB-C2AC-424B-9C28-4DEC29AAE6C3}"/>
              </a:ext>
            </a:extLst>
          </p:cNvPr>
          <p:cNvSpPr>
            <a:spLocks noGrp="1"/>
          </p:cNvSpPr>
          <p:nvPr/>
        </p:nvSpPr>
        <p:spPr>
          <a:xfrm>
            <a:off x="8362950" y="3886200"/>
            <a:ext cx="32194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最急縦断勾配</a:t>
            </a:r>
          </a:p>
        </p:txBody>
      </p:sp>
      <p:sp>
        <p:nvSpPr>
          <p:cNvPr id="37" name="shape-35">
            <a:extLst>
              <a:ext uri="{FF2B5EF4-FFF2-40B4-BE49-F238E27FC236}">
                <a16:creationId xmlns:a16="http://schemas.microsoft.com/office/drawing/2014/main" id="{D7188F41-074D-45E5-B369-3C760CF42699}"/>
              </a:ext>
            </a:extLst>
          </p:cNvPr>
          <p:cNvSpPr>
            <a:spLocks noGrp="1"/>
          </p:cNvSpPr>
          <p:nvPr/>
        </p:nvSpPr>
        <p:spPr>
          <a:xfrm>
            <a:off x="8202930" y="4583430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-36">
            <a:extLst>
              <a:ext uri="{FF2B5EF4-FFF2-40B4-BE49-F238E27FC236}">
                <a16:creationId xmlns:a16="http://schemas.microsoft.com/office/drawing/2014/main" id="{1E25F5F4-E369-4A44-B01E-A3C835765D5C}"/>
              </a:ext>
            </a:extLst>
          </p:cNvPr>
          <p:cNvSpPr>
            <a:spLocks noGrp="1"/>
          </p:cNvSpPr>
          <p:nvPr/>
        </p:nvSpPr>
        <p:spPr>
          <a:xfrm>
            <a:off x="8362950" y="4410075"/>
            <a:ext cx="32194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凸・凹の最小半径</a:t>
            </a:r>
          </a:p>
        </p:txBody>
      </p:sp>
      <p:sp>
        <p:nvSpPr>
          <p:cNvPr id="39" name="shape-37">
            <a:extLst>
              <a:ext uri="{FF2B5EF4-FFF2-40B4-BE49-F238E27FC236}">
                <a16:creationId xmlns:a16="http://schemas.microsoft.com/office/drawing/2014/main" id="{DF2B429B-CF80-4808-9869-123D163CD4C6}"/>
              </a:ext>
            </a:extLst>
          </p:cNvPr>
          <p:cNvSpPr>
            <a:spLocks noGrp="1"/>
          </p:cNvSpPr>
          <p:nvPr/>
        </p:nvSpPr>
        <p:spPr>
          <a:xfrm>
            <a:off x="8202930" y="510730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-38">
            <a:extLst>
              <a:ext uri="{FF2B5EF4-FFF2-40B4-BE49-F238E27FC236}">
                <a16:creationId xmlns:a16="http://schemas.microsoft.com/office/drawing/2014/main" id="{6D024314-5E41-4E0A-85AA-5B30FDB178E7}"/>
              </a:ext>
            </a:extLst>
          </p:cNvPr>
          <p:cNvSpPr>
            <a:spLocks noGrp="1"/>
          </p:cNvSpPr>
          <p:nvPr/>
        </p:nvSpPr>
        <p:spPr>
          <a:xfrm>
            <a:off x="8362950" y="4933950"/>
            <a:ext cx="32194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最小縦断曲線長</a:t>
            </a:r>
          </a:p>
        </p:txBody>
      </p:sp>
      <p:sp>
        <p:nvSpPr>
          <p:cNvPr id="41" name="shape-39">
            <a:extLst>
              <a:ext uri="{FF2B5EF4-FFF2-40B4-BE49-F238E27FC236}">
                <a16:creationId xmlns:a16="http://schemas.microsoft.com/office/drawing/2014/main" id="{46F19B4B-F2A0-4A92-8C08-CE803E4625A0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-40">
            <a:extLst>
              <a:ext uri="{FF2B5EF4-FFF2-40B4-BE49-F238E27FC236}">
                <a16:creationId xmlns:a16="http://schemas.microsoft.com/office/drawing/2014/main" id="{A81D8814-BF50-466D-B689-62CA708DC069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抽出処理があるのは10欄。残る5欄は、値を取得せず「-」を固定で転記する</a:t>
            </a:r>
          </a:p>
        </p:txBody>
      </p:sp>
      <p:sp>
        <p:nvSpPr>
          <p:cNvPr id="44" name="shape-3">
            <a:extLst>
              <a:ext uri="{FF2B5EF4-FFF2-40B4-BE49-F238E27FC236}">
                <a16:creationId xmlns:a16="http://schemas.microsoft.com/office/drawing/2014/main" id="{0BC056C9-3286-8054-6EEA-C2D5FFD16D8E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12922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kicker-marker">
            <a:extLst>
              <a:ext uri="{FF2B5EF4-FFF2-40B4-BE49-F238E27FC236}">
                <a16:creationId xmlns:a16="http://schemas.microsoft.com/office/drawing/2014/main" id="{52D8A49C-B356-4E75-A9A6-8B7572AB496C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C92A3F5B-6987-445F-9545-6E31A9CAC8C2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10  PLANAR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9D7117C0-066E-43C3-A179-1F94B9DE8BA6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対応付けたRとLから、最小値を選ぶ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54B9F17D-D640-49D9-AC58-E89652A902F9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緩和曲線の省略欄は、Aの並びから候補を選びます。法的な省略可否の判断ではありません。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D04B826E-253C-4A71-918C-393CE1419498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緩和曲線の省略欄はAとRの並びで候補を選びます。実際の省略可否は評価者が確認します。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A9C8C26F-605E-461B-84D6-092B21305FB2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DB6AB1C0-D9AD-400C-98C6-E3119160576B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6096000" cy="619125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D49E122B-8F96-474C-B157-0FC82F12C47B}"/>
              </a:ext>
            </a:extLst>
          </p:cNvPr>
          <p:cNvSpPr>
            <a:spLocks noGrp="1"/>
          </p:cNvSpPr>
          <p:nvPr/>
        </p:nvSpPr>
        <p:spPr>
          <a:xfrm>
            <a:off x="723900" y="2228850"/>
            <a:ext cx="1724025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X順の組（例）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260A1B79-42E2-4617-A943-28D3191E496D}"/>
              </a:ext>
            </a:extLst>
          </p:cNvPr>
          <p:cNvSpPr>
            <a:spLocks noGrp="1"/>
          </p:cNvSpPr>
          <p:nvPr/>
        </p:nvSpPr>
        <p:spPr>
          <a:xfrm>
            <a:off x="2676525" y="2228850"/>
            <a:ext cx="1819275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R / A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19B2BB08-1A4B-4630-BC3B-550A99209747}"/>
              </a:ext>
            </a:extLst>
          </p:cNvPr>
          <p:cNvSpPr>
            <a:spLocks noGrp="1"/>
          </p:cNvSpPr>
          <p:nvPr/>
        </p:nvSpPr>
        <p:spPr>
          <a:xfrm>
            <a:off x="4724400" y="2228850"/>
            <a:ext cx="186690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対応するL</a:t>
            </a:r>
          </a:p>
        </p:txBody>
      </p:sp>
      <p:sp>
        <p:nvSpPr>
          <p:cNvPr id="13" name="shape-11">
            <a:extLst>
              <a:ext uri="{FF2B5EF4-FFF2-40B4-BE49-F238E27FC236}">
                <a16:creationId xmlns:a16="http://schemas.microsoft.com/office/drawing/2014/main" id="{2A1FFC55-1B3A-4D9C-8A30-8BAEBEDD0C67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0960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3A61F148-675B-4759-9EF6-91DAD0A36CEF}"/>
              </a:ext>
            </a:extLst>
          </p:cNvPr>
          <p:cNvSpPr>
            <a:spLocks noGrp="1"/>
          </p:cNvSpPr>
          <p:nvPr/>
        </p:nvSpPr>
        <p:spPr>
          <a:xfrm>
            <a:off x="723900" y="2847975"/>
            <a:ext cx="1724025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R–L</a:t>
            </a:r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B37242CF-05FB-4113-8837-62F468A78CF1}"/>
              </a:ext>
            </a:extLst>
          </p:cNvPr>
          <p:cNvSpPr>
            <a:spLocks noGrp="1"/>
          </p:cNvSpPr>
          <p:nvPr/>
        </p:nvSpPr>
        <p:spPr>
          <a:xfrm>
            <a:off x="2676525" y="2847975"/>
            <a:ext cx="1819275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R=200</a:t>
            </a:r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07AD7BE7-595B-4E1F-AD96-FEE0B490C358}"/>
              </a:ext>
            </a:extLst>
          </p:cNvPr>
          <p:cNvSpPr>
            <a:spLocks noGrp="1"/>
          </p:cNvSpPr>
          <p:nvPr/>
        </p:nvSpPr>
        <p:spPr>
          <a:xfrm>
            <a:off x="4724400" y="2847975"/>
            <a:ext cx="186690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L=80</a:t>
            </a:r>
          </a:p>
        </p:txBody>
      </p:sp>
      <p:sp>
        <p:nvSpPr>
          <p:cNvPr id="17" name="shape-15">
            <a:extLst>
              <a:ext uri="{FF2B5EF4-FFF2-40B4-BE49-F238E27FC236}">
                <a16:creationId xmlns:a16="http://schemas.microsoft.com/office/drawing/2014/main" id="{34A4E8FD-2717-4992-99A0-97BE78A6DF21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096000" cy="619125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-16">
            <a:extLst>
              <a:ext uri="{FF2B5EF4-FFF2-40B4-BE49-F238E27FC236}">
                <a16:creationId xmlns:a16="http://schemas.microsoft.com/office/drawing/2014/main" id="{EB8C1AF5-5825-4795-8A4F-19F0A11225EF}"/>
              </a:ext>
            </a:extLst>
          </p:cNvPr>
          <p:cNvSpPr>
            <a:spLocks noGrp="1"/>
          </p:cNvSpPr>
          <p:nvPr/>
        </p:nvSpPr>
        <p:spPr>
          <a:xfrm>
            <a:off x="609600" y="3971925"/>
            <a:ext cx="60960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-17">
            <a:extLst>
              <a:ext uri="{FF2B5EF4-FFF2-40B4-BE49-F238E27FC236}">
                <a16:creationId xmlns:a16="http://schemas.microsoft.com/office/drawing/2014/main" id="{FA377D6D-A0B7-4861-88DD-EA700EED5887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1724025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A–L</a:t>
            </a:r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68E51DC4-76CD-4488-8C41-56795C6ECBAE}"/>
              </a:ext>
            </a:extLst>
          </p:cNvPr>
          <p:cNvSpPr>
            <a:spLocks noGrp="1"/>
          </p:cNvSpPr>
          <p:nvPr/>
        </p:nvSpPr>
        <p:spPr>
          <a:xfrm>
            <a:off x="2676525" y="3467100"/>
            <a:ext cx="1819275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A=90</a:t>
            </a:r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EADF6285-D3FC-4E3B-B052-20690CAC4082}"/>
              </a:ext>
            </a:extLst>
          </p:cNvPr>
          <p:cNvSpPr>
            <a:spLocks noGrp="1"/>
          </p:cNvSpPr>
          <p:nvPr/>
        </p:nvSpPr>
        <p:spPr>
          <a:xfrm>
            <a:off x="4724400" y="3467100"/>
            <a:ext cx="186690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L=40</a:t>
            </a:r>
          </a:p>
        </p:txBody>
      </p:sp>
      <p:sp>
        <p:nvSpPr>
          <p:cNvPr id="22" name="shape-20">
            <a:extLst>
              <a:ext uri="{FF2B5EF4-FFF2-40B4-BE49-F238E27FC236}">
                <a16:creationId xmlns:a16="http://schemas.microsoft.com/office/drawing/2014/main" id="{EB9C65C4-A11B-4B58-90B5-C54A269371B6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60960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F29A32AE-35AC-4953-810A-F2FF8D50DC72}"/>
              </a:ext>
            </a:extLst>
          </p:cNvPr>
          <p:cNvSpPr>
            <a:spLocks noGrp="1"/>
          </p:cNvSpPr>
          <p:nvPr/>
        </p:nvSpPr>
        <p:spPr>
          <a:xfrm>
            <a:off x="723900" y="4086225"/>
            <a:ext cx="1724025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R–L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D3E55946-DCFA-488C-BEAF-63E56004564A}"/>
              </a:ext>
            </a:extLst>
          </p:cNvPr>
          <p:cNvSpPr>
            <a:spLocks noGrp="1"/>
          </p:cNvSpPr>
          <p:nvPr/>
        </p:nvSpPr>
        <p:spPr>
          <a:xfrm>
            <a:off x="2676525" y="4086225"/>
            <a:ext cx="1819275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R=100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180A279E-6DD9-430F-BC45-976B727C8FDF}"/>
              </a:ext>
            </a:extLst>
          </p:cNvPr>
          <p:cNvSpPr>
            <a:spLocks noGrp="1"/>
          </p:cNvSpPr>
          <p:nvPr/>
        </p:nvSpPr>
        <p:spPr>
          <a:xfrm>
            <a:off x="4724400" y="4086225"/>
            <a:ext cx="186690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L=60</a:t>
            </a:r>
          </a:p>
        </p:txBody>
      </p:sp>
      <p:sp>
        <p:nvSpPr>
          <p:cNvPr id="26" name="shape-24">
            <a:extLst>
              <a:ext uri="{FF2B5EF4-FFF2-40B4-BE49-F238E27FC236}">
                <a16:creationId xmlns:a16="http://schemas.microsoft.com/office/drawing/2014/main" id="{09895155-6AAF-42E8-8AB7-5E0C8258EEBA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6096000" cy="619125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-25">
            <a:extLst>
              <a:ext uri="{FF2B5EF4-FFF2-40B4-BE49-F238E27FC236}">
                <a16:creationId xmlns:a16="http://schemas.microsoft.com/office/drawing/2014/main" id="{A951891A-58B4-467A-A30A-0C1CB1C408AB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60960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1C79B310-64BE-4CD9-8D63-0D5F432190E8}"/>
              </a:ext>
            </a:extLst>
          </p:cNvPr>
          <p:cNvSpPr>
            <a:spLocks noGrp="1"/>
          </p:cNvSpPr>
          <p:nvPr/>
        </p:nvSpPr>
        <p:spPr>
          <a:xfrm>
            <a:off x="723900" y="4705350"/>
            <a:ext cx="1724025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A–L</a:t>
            </a:r>
          </a:p>
        </p:txBody>
      </p:sp>
      <p:sp>
        <p:nvSpPr>
          <p:cNvPr id="29" name="text-27">
            <a:extLst>
              <a:ext uri="{FF2B5EF4-FFF2-40B4-BE49-F238E27FC236}">
                <a16:creationId xmlns:a16="http://schemas.microsoft.com/office/drawing/2014/main" id="{3860E5B6-F65E-4380-A850-4697433560DB}"/>
              </a:ext>
            </a:extLst>
          </p:cNvPr>
          <p:cNvSpPr>
            <a:spLocks noGrp="1"/>
          </p:cNvSpPr>
          <p:nvPr/>
        </p:nvSpPr>
        <p:spPr>
          <a:xfrm>
            <a:off x="2676525" y="4705350"/>
            <a:ext cx="1819275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A=80</a:t>
            </a:r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B692DDAD-A93D-4CB4-8F16-090E8B700DDA}"/>
              </a:ext>
            </a:extLst>
          </p:cNvPr>
          <p:cNvSpPr>
            <a:spLocks noGrp="1"/>
          </p:cNvSpPr>
          <p:nvPr/>
        </p:nvSpPr>
        <p:spPr>
          <a:xfrm>
            <a:off x="4724400" y="4705350"/>
            <a:ext cx="186690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L=30</a:t>
            </a:r>
          </a:p>
        </p:txBody>
      </p:sp>
      <p:sp>
        <p:nvSpPr>
          <p:cNvPr id="31" name="text-29">
            <a:extLst>
              <a:ext uri="{FF2B5EF4-FFF2-40B4-BE49-F238E27FC236}">
                <a16:creationId xmlns:a16="http://schemas.microsoft.com/office/drawing/2014/main" id="{C3C29880-2B69-4E54-B741-82314BCA4C49}"/>
              </a:ext>
            </a:extLst>
          </p:cNvPr>
          <p:cNvSpPr>
            <a:spLocks noGrp="1"/>
          </p:cNvSpPr>
          <p:nvPr/>
        </p:nvSpPr>
        <p:spPr>
          <a:xfrm>
            <a:off x="7600950" y="2105025"/>
            <a:ext cx="3981450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採用結果</a:t>
            </a:r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BDB370F9-28A3-4FC6-A7FA-A086E347143B}"/>
              </a:ext>
            </a:extLst>
          </p:cNvPr>
          <p:cNvSpPr>
            <a:spLocks noGrp="1"/>
          </p:cNvSpPr>
          <p:nvPr/>
        </p:nvSpPr>
        <p:spPr>
          <a:xfrm>
            <a:off x="7600950" y="2686050"/>
            <a:ext cx="3981450" cy="3429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最小曲線半径</a:t>
            </a:r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720BB2B1-AA73-452E-A177-4A9FA210A1CA}"/>
              </a:ext>
            </a:extLst>
          </p:cNvPr>
          <p:cNvSpPr>
            <a:spLocks noGrp="1"/>
          </p:cNvSpPr>
          <p:nvPr/>
        </p:nvSpPr>
        <p:spPr>
          <a:xfrm>
            <a:off x="7600950" y="3067050"/>
            <a:ext cx="398145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min(200, 100) = 100</a:t>
            </a:r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2067804B-5C12-4F09-9B86-805DB372433D}"/>
              </a:ext>
            </a:extLst>
          </p:cNvPr>
          <p:cNvSpPr>
            <a:spLocks noGrp="1"/>
          </p:cNvSpPr>
          <p:nvPr/>
        </p:nvSpPr>
        <p:spPr>
          <a:xfrm>
            <a:off x="7600950" y="3800475"/>
            <a:ext cx="3981450" cy="3429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最小緩和曲線長</a:t>
            </a:r>
          </a:p>
        </p:txBody>
      </p:sp>
      <p:sp>
        <p:nvSpPr>
          <p:cNvPr id="35" name="text-33">
            <a:extLst>
              <a:ext uri="{FF2B5EF4-FFF2-40B4-BE49-F238E27FC236}">
                <a16:creationId xmlns:a16="http://schemas.microsoft.com/office/drawing/2014/main" id="{06D08534-1C64-4430-B979-5D6F6C114258}"/>
              </a:ext>
            </a:extLst>
          </p:cNvPr>
          <p:cNvSpPr>
            <a:spLocks noGrp="1"/>
          </p:cNvSpPr>
          <p:nvPr/>
        </p:nvSpPr>
        <p:spPr>
          <a:xfrm>
            <a:off x="7600950" y="4181475"/>
            <a:ext cx="398145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AのL：min(40, 30) = 30</a:t>
            </a:r>
          </a:p>
        </p:txBody>
      </p:sp>
      <p:sp>
        <p:nvSpPr>
          <p:cNvPr id="36" name="shape-34">
            <a:extLst>
              <a:ext uri="{FF2B5EF4-FFF2-40B4-BE49-F238E27FC236}">
                <a16:creationId xmlns:a16="http://schemas.microsoft.com/office/drawing/2014/main" id="{CA1EC377-AFDE-485E-AC93-3AE25A56AF3F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-35">
            <a:extLst>
              <a:ext uri="{FF2B5EF4-FFF2-40B4-BE49-F238E27FC236}">
                <a16:creationId xmlns:a16="http://schemas.microsoft.com/office/drawing/2014/main" id="{81EF51C0-B198-4586-9894-692150B453A8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2857500" cy="4572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緩和曲線省略半径</a:t>
            </a:r>
          </a:p>
        </p:txBody>
      </p:sp>
      <p:sp>
        <p:nvSpPr>
          <p:cNvPr id="38" name="text-36">
            <a:extLst>
              <a:ext uri="{FF2B5EF4-FFF2-40B4-BE49-F238E27FC236}">
                <a16:creationId xmlns:a16="http://schemas.microsoft.com/office/drawing/2014/main" id="{E989AA2E-FC92-4502-9B60-6BD42263DD43}"/>
              </a:ext>
            </a:extLst>
          </p:cNvPr>
          <p:cNvSpPr>
            <a:spLocks noGrp="1"/>
          </p:cNvSpPr>
          <p:nvPr/>
        </p:nvSpPr>
        <p:spPr>
          <a:xfrm>
            <a:off x="3638550" y="5457825"/>
            <a:ext cx="7943850" cy="376238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別の例：R=200（直前・直後にAなし）→ 候補 → 最小を採用</a:t>
            </a:r>
          </a:p>
        </p:txBody>
      </p:sp>
      <p:sp>
        <p:nvSpPr>
          <p:cNvPr id="39" name="text-37">
            <a:extLst>
              <a:ext uri="{FF2B5EF4-FFF2-40B4-BE49-F238E27FC236}">
                <a16:creationId xmlns:a16="http://schemas.microsoft.com/office/drawing/2014/main" id="{05F2870C-4FA5-4902-A76D-FA8801EB9171}"/>
              </a:ext>
            </a:extLst>
          </p:cNvPr>
          <p:cNvSpPr>
            <a:spLocks noGrp="1"/>
          </p:cNvSpPr>
          <p:nvPr/>
        </p:nvSpPr>
        <p:spPr>
          <a:xfrm>
            <a:off x="3638550" y="5834063"/>
            <a:ext cx="7943850" cy="376238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R=100（直前・直後にAあり）→ この欄の対象外</a:t>
            </a:r>
          </a:p>
        </p:txBody>
      </p:sp>
      <p:sp>
        <p:nvSpPr>
          <p:cNvPr id="41" name="shape-3">
            <a:extLst>
              <a:ext uri="{FF2B5EF4-FFF2-40B4-BE49-F238E27FC236}">
                <a16:creationId xmlns:a16="http://schemas.microsoft.com/office/drawing/2014/main" id="{5390DBEF-637F-0D06-1E65-59494C8822E9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60280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kicker-marker">
            <a:extLst>
              <a:ext uri="{FF2B5EF4-FFF2-40B4-BE49-F238E27FC236}">
                <a16:creationId xmlns:a16="http://schemas.microsoft.com/office/drawing/2014/main" id="{2CAB440F-FFCD-48A1-A523-5A155D06C63D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E834AE67-A945-4600-BDCB-63B27D9AF295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11  SPEED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AA6B9781-E12B-486F-81AA-47783B0FE04B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曲線長は、80km/h未満・以上の2区分を計算する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04EDD2CF-870C-4D20-B755-65595A577B87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設計速度をDXFから選ぶ処理はありません。以下は同方向A–R–Rの説明用例です。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117A048E-4605-4DDE-B6FF-A1CFD95DE8B0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2つの速度区分の値を保存します。帳票に表示する値は、Excelの設計速度N1で選ばれます。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FD2E5941-FEDD-48A2-B35F-FB673E0BC7E5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BC49439A-B84B-4F93-A794-4E54C197F636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5334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1925ADB1-BF46-4D4F-A866-B34A0772F869}"/>
              </a:ext>
            </a:extLst>
          </p:cNvPr>
          <p:cNvSpPr>
            <a:spLocks noGrp="1"/>
          </p:cNvSpPr>
          <p:nvPr/>
        </p:nvSpPr>
        <p:spPr>
          <a:xfrm>
            <a:off x="723900" y="2228850"/>
            <a:ext cx="3200400" cy="3048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並び（同方向）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3DE9A42D-5236-44EB-B31D-60A51395AEA3}"/>
              </a:ext>
            </a:extLst>
          </p:cNvPr>
          <p:cNvSpPr>
            <a:spLocks noGrp="1"/>
          </p:cNvSpPr>
          <p:nvPr/>
        </p:nvSpPr>
        <p:spPr>
          <a:xfrm>
            <a:off x="4152900" y="2228850"/>
            <a:ext cx="2286000" cy="3048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A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68EF57D7-3182-4019-A156-ECD01250B3CE}"/>
              </a:ext>
            </a:extLst>
          </p:cNvPr>
          <p:cNvSpPr>
            <a:spLocks noGrp="1"/>
          </p:cNvSpPr>
          <p:nvPr/>
        </p:nvSpPr>
        <p:spPr>
          <a:xfrm>
            <a:off x="6667500" y="2228850"/>
            <a:ext cx="2286000" cy="3048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R=100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39601C90-7A9F-40AC-9637-ABF565089E88}"/>
              </a:ext>
            </a:extLst>
          </p:cNvPr>
          <p:cNvSpPr>
            <a:spLocks noGrp="1"/>
          </p:cNvSpPr>
          <p:nvPr/>
        </p:nvSpPr>
        <p:spPr>
          <a:xfrm>
            <a:off x="9182100" y="2228850"/>
            <a:ext cx="2286000" cy="3048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R=180</a:t>
            </a:r>
          </a:p>
        </p:txBody>
      </p:sp>
      <p:sp>
        <p:nvSpPr>
          <p:cNvPr id="14" name="shape-12">
            <a:extLst>
              <a:ext uri="{FF2B5EF4-FFF2-40B4-BE49-F238E27FC236}">
                <a16:creationId xmlns:a16="http://schemas.microsoft.com/office/drawing/2014/main" id="{47D67450-291E-40F9-AE4C-1BB2DE3CE3C5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02EBBB92-4B94-43E4-9A64-E0B48EFB8C24}"/>
              </a:ext>
            </a:extLst>
          </p:cNvPr>
          <p:cNvSpPr>
            <a:spLocks noGrp="1"/>
          </p:cNvSpPr>
          <p:nvPr/>
        </p:nvSpPr>
        <p:spPr>
          <a:xfrm>
            <a:off x="723900" y="2762250"/>
            <a:ext cx="3200400" cy="3048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対応する長さL</a:t>
            </a:r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2013BA50-5F30-4993-A463-26F7D8B7A4FB}"/>
              </a:ext>
            </a:extLst>
          </p:cNvPr>
          <p:cNvSpPr>
            <a:spLocks noGrp="1"/>
          </p:cNvSpPr>
          <p:nvPr/>
        </p:nvSpPr>
        <p:spPr>
          <a:xfrm>
            <a:off x="4152900" y="2762250"/>
            <a:ext cx="2286000" cy="3048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30</a:t>
            </a:r>
          </a:p>
        </p:txBody>
      </p:sp>
      <p:sp>
        <p:nvSpPr>
          <p:cNvPr id="17" name="text-15">
            <a:extLst>
              <a:ext uri="{FF2B5EF4-FFF2-40B4-BE49-F238E27FC236}">
                <a16:creationId xmlns:a16="http://schemas.microsoft.com/office/drawing/2014/main" id="{3FFCB409-2863-4BA9-9879-4D6CF4614134}"/>
              </a:ext>
            </a:extLst>
          </p:cNvPr>
          <p:cNvSpPr>
            <a:spLocks noGrp="1"/>
          </p:cNvSpPr>
          <p:nvPr/>
        </p:nvSpPr>
        <p:spPr>
          <a:xfrm>
            <a:off x="6667500" y="2762250"/>
            <a:ext cx="2286000" cy="3048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80</a:t>
            </a:r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7B88FB51-1619-4300-9172-1CDB76DC690B}"/>
              </a:ext>
            </a:extLst>
          </p:cNvPr>
          <p:cNvSpPr>
            <a:spLocks noGrp="1"/>
          </p:cNvSpPr>
          <p:nvPr/>
        </p:nvSpPr>
        <p:spPr>
          <a:xfrm>
            <a:off x="9182100" y="2762250"/>
            <a:ext cx="2286000" cy="3048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70</a:t>
            </a:r>
          </a:p>
        </p:txBody>
      </p:sp>
      <p:sp>
        <p:nvSpPr>
          <p:cNvPr id="19" name="shape-17">
            <a:extLst>
              <a:ext uri="{FF2B5EF4-FFF2-40B4-BE49-F238E27FC236}">
                <a16:creationId xmlns:a16="http://schemas.microsoft.com/office/drawing/2014/main" id="{33E86B28-53A4-4A6F-9A5C-6BED053251C7}"/>
              </a:ext>
            </a:extLst>
          </p:cNvPr>
          <p:cNvSpPr>
            <a:spLocks noGrp="1"/>
          </p:cNvSpPr>
          <p:nvPr/>
        </p:nvSpPr>
        <p:spPr>
          <a:xfrm>
            <a:off x="609600" y="3629025"/>
            <a:ext cx="5219700" cy="16764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-18">
            <a:extLst>
              <a:ext uri="{FF2B5EF4-FFF2-40B4-BE49-F238E27FC236}">
                <a16:creationId xmlns:a16="http://schemas.microsoft.com/office/drawing/2014/main" id="{CAA69748-369F-4223-BBDD-3CA429A6AF11}"/>
              </a:ext>
            </a:extLst>
          </p:cNvPr>
          <p:cNvSpPr>
            <a:spLocks noGrp="1"/>
          </p:cNvSpPr>
          <p:nvPr/>
        </p:nvSpPr>
        <p:spPr>
          <a:xfrm>
            <a:off x="6153150" y="3629025"/>
            <a:ext cx="5429250" cy="167640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ABE1ABE5-8773-4CDF-A1C8-D5FF95F392A5}"/>
              </a:ext>
            </a:extLst>
          </p:cNvPr>
          <p:cNvSpPr>
            <a:spLocks noGrp="1"/>
          </p:cNvSpPr>
          <p:nvPr/>
        </p:nvSpPr>
        <p:spPr>
          <a:xfrm>
            <a:off x="838200" y="3762375"/>
            <a:ext cx="47625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80km/h 未満用</a:t>
            </a:r>
          </a:p>
        </p:txBody>
      </p:sp>
      <p:sp>
        <p:nvSpPr>
          <p:cNvPr id="22" name="text-20">
            <a:extLst>
              <a:ext uri="{FF2B5EF4-FFF2-40B4-BE49-F238E27FC236}">
                <a16:creationId xmlns:a16="http://schemas.microsoft.com/office/drawing/2014/main" id="{4506F1A3-7A46-444F-A261-AA7F499F5536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4762500" cy="3524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180 ≦ 100 × 2 → 合算</a:t>
            </a:r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454767B9-1E3D-4996-8608-E163C93C3DA3}"/>
              </a:ext>
            </a:extLst>
          </p:cNvPr>
          <p:cNvSpPr>
            <a:spLocks noGrp="1"/>
          </p:cNvSpPr>
          <p:nvPr/>
        </p:nvSpPr>
        <p:spPr>
          <a:xfrm>
            <a:off x="838200" y="4733925"/>
            <a:ext cx="4762500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30 + 80 + 70 = 180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180D96DA-C561-4C1A-BC70-FED49B0F41C0}"/>
              </a:ext>
            </a:extLst>
          </p:cNvPr>
          <p:cNvSpPr>
            <a:spLocks noGrp="1"/>
          </p:cNvSpPr>
          <p:nvPr/>
        </p:nvSpPr>
        <p:spPr>
          <a:xfrm>
            <a:off x="6400800" y="3762375"/>
            <a:ext cx="493395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80km/h 以上用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C8234949-27E6-4A3B-8DEA-10ACC247621F}"/>
              </a:ext>
            </a:extLst>
          </p:cNvPr>
          <p:cNvSpPr>
            <a:spLocks noGrp="1"/>
          </p:cNvSpPr>
          <p:nvPr/>
        </p:nvSpPr>
        <p:spPr>
          <a:xfrm>
            <a:off x="6400800" y="4267200"/>
            <a:ext cx="4933950" cy="3524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180 ＞ 100 × 1.5 → 別候補</a:t>
            </a:r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B47E005C-3F9E-4E29-8A39-BB44FE35E37C}"/>
              </a:ext>
            </a:extLst>
          </p:cNvPr>
          <p:cNvSpPr>
            <a:spLocks noGrp="1"/>
          </p:cNvSpPr>
          <p:nvPr/>
        </p:nvSpPr>
        <p:spPr>
          <a:xfrm>
            <a:off x="6400800" y="4733925"/>
            <a:ext cx="4933950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min(30 + 80, 70) = 70</a:t>
            </a:r>
          </a:p>
        </p:txBody>
      </p:sp>
      <p:sp>
        <p:nvSpPr>
          <p:cNvPr id="27" name="shape-25">
            <a:extLst>
              <a:ext uri="{FF2B5EF4-FFF2-40B4-BE49-F238E27FC236}">
                <a16:creationId xmlns:a16="http://schemas.microsoft.com/office/drawing/2014/main" id="{C57F3609-5F6F-40C5-AC66-770BFBEEF28D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4368A5B3-E981-4638-BCB7-A5D8D0F8F4E3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2つの結果を保存し、Excelの設計速度N1で表示を選ぶ。複合曲線の制約は18ページ参照</a:t>
            </a:r>
          </a:p>
        </p:txBody>
      </p:sp>
      <p:sp>
        <p:nvSpPr>
          <p:cNvPr id="30" name="shape-3">
            <a:extLst>
              <a:ext uri="{FF2B5EF4-FFF2-40B4-BE49-F238E27FC236}">
                <a16:creationId xmlns:a16="http://schemas.microsoft.com/office/drawing/2014/main" id="{1FC9D7E8-510A-31A2-6779-E84DBC3E81AA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8572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kicker-marker">
            <a:extLst>
              <a:ext uri="{FF2B5EF4-FFF2-40B4-BE49-F238E27FC236}">
                <a16:creationId xmlns:a16="http://schemas.microsoft.com/office/drawing/2014/main" id="{DF2236E5-16DD-4F21-A997-916EAC17ADF1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CCE9BECF-8F28-4281-9966-FCC00773A0D2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12  RUNOFF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48C3F0B2-A2E1-4C65-88E2-B74DBBD62E5D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片勾配摺付率は、帯内の分数を比較して選ぶ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FFD5CBD5-87B2-496D-A0C6-F762FDC72D44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図形の傾きや延長から率を新たに計算する処理ではありません。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E42B4D62-78D6-4B01-B65B-94DD8C8EB1E5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分数を数値として比較します。1つの文字に複数の分数があっても、読むのは最初の分数です。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C5D3D88B-AF92-4C0C-9CF3-E1C18E99E2D7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0A4FB27D-E5F9-44FC-89E2-2F477BBF4BAF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4381500" cy="3524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片勾配帯（概念・数値例）</a:t>
            </a:r>
          </a:p>
        </p:txBody>
      </p:sp>
      <p:sp>
        <p:nvSpPr>
          <p:cNvPr id="10" name="shape-8">
            <a:extLst>
              <a:ext uri="{FF2B5EF4-FFF2-40B4-BE49-F238E27FC236}">
                <a16:creationId xmlns:a16="http://schemas.microsoft.com/office/drawing/2014/main" id="{13860C80-2274-4FDD-9CC7-A2DE96C25580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7181850" cy="17907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-9">
            <a:extLst>
              <a:ext uri="{FF2B5EF4-FFF2-40B4-BE49-F238E27FC236}">
                <a16:creationId xmlns:a16="http://schemas.microsoft.com/office/drawing/2014/main" id="{A345081C-9ED2-4B90-AFF3-25CA2D2437AC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143000" cy="179070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9EBCA753-E4BA-4DFA-8572-E78F54AE5E94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933450" cy="17907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2FF31249-DD17-4F49-A790-DBCC309479DD}"/>
              </a:ext>
            </a:extLst>
          </p:cNvPr>
          <p:cNvSpPr>
            <a:spLocks noGrp="1"/>
          </p:cNvSpPr>
          <p:nvPr/>
        </p:nvSpPr>
        <p:spPr>
          <a:xfrm>
            <a:off x="2447925" y="3667125"/>
            <a:ext cx="1714500" cy="4381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1/150</a:t>
            </a:r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2CCAD969-EC59-4BCD-A1EF-FA6C9D8450D7}"/>
              </a:ext>
            </a:extLst>
          </p:cNvPr>
          <p:cNvSpPr>
            <a:spLocks noGrp="1"/>
          </p:cNvSpPr>
          <p:nvPr/>
        </p:nvSpPr>
        <p:spPr>
          <a:xfrm>
            <a:off x="5086350" y="3667125"/>
            <a:ext cx="1714500" cy="4381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1/100</a:t>
            </a:r>
          </a:p>
        </p:txBody>
      </p:sp>
      <p:sp>
        <p:nvSpPr>
          <p:cNvPr id="15" name="shape-13">
            <a:extLst>
              <a:ext uri="{FF2B5EF4-FFF2-40B4-BE49-F238E27FC236}">
                <a16:creationId xmlns:a16="http://schemas.microsoft.com/office/drawing/2014/main" id="{3660F609-7596-4E7B-A73F-1B1E7178AF75}"/>
              </a:ext>
            </a:extLst>
          </p:cNvPr>
          <p:cNvSpPr>
            <a:spLocks noGrp="1"/>
          </p:cNvSpPr>
          <p:nvPr/>
        </p:nvSpPr>
        <p:spPr>
          <a:xfrm>
            <a:off x="2409825" y="4162425"/>
            <a:ext cx="76200" cy="7620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-14">
            <a:extLst>
              <a:ext uri="{FF2B5EF4-FFF2-40B4-BE49-F238E27FC236}">
                <a16:creationId xmlns:a16="http://schemas.microsoft.com/office/drawing/2014/main" id="{98AFD7D0-C4C8-4C6A-BD0C-26F6D98B3536}"/>
              </a:ext>
            </a:extLst>
          </p:cNvPr>
          <p:cNvSpPr>
            <a:spLocks noGrp="1"/>
          </p:cNvSpPr>
          <p:nvPr/>
        </p:nvSpPr>
        <p:spPr>
          <a:xfrm>
            <a:off x="5048250" y="4162425"/>
            <a:ext cx="76200" cy="7620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-15">
            <a:extLst>
              <a:ext uri="{FF2B5EF4-FFF2-40B4-BE49-F238E27FC236}">
                <a16:creationId xmlns:a16="http://schemas.microsoft.com/office/drawing/2014/main" id="{AD427E7A-9401-48A1-8307-3C28F9ABCA9D}"/>
              </a:ext>
            </a:extLst>
          </p:cNvPr>
          <p:cNvSpPr>
            <a:spLocks noGrp="1"/>
          </p:cNvSpPr>
          <p:nvPr/>
        </p:nvSpPr>
        <p:spPr>
          <a:xfrm>
            <a:off x="5162550" y="2362200"/>
            <a:ext cx="1666875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1/80</a:t>
            </a:r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8D046AFF-5AB2-464F-A65A-3AE0F6E00238}"/>
              </a:ext>
            </a:extLst>
          </p:cNvPr>
          <p:cNvSpPr>
            <a:spLocks noGrp="1"/>
          </p:cNvSpPr>
          <p:nvPr/>
        </p:nvSpPr>
        <p:spPr>
          <a:xfrm>
            <a:off x="5162550" y="2800350"/>
            <a:ext cx="2209800" cy="285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帯外のため対象外</a:t>
            </a:r>
          </a:p>
        </p:txBody>
      </p:sp>
      <p:sp>
        <p:nvSpPr>
          <p:cNvPr id="19" name="text-17">
            <a:extLst>
              <a:ext uri="{FF2B5EF4-FFF2-40B4-BE49-F238E27FC236}">
                <a16:creationId xmlns:a16="http://schemas.microsoft.com/office/drawing/2014/main" id="{8988D285-DFF9-485F-9CA5-0B596876DC7C}"/>
              </a:ext>
            </a:extLst>
          </p:cNvPr>
          <p:cNvSpPr>
            <a:spLocks noGrp="1"/>
          </p:cNvSpPr>
          <p:nvPr/>
        </p:nvSpPr>
        <p:spPr>
          <a:xfrm>
            <a:off x="8324850" y="2171700"/>
            <a:ext cx="3257550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数値として比較</a:t>
            </a:r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B2D489A6-7F1A-4E7F-8C58-9D55624CDC74}"/>
              </a:ext>
            </a:extLst>
          </p:cNvPr>
          <p:cNvSpPr>
            <a:spLocks noGrp="1"/>
          </p:cNvSpPr>
          <p:nvPr/>
        </p:nvSpPr>
        <p:spPr>
          <a:xfrm>
            <a:off x="8324850" y="2867025"/>
            <a:ext cx="325755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1/150 ≒ 0.0067</a:t>
            </a:r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6AAB383E-E367-497E-BBE1-FC34860331CA}"/>
              </a:ext>
            </a:extLst>
          </p:cNvPr>
          <p:cNvSpPr>
            <a:spLocks noGrp="1"/>
          </p:cNvSpPr>
          <p:nvPr/>
        </p:nvSpPr>
        <p:spPr>
          <a:xfrm>
            <a:off x="8324850" y="3314700"/>
            <a:ext cx="325755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1/100 = 0.01</a:t>
            </a:r>
          </a:p>
        </p:txBody>
      </p:sp>
      <p:sp>
        <p:nvSpPr>
          <p:cNvPr id="22" name="shape-20">
            <a:extLst>
              <a:ext uri="{FF2B5EF4-FFF2-40B4-BE49-F238E27FC236}">
                <a16:creationId xmlns:a16="http://schemas.microsoft.com/office/drawing/2014/main" id="{79550DAE-A213-4DCC-BD3E-A323328514E6}"/>
              </a:ext>
            </a:extLst>
          </p:cNvPr>
          <p:cNvSpPr>
            <a:spLocks noGrp="1"/>
          </p:cNvSpPr>
          <p:nvPr/>
        </p:nvSpPr>
        <p:spPr>
          <a:xfrm>
            <a:off x="8324850" y="4257675"/>
            <a:ext cx="3257550" cy="3429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088149CA-94CF-4174-89B5-D9250E5764A6}"/>
              </a:ext>
            </a:extLst>
          </p:cNvPr>
          <p:cNvSpPr>
            <a:spLocks noGrp="1"/>
          </p:cNvSpPr>
          <p:nvPr/>
        </p:nvSpPr>
        <p:spPr>
          <a:xfrm>
            <a:off x="8439150" y="4257675"/>
            <a:ext cx="3028950" cy="3429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最大：1/100 を採用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E3199570-AEC7-43D6-9F7E-613B663B9EE0}"/>
              </a:ext>
            </a:extLst>
          </p:cNvPr>
          <p:cNvSpPr>
            <a:spLocks noGrp="1"/>
          </p:cNvSpPr>
          <p:nvPr/>
        </p:nvSpPr>
        <p:spPr>
          <a:xfrm>
            <a:off x="8324850" y="4772025"/>
            <a:ext cx="325755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分母の大きさでは比較しない</a:t>
            </a:r>
          </a:p>
        </p:txBody>
      </p:sp>
      <p:sp>
        <p:nvSpPr>
          <p:cNvPr id="25" name="shape-23">
            <a:extLst>
              <a:ext uri="{FF2B5EF4-FFF2-40B4-BE49-F238E27FC236}">
                <a16:creationId xmlns:a16="http://schemas.microsoft.com/office/drawing/2014/main" id="{8BC04DE9-1C3E-4553-BB61-F4404648C5F9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0F547ADE-FE58-471C-8B68-AE2C80D16CE8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1つの文字に複数の分数があると最初の分数だけを読む。分母0・候補なしは取得できない</a:t>
            </a:r>
          </a:p>
        </p:txBody>
      </p:sp>
      <p:sp>
        <p:nvSpPr>
          <p:cNvPr id="28" name="shape-3">
            <a:extLst>
              <a:ext uri="{FF2B5EF4-FFF2-40B4-BE49-F238E27FC236}">
                <a16:creationId xmlns:a16="http://schemas.microsoft.com/office/drawing/2014/main" id="{8B8AEA7D-E7B2-F2BE-AF2C-460631A35597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11634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kicker-marker">
            <a:extLst>
              <a:ext uri="{FF2B5EF4-FFF2-40B4-BE49-F238E27FC236}">
                <a16:creationId xmlns:a16="http://schemas.microsoft.com/office/drawing/2014/main" id="{7721EE03-7312-4AF8-8CB1-8B73692CBA54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BB8B451C-C0AC-4402-A11A-8C027991DD63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13  GRADE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18727699-F858-49D5-88D6-EBD13A38194B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最急縦断勾配は、i=の数値を比較する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120D6A5B-792B-4971-8B11-CC068682529E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%がなければ100倍。現行処理は符号付きの最大値を選びます。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AB895E47-10BA-456B-B097-746CD660C889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負号は保持して最大値を選びます。下り勾配は、絶対値で最も急な値と一致するか確認してください。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458C6C75-B3AF-4D52-B992-304F01B94DF9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B57391A1-F44F-407B-BF68-FD273A2215FF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8591550" cy="676275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E0561F5C-B49B-49EB-9A38-5D22D5F9512E}"/>
              </a:ext>
            </a:extLst>
          </p:cNvPr>
          <p:cNvSpPr>
            <a:spLocks noGrp="1"/>
          </p:cNvSpPr>
          <p:nvPr/>
        </p:nvSpPr>
        <p:spPr>
          <a:xfrm>
            <a:off x="723900" y="2286000"/>
            <a:ext cx="251460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文字（説明用）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92C82D0E-D884-47E3-AF13-D72B4D7C7B23}"/>
              </a:ext>
            </a:extLst>
          </p:cNvPr>
          <p:cNvSpPr>
            <a:spLocks noGrp="1"/>
          </p:cNvSpPr>
          <p:nvPr/>
        </p:nvSpPr>
        <p:spPr>
          <a:xfrm>
            <a:off x="3467100" y="2286000"/>
            <a:ext cx="329565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数値化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9D0A0200-2C9D-4886-9DC9-8FFC7D914256}"/>
              </a:ext>
            </a:extLst>
          </p:cNvPr>
          <p:cNvSpPr>
            <a:spLocks noGrp="1"/>
          </p:cNvSpPr>
          <p:nvPr/>
        </p:nvSpPr>
        <p:spPr>
          <a:xfrm>
            <a:off x="6991350" y="2286000"/>
            <a:ext cx="209550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比較に使う値</a:t>
            </a:r>
          </a:p>
        </p:txBody>
      </p:sp>
      <p:sp>
        <p:nvSpPr>
          <p:cNvPr id="13" name="shape-11">
            <a:extLst>
              <a:ext uri="{FF2B5EF4-FFF2-40B4-BE49-F238E27FC236}">
                <a16:creationId xmlns:a16="http://schemas.microsoft.com/office/drawing/2014/main" id="{F3A63170-6A4A-476D-BBAB-E6958FAF8365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859155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FA34BBAE-E076-4328-849A-4D22B6F8C6BB}"/>
              </a:ext>
            </a:extLst>
          </p:cNvPr>
          <p:cNvSpPr>
            <a:spLocks noGrp="1"/>
          </p:cNvSpPr>
          <p:nvPr/>
        </p:nvSpPr>
        <p:spPr>
          <a:xfrm>
            <a:off x="723900" y="2962275"/>
            <a:ext cx="251460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i=3.5%</a:t>
            </a:r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EFAC5AD8-7CE0-4253-933A-68D9C0039147}"/>
              </a:ext>
            </a:extLst>
          </p:cNvPr>
          <p:cNvSpPr>
            <a:spLocks noGrp="1"/>
          </p:cNvSpPr>
          <p:nvPr/>
        </p:nvSpPr>
        <p:spPr>
          <a:xfrm>
            <a:off x="3467100" y="2962275"/>
            <a:ext cx="329565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%あり：そのまま</a:t>
            </a:r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4A658E86-2EA0-4BF9-ABE4-B2163B807B31}"/>
              </a:ext>
            </a:extLst>
          </p:cNvPr>
          <p:cNvSpPr>
            <a:spLocks noGrp="1"/>
          </p:cNvSpPr>
          <p:nvPr/>
        </p:nvSpPr>
        <p:spPr>
          <a:xfrm>
            <a:off x="6991350" y="2962275"/>
            <a:ext cx="209550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3.5</a:t>
            </a:r>
          </a:p>
        </p:txBody>
      </p:sp>
      <p:sp>
        <p:nvSpPr>
          <p:cNvPr id="17" name="shape-15">
            <a:extLst>
              <a:ext uri="{FF2B5EF4-FFF2-40B4-BE49-F238E27FC236}">
                <a16:creationId xmlns:a16="http://schemas.microsoft.com/office/drawing/2014/main" id="{0F14AF85-CB53-4D75-AC9D-D12136F9133F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8591550" cy="676275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-16">
            <a:extLst>
              <a:ext uri="{FF2B5EF4-FFF2-40B4-BE49-F238E27FC236}">
                <a16:creationId xmlns:a16="http://schemas.microsoft.com/office/drawing/2014/main" id="{CA222695-97B0-41A1-971E-BA204E6F148B}"/>
              </a:ext>
            </a:extLst>
          </p:cNvPr>
          <p:cNvSpPr>
            <a:spLocks noGrp="1"/>
          </p:cNvSpPr>
          <p:nvPr/>
        </p:nvSpPr>
        <p:spPr>
          <a:xfrm>
            <a:off x="609600" y="4200525"/>
            <a:ext cx="859155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-17">
            <a:extLst>
              <a:ext uri="{FF2B5EF4-FFF2-40B4-BE49-F238E27FC236}">
                <a16:creationId xmlns:a16="http://schemas.microsoft.com/office/drawing/2014/main" id="{5679E08F-1C88-4FDC-B345-57C5B4FDE9BF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251460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i=0.035</a:t>
            </a:r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F1C13004-7F76-472F-A644-817BF5D25ED5}"/>
              </a:ext>
            </a:extLst>
          </p:cNvPr>
          <p:cNvSpPr>
            <a:spLocks noGrp="1"/>
          </p:cNvSpPr>
          <p:nvPr/>
        </p:nvSpPr>
        <p:spPr>
          <a:xfrm>
            <a:off x="3467100" y="3638550"/>
            <a:ext cx="329565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%なし：100倍</a:t>
            </a:r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BCAE1A92-A88B-4E93-8EDD-818A44860602}"/>
              </a:ext>
            </a:extLst>
          </p:cNvPr>
          <p:cNvSpPr>
            <a:spLocks noGrp="1"/>
          </p:cNvSpPr>
          <p:nvPr/>
        </p:nvSpPr>
        <p:spPr>
          <a:xfrm>
            <a:off x="6991350" y="3638550"/>
            <a:ext cx="209550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3.5</a:t>
            </a:r>
          </a:p>
        </p:txBody>
      </p:sp>
      <p:sp>
        <p:nvSpPr>
          <p:cNvPr id="22" name="shape-20">
            <a:extLst>
              <a:ext uri="{FF2B5EF4-FFF2-40B4-BE49-F238E27FC236}">
                <a16:creationId xmlns:a16="http://schemas.microsoft.com/office/drawing/2014/main" id="{110407C9-B9B8-403D-B683-C51A6A5A38CC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859155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B6B13917-C92B-4114-934F-55D95064219D}"/>
              </a:ext>
            </a:extLst>
          </p:cNvPr>
          <p:cNvSpPr>
            <a:spLocks noGrp="1"/>
          </p:cNvSpPr>
          <p:nvPr/>
        </p:nvSpPr>
        <p:spPr>
          <a:xfrm>
            <a:off x="723900" y="4314825"/>
            <a:ext cx="251460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i=-4%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B892ACED-4FDC-4E99-A65A-44D1C184C764}"/>
              </a:ext>
            </a:extLst>
          </p:cNvPr>
          <p:cNvSpPr>
            <a:spLocks noGrp="1"/>
          </p:cNvSpPr>
          <p:nvPr/>
        </p:nvSpPr>
        <p:spPr>
          <a:xfrm>
            <a:off x="3467100" y="4314825"/>
            <a:ext cx="329565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負符号は残す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65786BA8-CB7E-4629-B93A-F073C59E2112}"/>
              </a:ext>
            </a:extLst>
          </p:cNvPr>
          <p:cNvSpPr>
            <a:spLocks noGrp="1"/>
          </p:cNvSpPr>
          <p:nvPr/>
        </p:nvSpPr>
        <p:spPr>
          <a:xfrm>
            <a:off x="6991350" y="4314825"/>
            <a:ext cx="2095500" cy="4476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-4</a:t>
            </a:r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E2F734C6-A56F-4E4B-AD80-EB0AB4105128}"/>
              </a:ext>
            </a:extLst>
          </p:cNvPr>
          <p:cNvSpPr>
            <a:spLocks noGrp="1"/>
          </p:cNvSpPr>
          <p:nvPr/>
        </p:nvSpPr>
        <p:spPr>
          <a:xfrm>
            <a:off x="9715500" y="2409825"/>
            <a:ext cx="18669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採用</a:t>
            </a:r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53F49DD3-6341-47DD-A961-6561D9DA7321}"/>
              </a:ext>
            </a:extLst>
          </p:cNvPr>
          <p:cNvSpPr>
            <a:spLocks noGrp="1"/>
          </p:cNvSpPr>
          <p:nvPr/>
        </p:nvSpPr>
        <p:spPr>
          <a:xfrm>
            <a:off x="9715500" y="2895600"/>
            <a:ext cx="1866900" cy="790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4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46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3.5</a:t>
            </a: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9F50426F-3D2C-4412-B4C5-F31AA404B323}"/>
              </a:ext>
            </a:extLst>
          </p:cNvPr>
          <p:cNvSpPr>
            <a:spLocks noGrp="1"/>
          </p:cNvSpPr>
          <p:nvPr/>
        </p:nvSpPr>
        <p:spPr>
          <a:xfrm>
            <a:off x="9344025" y="3867150"/>
            <a:ext cx="2238375" cy="3429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符号付きの最大</a:t>
            </a:r>
          </a:p>
        </p:txBody>
      </p:sp>
      <p:sp>
        <p:nvSpPr>
          <p:cNvPr id="29" name="shape-27">
            <a:extLst>
              <a:ext uri="{FF2B5EF4-FFF2-40B4-BE49-F238E27FC236}">
                <a16:creationId xmlns:a16="http://schemas.microsoft.com/office/drawing/2014/main" id="{4884CC35-BD0F-48B4-AC9F-B90C50A3003F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8572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5B57322D-A47B-4948-8F54-E50C50BD0882}"/>
              </a:ext>
            </a:extLst>
          </p:cNvPr>
          <p:cNvSpPr>
            <a:spLocks noGrp="1"/>
          </p:cNvSpPr>
          <p:nvPr/>
        </p:nvSpPr>
        <p:spPr>
          <a:xfrm>
            <a:off x="819150" y="5343525"/>
            <a:ext cx="2095500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確認ポイント</a:t>
            </a:r>
          </a:p>
        </p:txBody>
      </p:sp>
      <p:sp>
        <p:nvSpPr>
          <p:cNvPr id="31" name="text-29">
            <a:extLst>
              <a:ext uri="{FF2B5EF4-FFF2-40B4-BE49-F238E27FC236}">
                <a16:creationId xmlns:a16="http://schemas.microsoft.com/office/drawing/2014/main" id="{E94B419F-E2E3-4DB7-A91E-EF7F8B5CA129}"/>
              </a:ext>
            </a:extLst>
          </p:cNvPr>
          <p:cNvSpPr>
            <a:spLocks noGrp="1"/>
          </p:cNvSpPr>
          <p:nvPr/>
        </p:nvSpPr>
        <p:spPr>
          <a:xfrm>
            <a:off x="3019425" y="5353050"/>
            <a:ext cx="8353425" cy="3048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最急勾配の抽出では、文字の回転を無視する。</a:t>
            </a:r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5E1490F9-4292-485F-900B-F935CD130559}"/>
              </a:ext>
            </a:extLst>
          </p:cNvPr>
          <p:cNvSpPr>
            <a:spLocks noGrp="1"/>
          </p:cNvSpPr>
          <p:nvPr/>
        </p:nvSpPr>
        <p:spPr>
          <a:xfrm>
            <a:off x="3019425" y="5657850"/>
            <a:ext cx="8353425" cy="3048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下りが負号で書かれた図面では、絶対値最大の勾配と一致するか元図で確認する。</a:t>
            </a:r>
          </a:p>
        </p:txBody>
      </p:sp>
      <p:sp>
        <p:nvSpPr>
          <p:cNvPr id="34" name="shape-3">
            <a:extLst>
              <a:ext uri="{FF2B5EF4-FFF2-40B4-BE49-F238E27FC236}">
                <a16:creationId xmlns:a16="http://schemas.microsoft.com/office/drawing/2014/main" id="{9AA97163-20CD-D0EC-6B11-8C5123BF9029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4150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kicker-marker">
            <a:extLst>
              <a:ext uri="{FF2B5EF4-FFF2-40B4-BE49-F238E27FC236}">
                <a16:creationId xmlns:a16="http://schemas.microsoft.com/office/drawing/2014/main" id="{7EED0D93-6660-441F-8F37-23186EAE3C11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959B2EE1-ACA0-47A4-8681-C8DE649911C3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14  VERTICAL CURVE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A08B3F68-3EC9-46D8-8C5E-B71B083B1135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半径文字を挟む勾配の大小で、凸・凹を分ける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8126E983-6A98-44F9-909E-4ACF425AB70F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図と数値は説明用の例。VCR/RはX位置で分類し、VCLは指定レイヤー内の最小値を採用します。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35504C67-3455-4B38-996F-4155A777B0CE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半径・長さは指定レイヤーのY全域が対象です。VCLは凸凹を分けず、最小値を採用します。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745F834B-31D6-4363-98E8-F4C58605FE1B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F8627AF1-4AFC-41AB-BAA8-55AC6B9EACEE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219700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凸：左の勾配 ＞ 右の勾配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E828B27F-430D-4DB7-8B86-14566C6EBCC5}"/>
              </a:ext>
            </a:extLst>
          </p:cNvPr>
          <p:cNvSpPr>
            <a:spLocks noGrp="1"/>
          </p:cNvSpPr>
          <p:nvPr/>
        </p:nvSpPr>
        <p:spPr>
          <a:xfrm>
            <a:off x="6372225" y="2105025"/>
            <a:ext cx="5210175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凹：左の勾配 ＜ 右の勾配</a:t>
            </a:r>
          </a:p>
        </p:txBody>
      </p:sp>
      <p:sp>
        <p:nvSpPr>
          <p:cNvPr id="11" name="path-9">
            <a:extLst>
              <a:ext uri="{FF2B5EF4-FFF2-40B4-BE49-F238E27FC236}">
                <a16:creationId xmlns:a16="http://schemas.microsoft.com/office/drawing/2014/main" id="{B13F327B-5667-4999-803D-FE1509B7B6ED}"/>
              </a:ext>
            </a:extLst>
          </p:cNvPr>
          <p:cNvSpPr>
            <a:spLocks noGrp="1"/>
          </p:cNvSpPr>
          <p:nvPr/>
        </p:nvSpPr>
        <p:spPr>
          <a:xfrm>
            <a:off x="819150" y="3190875"/>
            <a:ext cx="4743450" cy="952500"/>
          </a:xfrm>
          <a:custGeom>
            <a:avLst/>
            <a:gdLst/>
            <a:ahLst/>
            <a:cxnLst/>
            <a:rect l="0" t="0" r="0" b="0"/>
            <a:pathLst>
              <a:path w="4743450" h="952500">
                <a:moveTo>
                  <a:pt x="0" y="809625"/>
                </a:moveTo>
                <a:lnTo>
                  <a:pt x="2400300" y="0"/>
                </a:lnTo>
                <a:lnTo>
                  <a:pt x="4743450" y="952500"/>
                </a:lnTo>
              </a:path>
            </a:pathLst>
          </a:custGeom>
          <a:noFill/>
          <a:ln w="19050">
            <a:solidFill>
              <a:srgbClr val="7077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path-10">
            <a:extLst>
              <a:ext uri="{FF2B5EF4-FFF2-40B4-BE49-F238E27FC236}">
                <a16:creationId xmlns:a16="http://schemas.microsoft.com/office/drawing/2014/main" id="{6E515D4F-A69F-4ACF-A8A0-5F8C2BA3D6DB}"/>
              </a:ext>
            </a:extLst>
          </p:cNvPr>
          <p:cNvSpPr>
            <a:spLocks noGrp="1"/>
          </p:cNvSpPr>
          <p:nvPr/>
        </p:nvSpPr>
        <p:spPr>
          <a:xfrm>
            <a:off x="6572250" y="3133725"/>
            <a:ext cx="4819650" cy="914400"/>
          </a:xfrm>
          <a:custGeom>
            <a:avLst/>
            <a:gdLst/>
            <a:ahLst/>
            <a:cxnLst/>
            <a:rect l="0" t="0" r="0" b="0"/>
            <a:pathLst>
              <a:path w="4819650" h="914400">
                <a:moveTo>
                  <a:pt x="0" y="47625"/>
                </a:moveTo>
                <a:lnTo>
                  <a:pt x="2390775" y="914400"/>
                </a:lnTo>
                <a:lnTo>
                  <a:pt x="4819650" y="0"/>
                </a:lnTo>
              </a:path>
            </a:pathLst>
          </a:custGeom>
          <a:noFill/>
          <a:ln w="19050">
            <a:solidFill>
              <a:srgbClr val="7077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85B7FB27-D259-40AB-9AF8-6C92D32A1CEC}"/>
              </a:ext>
            </a:extLst>
          </p:cNvPr>
          <p:cNvSpPr>
            <a:spLocks noGrp="1"/>
          </p:cNvSpPr>
          <p:nvPr/>
        </p:nvSpPr>
        <p:spPr>
          <a:xfrm>
            <a:off x="1000125" y="2752725"/>
            <a:ext cx="12192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+3%</a:t>
            </a:r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EE93DC57-A045-4683-AE46-1E9EA9C9CCAA}"/>
              </a:ext>
            </a:extLst>
          </p:cNvPr>
          <p:cNvSpPr>
            <a:spLocks noGrp="1"/>
          </p:cNvSpPr>
          <p:nvPr/>
        </p:nvSpPr>
        <p:spPr>
          <a:xfrm>
            <a:off x="4276725" y="3086100"/>
            <a:ext cx="12192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-1%</a:t>
            </a:r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0DC5B0FE-BFCE-4569-BDF7-39B1AC5868D4}"/>
              </a:ext>
            </a:extLst>
          </p:cNvPr>
          <p:cNvSpPr>
            <a:spLocks noGrp="1"/>
          </p:cNvSpPr>
          <p:nvPr/>
        </p:nvSpPr>
        <p:spPr>
          <a:xfrm>
            <a:off x="6810375" y="3733800"/>
            <a:ext cx="12192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-2%</a:t>
            </a:r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53A37D9C-C11F-4E5C-B1DC-FA7EACD39A9C}"/>
              </a:ext>
            </a:extLst>
          </p:cNvPr>
          <p:cNvSpPr>
            <a:spLocks noGrp="1"/>
          </p:cNvSpPr>
          <p:nvPr/>
        </p:nvSpPr>
        <p:spPr>
          <a:xfrm>
            <a:off x="10134600" y="3686175"/>
            <a:ext cx="1219200" cy="3619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+1%</a:t>
            </a:r>
          </a:p>
        </p:txBody>
      </p:sp>
      <p:sp>
        <p:nvSpPr>
          <p:cNvPr id="17" name="text-15">
            <a:extLst>
              <a:ext uri="{FF2B5EF4-FFF2-40B4-BE49-F238E27FC236}">
                <a16:creationId xmlns:a16="http://schemas.microsoft.com/office/drawing/2014/main" id="{9FF6F6A8-6C27-4ED6-BA66-326D58D9B874}"/>
              </a:ext>
            </a:extLst>
          </p:cNvPr>
          <p:cNvSpPr>
            <a:spLocks noGrp="1"/>
          </p:cNvSpPr>
          <p:nvPr/>
        </p:nvSpPr>
        <p:spPr>
          <a:xfrm>
            <a:off x="3219450" y="2590800"/>
            <a:ext cx="2571750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VCR=1200</a:t>
            </a:r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707049F5-B006-45A4-87E7-311F26BA3ED4}"/>
              </a:ext>
            </a:extLst>
          </p:cNvPr>
          <p:cNvSpPr>
            <a:spLocks noGrp="1"/>
          </p:cNvSpPr>
          <p:nvPr/>
        </p:nvSpPr>
        <p:spPr>
          <a:xfrm>
            <a:off x="8963025" y="4333875"/>
            <a:ext cx="2571750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VCR=800</a:t>
            </a:r>
          </a:p>
        </p:txBody>
      </p:sp>
      <p:sp>
        <p:nvSpPr>
          <p:cNvPr id="19" name="path-17">
            <a:extLst>
              <a:ext uri="{FF2B5EF4-FFF2-40B4-BE49-F238E27FC236}">
                <a16:creationId xmlns:a16="http://schemas.microsoft.com/office/drawing/2014/main" id="{DD537546-6FD1-4AE4-9C24-6BCE8F8C2D7C}"/>
              </a:ext>
            </a:extLst>
          </p:cNvPr>
          <p:cNvSpPr>
            <a:spLocks noGrp="1"/>
          </p:cNvSpPr>
          <p:nvPr/>
        </p:nvSpPr>
        <p:spPr>
          <a:xfrm>
            <a:off x="3219450" y="3028950"/>
            <a:ext cx="9525" cy="1466850"/>
          </a:xfrm>
          <a:custGeom>
            <a:avLst/>
            <a:gdLst/>
            <a:ahLst/>
            <a:cxnLst/>
            <a:rect l="0" t="0" r="0" b="0"/>
            <a:pathLst>
              <a:path w="9525" h="1466850">
                <a:moveTo>
                  <a:pt x="0" y="0"/>
                </a:moveTo>
                <a:lnTo>
                  <a:pt x="0" y="1466850"/>
                </a:lnTo>
              </a:path>
            </a:pathLst>
          </a:custGeom>
          <a:noFill/>
          <a:ln w="9525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path-18">
            <a:extLst>
              <a:ext uri="{FF2B5EF4-FFF2-40B4-BE49-F238E27FC236}">
                <a16:creationId xmlns:a16="http://schemas.microsoft.com/office/drawing/2014/main" id="{A2A5AED6-BE31-4A1E-9D06-0B2A7B4236B4}"/>
              </a:ext>
            </a:extLst>
          </p:cNvPr>
          <p:cNvSpPr>
            <a:spLocks noGrp="1"/>
          </p:cNvSpPr>
          <p:nvPr/>
        </p:nvSpPr>
        <p:spPr>
          <a:xfrm>
            <a:off x="8963025" y="2943225"/>
            <a:ext cx="9525" cy="1304925"/>
          </a:xfrm>
          <a:custGeom>
            <a:avLst/>
            <a:gdLst/>
            <a:ahLst/>
            <a:cxnLst/>
            <a:rect l="0" t="0" r="0" b="0"/>
            <a:pathLst>
              <a:path w="9525" h="1304925">
                <a:moveTo>
                  <a:pt x="0" y="0"/>
                </a:moveTo>
                <a:lnTo>
                  <a:pt x="0" y="1304925"/>
                </a:lnTo>
              </a:path>
            </a:pathLst>
          </a:custGeom>
          <a:noFill/>
          <a:ln w="9525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-19">
            <a:extLst>
              <a:ext uri="{FF2B5EF4-FFF2-40B4-BE49-F238E27FC236}">
                <a16:creationId xmlns:a16="http://schemas.microsoft.com/office/drawing/2014/main" id="{AA75CA03-BE00-42E2-BD1C-DA148458DC0F}"/>
              </a:ext>
            </a:extLst>
          </p:cNvPr>
          <p:cNvSpPr>
            <a:spLocks noGrp="1"/>
          </p:cNvSpPr>
          <p:nvPr/>
        </p:nvSpPr>
        <p:spPr>
          <a:xfrm>
            <a:off x="3181350" y="2981325"/>
            <a:ext cx="76200" cy="7620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-20">
            <a:extLst>
              <a:ext uri="{FF2B5EF4-FFF2-40B4-BE49-F238E27FC236}">
                <a16:creationId xmlns:a16="http://schemas.microsoft.com/office/drawing/2014/main" id="{93FAB791-95FA-4F6C-9F1F-C8AFB68AFE81}"/>
              </a:ext>
            </a:extLst>
          </p:cNvPr>
          <p:cNvSpPr>
            <a:spLocks noGrp="1"/>
          </p:cNvSpPr>
          <p:nvPr/>
        </p:nvSpPr>
        <p:spPr>
          <a:xfrm>
            <a:off x="8924925" y="4219575"/>
            <a:ext cx="76200" cy="7620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8342DD43-AD4C-4A47-B459-D0E417F89A8D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0972800" cy="3905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左の勾配X ≦ 半径文字X ＜ 右の勾配X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2CD7D2FE-7D74-47B9-A1EB-008E2E8AEE0F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3048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凸凹分類時のみ、勾配文字の回転角が270°超・360°未満なら符号を反転する。</a:t>
            </a:r>
          </a:p>
        </p:txBody>
      </p:sp>
      <p:sp>
        <p:nvSpPr>
          <p:cNvPr id="25" name="shape-23">
            <a:extLst>
              <a:ext uri="{FF2B5EF4-FFF2-40B4-BE49-F238E27FC236}">
                <a16:creationId xmlns:a16="http://schemas.microsoft.com/office/drawing/2014/main" id="{92CB933D-C705-46C9-B28C-F325CA1129EC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0521D9C8-3825-4B09-BF23-D7FA5B00F15C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分類できた半径の最小を凸・凹別に採用。挟む勾配がない・左右同値なら分類しない</a:t>
            </a:r>
          </a:p>
        </p:txBody>
      </p:sp>
      <p:sp>
        <p:nvSpPr>
          <p:cNvPr id="28" name="shape-3">
            <a:extLst>
              <a:ext uri="{FF2B5EF4-FFF2-40B4-BE49-F238E27FC236}">
                <a16:creationId xmlns:a16="http://schemas.microsoft.com/office/drawing/2014/main" id="{4050DBBC-0238-6572-56FF-29AECD11BCF2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04481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kicker-marker">
            <a:extLst>
              <a:ext uri="{FF2B5EF4-FFF2-40B4-BE49-F238E27FC236}">
                <a16:creationId xmlns:a16="http://schemas.microsoft.com/office/drawing/2014/main" id="{2E80B537-03DD-41AD-BD95-1CE08738308A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A406C6EB-B7AF-4468-9D4A-30C1BA31A1EB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15  CONVERSION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6EFEC427-9BF0-4866-B424-EF412072AD2D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「-」はゼロでも、合格でもない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0D755073-09B4-471A-8C11-0176B40FFDF4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同じ記号が「固定の未対応」と「抽出できなかった値」の両方に使われます。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77177E73-DAF5-4466-A991-0BD3A8ED7C4D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「-」には未対応と未取得の両方があります。原因は項目の対応表・元図・ログで確認してください。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2D9C5FDB-98A9-4F7A-B660-613A79E97A33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BC5F6700-C37D-48AF-9343-4739F3C3E483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834378DF-B0FB-4C46-864B-782F863B8935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26098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入力・状態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B220CAAF-2C29-4E70-957F-1AF05A2043A2}"/>
              </a:ext>
            </a:extLst>
          </p:cNvPr>
          <p:cNvSpPr>
            <a:spLocks noGrp="1"/>
          </p:cNvSpPr>
          <p:nvPr/>
        </p:nvSpPr>
        <p:spPr>
          <a:xfrm>
            <a:off x="3562350" y="2152650"/>
            <a:ext cx="36957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変換・転記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C75A2C69-C742-4419-9E92-9B91D3E9627E}"/>
              </a:ext>
            </a:extLst>
          </p:cNvPr>
          <p:cNvSpPr>
            <a:spLocks noGrp="1"/>
          </p:cNvSpPr>
          <p:nvPr/>
        </p:nvSpPr>
        <p:spPr>
          <a:xfrm>
            <a:off x="7486650" y="2152650"/>
            <a:ext cx="39814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確認の意味</a:t>
            </a:r>
          </a:p>
        </p:txBody>
      </p:sp>
      <p:sp>
        <p:nvSpPr>
          <p:cNvPr id="13" name="shape-11">
            <a:extLst>
              <a:ext uri="{FF2B5EF4-FFF2-40B4-BE49-F238E27FC236}">
                <a16:creationId xmlns:a16="http://schemas.microsoft.com/office/drawing/2014/main" id="{A62B1678-C827-48FE-9B23-56604111F01A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76117537-D9FA-4B0F-BDCE-30D0CEDC77CE}"/>
              </a:ext>
            </a:extLst>
          </p:cNvPr>
          <p:cNvSpPr>
            <a:spLocks noGrp="1"/>
          </p:cNvSpPr>
          <p:nvPr/>
        </p:nvSpPr>
        <p:spPr>
          <a:xfrm>
            <a:off x="723900" y="2609850"/>
            <a:ext cx="26098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曲率帯：R = 200</a:t>
            </a:r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C8B82BEB-F431-48A5-AAD4-C74BE2097AE1}"/>
              </a:ext>
            </a:extLst>
          </p:cNvPr>
          <p:cNvSpPr>
            <a:spLocks noGrp="1"/>
          </p:cNvSpPr>
          <p:nvPr/>
        </p:nvSpPr>
        <p:spPr>
          <a:xfrm>
            <a:off x="3562350" y="2609850"/>
            <a:ext cx="36957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空白除去 → R=200 → 200</a:t>
            </a:r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807F3F03-B3DB-4E0B-AF08-8CC3E5F5BE30}"/>
              </a:ext>
            </a:extLst>
          </p:cNvPr>
          <p:cNvSpPr>
            <a:spLocks noGrp="1"/>
          </p:cNvSpPr>
          <p:nvPr/>
        </p:nvSpPr>
        <p:spPr>
          <a:xfrm>
            <a:off x="7486650" y="2609850"/>
            <a:ext cx="39814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指定接頭辞の後を数値化</a:t>
            </a:r>
          </a:p>
        </p:txBody>
      </p:sp>
      <p:sp>
        <p:nvSpPr>
          <p:cNvPr id="17" name="shape-15">
            <a:extLst>
              <a:ext uri="{FF2B5EF4-FFF2-40B4-BE49-F238E27FC236}">
                <a16:creationId xmlns:a16="http://schemas.microsoft.com/office/drawing/2014/main" id="{2C751E32-C66D-47BA-87EE-838CC039DEE0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45720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-16">
            <a:extLst>
              <a:ext uri="{FF2B5EF4-FFF2-40B4-BE49-F238E27FC236}">
                <a16:creationId xmlns:a16="http://schemas.microsoft.com/office/drawing/2014/main" id="{F568AEDE-52C6-4143-8A5E-505705E74F58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-17">
            <a:extLst>
              <a:ext uri="{FF2B5EF4-FFF2-40B4-BE49-F238E27FC236}">
                <a16:creationId xmlns:a16="http://schemas.microsoft.com/office/drawing/2014/main" id="{A9D1F381-CF7C-402A-8488-98024175168B}"/>
              </a:ext>
            </a:extLst>
          </p:cNvPr>
          <p:cNvSpPr>
            <a:spLocks noGrp="1"/>
          </p:cNvSpPr>
          <p:nvPr/>
        </p:nvSpPr>
        <p:spPr>
          <a:xfrm>
            <a:off x="723900" y="3067050"/>
            <a:ext cx="26098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曲率帯：R=200m</a:t>
            </a:r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3F4BBF5F-A61E-45D8-959F-C71A3390F48E}"/>
              </a:ext>
            </a:extLst>
          </p:cNvPr>
          <p:cNvSpPr>
            <a:spLocks noGrp="1"/>
          </p:cNvSpPr>
          <p:nvPr/>
        </p:nvSpPr>
        <p:spPr>
          <a:xfrm>
            <a:off x="3562350" y="3067050"/>
            <a:ext cx="36957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数値化できず候補から外れる</a:t>
            </a:r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B2E745D4-2424-401C-8C8C-506895B96957}"/>
              </a:ext>
            </a:extLst>
          </p:cNvPr>
          <p:cNvSpPr>
            <a:spLocks noGrp="1"/>
          </p:cNvSpPr>
          <p:nvPr/>
        </p:nvSpPr>
        <p:spPr>
          <a:xfrm>
            <a:off x="7486650" y="3067050"/>
            <a:ext cx="39814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曲率帯では単位文字を除去しない</a:t>
            </a:r>
          </a:p>
        </p:txBody>
      </p:sp>
      <p:sp>
        <p:nvSpPr>
          <p:cNvPr id="22" name="shape-20">
            <a:extLst>
              <a:ext uri="{FF2B5EF4-FFF2-40B4-BE49-F238E27FC236}">
                <a16:creationId xmlns:a16="http://schemas.microsoft.com/office/drawing/2014/main" id="{7C21FF3A-CF8B-4BB6-92ED-FC14D2145936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5C62D8C4-B5C1-4480-891B-CA00888B7312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26098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縦断曲線：VCL=50m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81618172-0792-47DB-A162-C1B9A874233B}"/>
              </a:ext>
            </a:extLst>
          </p:cNvPr>
          <p:cNvSpPr>
            <a:spLocks noGrp="1"/>
          </p:cNvSpPr>
          <p:nvPr/>
        </p:nvSpPr>
        <p:spPr>
          <a:xfrm>
            <a:off x="3562350" y="3524250"/>
            <a:ext cx="36957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数字・小数点以外を除去 → 50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D13657FE-33DA-46B0-8A3C-99B8F9ABB915}"/>
              </a:ext>
            </a:extLst>
          </p:cNvPr>
          <p:cNvSpPr>
            <a:spLocks noGrp="1"/>
          </p:cNvSpPr>
          <p:nvPr/>
        </p:nvSpPr>
        <p:spPr>
          <a:xfrm>
            <a:off x="7486650" y="3524250"/>
            <a:ext cx="39814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単位換算は行わない</a:t>
            </a:r>
          </a:p>
        </p:txBody>
      </p:sp>
      <p:sp>
        <p:nvSpPr>
          <p:cNvPr id="26" name="shape-24">
            <a:extLst>
              <a:ext uri="{FF2B5EF4-FFF2-40B4-BE49-F238E27FC236}">
                <a16:creationId xmlns:a16="http://schemas.microsoft.com/office/drawing/2014/main" id="{E731C82A-FDDA-4D94-937D-46615BC53751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45720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-25">
            <a:extLst>
              <a:ext uri="{FF2B5EF4-FFF2-40B4-BE49-F238E27FC236}">
                <a16:creationId xmlns:a16="http://schemas.microsoft.com/office/drawing/2014/main" id="{577A6338-FEA9-43A9-B3E2-8F866B7A329C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523E30ED-31B6-4302-BCC1-06A4C2880D9F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26098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小数の数値</a:t>
            </a:r>
          </a:p>
        </p:txBody>
      </p:sp>
      <p:sp>
        <p:nvSpPr>
          <p:cNvPr id="29" name="text-27">
            <a:extLst>
              <a:ext uri="{FF2B5EF4-FFF2-40B4-BE49-F238E27FC236}">
                <a16:creationId xmlns:a16="http://schemas.microsoft.com/office/drawing/2014/main" id="{C02D9FF8-9B41-46B4-8000-DA1DB822801B}"/>
              </a:ext>
            </a:extLst>
          </p:cNvPr>
          <p:cNvSpPr>
            <a:spLocks noGrp="1"/>
          </p:cNvSpPr>
          <p:nvPr/>
        </p:nvSpPr>
        <p:spPr>
          <a:xfrm>
            <a:off x="3562350" y="3981450"/>
            <a:ext cx="36957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明示的な桁数丸めは行わない</a:t>
            </a:r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966F4F0A-9CAF-4FAE-BDE3-0D0AD4D81A4F}"/>
              </a:ext>
            </a:extLst>
          </p:cNvPr>
          <p:cNvSpPr>
            <a:spLocks noGrp="1"/>
          </p:cNvSpPr>
          <p:nvPr/>
        </p:nvSpPr>
        <p:spPr>
          <a:xfrm>
            <a:off x="7486650" y="3981450"/>
            <a:ext cx="39814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表示桁はExcel側でも確認</a:t>
            </a:r>
          </a:p>
        </p:txBody>
      </p:sp>
      <p:sp>
        <p:nvSpPr>
          <p:cNvPr id="31" name="shape-29">
            <a:extLst>
              <a:ext uri="{FF2B5EF4-FFF2-40B4-BE49-F238E27FC236}">
                <a16:creationId xmlns:a16="http://schemas.microsoft.com/office/drawing/2014/main" id="{738E1C3F-1091-46E3-887C-4E5B6D0F3B25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5D681D5B-96F7-4276-928E-6FF065354998}"/>
              </a:ext>
            </a:extLst>
          </p:cNvPr>
          <p:cNvSpPr>
            <a:spLocks noGrp="1"/>
          </p:cNvSpPr>
          <p:nvPr/>
        </p:nvSpPr>
        <p:spPr>
          <a:xfrm>
            <a:off x="723900" y="4438650"/>
            <a:ext cx="26098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固定の未対応5欄</a:t>
            </a:r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B7E2D890-3B6E-4BFF-B451-5EBF1ED66673}"/>
              </a:ext>
            </a:extLst>
          </p:cNvPr>
          <p:cNvSpPr>
            <a:spLocks noGrp="1"/>
          </p:cNvSpPr>
          <p:nvPr/>
        </p:nvSpPr>
        <p:spPr>
          <a:xfrm>
            <a:off x="3562350" y="4438650"/>
            <a:ext cx="36957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常に「-」</a:t>
            </a:r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3780D5E8-5C4A-46CA-91D4-C90C762DCE54}"/>
              </a:ext>
            </a:extLst>
          </p:cNvPr>
          <p:cNvSpPr>
            <a:spLocks noGrp="1"/>
          </p:cNvSpPr>
          <p:nvPr/>
        </p:nvSpPr>
        <p:spPr>
          <a:xfrm>
            <a:off x="7486650" y="4438650"/>
            <a:ext cx="39814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取得処理がない</a:t>
            </a:r>
          </a:p>
        </p:txBody>
      </p:sp>
      <p:sp>
        <p:nvSpPr>
          <p:cNvPr id="35" name="shape-33">
            <a:extLst>
              <a:ext uri="{FF2B5EF4-FFF2-40B4-BE49-F238E27FC236}">
                <a16:creationId xmlns:a16="http://schemas.microsoft.com/office/drawing/2014/main" id="{4AA3FECD-9766-4C16-84CA-1CC4762A6EE3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45720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-34">
            <a:extLst>
              <a:ext uri="{FF2B5EF4-FFF2-40B4-BE49-F238E27FC236}">
                <a16:creationId xmlns:a16="http://schemas.microsoft.com/office/drawing/2014/main" id="{A2DCAF21-F4F0-4A54-AF3E-719DA9AFDF9A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-35">
            <a:extLst>
              <a:ext uri="{FF2B5EF4-FFF2-40B4-BE49-F238E27FC236}">
                <a16:creationId xmlns:a16="http://schemas.microsoft.com/office/drawing/2014/main" id="{3696A260-D135-4497-AA9D-465EEFF0ABA5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26098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抽出対象だが取得できない</a:t>
            </a:r>
          </a:p>
        </p:txBody>
      </p:sp>
      <p:sp>
        <p:nvSpPr>
          <p:cNvPr id="38" name="text-36">
            <a:extLst>
              <a:ext uri="{FF2B5EF4-FFF2-40B4-BE49-F238E27FC236}">
                <a16:creationId xmlns:a16="http://schemas.microsoft.com/office/drawing/2014/main" id="{37F41A96-8251-4977-B40E-2D9C1298F5B5}"/>
              </a:ext>
            </a:extLst>
          </p:cNvPr>
          <p:cNvSpPr>
            <a:spLocks noGrp="1"/>
          </p:cNvSpPr>
          <p:nvPr/>
        </p:nvSpPr>
        <p:spPr>
          <a:xfrm>
            <a:off x="3562350" y="4895850"/>
            <a:ext cx="36957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「-」になる場合がある</a:t>
            </a:r>
          </a:p>
        </p:txBody>
      </p:sp>
      <p:sp>
        <p:nvSpPr>
          <p:cNvPr id="39" name="text-37">
            <a:extLst>
              <a:ext uri="{FF2B5EF4-FFF2-40B4-BE49-F238E27FC236}">
                <a16:creationId xmlns:a16="http://schemas.microsoft.com/office/drawing/2014/main" id="{A8A00C94-64DA-420D-82DB-47897459776C}"/>
              </a:ext>
            </a:extLst>
          </p:cNvPr>
          <p:cNvSpPr>
            <a:spLocks noGrp="1"/>
          </p:cNvSpPr>
          <p:nvPr/>
        </p:nvSpPr>
        <p:spPr>
          <a:xfrm>
            <a:off x="7486650" y="4895850"/>
            <a:ext cx="39814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表記・範囲・条件・ログを確認</a:t>
            </a:r>
          </a:p>
        </p:txBody>
      </p:sp>
      <p:sp>
        <p:nvSpPr>
          <p:cNvPr id="40" name="shape-38">
            <a:extLst>
              <a:ext uri="{FF2B5EF4-FFF2-40B4-BE49-F238E27FC236}">
                <a16:creationId xmlns:a16="http://schemas.microsoft.com/office/drawing/2014/main" id="{FF83CD12-2CA8-40FF-BE2C-FF787AE4481E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-39">
            <a:extLst>
              <a:ext uri="{FF2B5EF4-FFF2-40B4-BE49-F238E27FC236}">
                <a16:creationId xmlns:a16="http://schemas.microsoft.com/office/drawing/2014/main" id="{C05972F0-4E4C-4D29-9BC3-05C5E4FC9AF9}"/>
              </a:ext>
            </a:extLst>
          </p:cNvPr>
          <p:cNvSpPr>
            <a:spLocks noGrp="1"/>
          </p:cNvSpPr>
          <p:nvPr/>
        </p:nvSpPr>
        <p:spPr>
          <a:xfrm>
            <a:off x="723900" y="5353050"/>
            <a:ext cx="26098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数値 0</a:t>
            </a:r>
          </a:p>
        </p:txBody>
      </p:sp>
      <p:sp>
        <p:nvSpPr>
          <p:cNvPr id="42" name="text-40">
            <a:extLst>
              <a:ext uri="{FF2B5EF4-FFF2-40B4-BE49-F238E27FC236}">
                <a16:creationId xmlns:a16="http://schemas.microsoft.com/office/drawing/2014/main" id="{1822514E-E46A-4237-AEB3-AE160A16ED9D}"/>
              </a:ext>
            </a:extLst>
          </p:cNvPr>
          <p:cNvSpPr>
            <a:spLocks noGrp="1"/>
          </p:cNvSpPr>
          <p:nvPr/>
        </p:nvSpPr>
        <p:spPr>
          <a:xfrm>
            <a:off x="3562350" y="5353050"/>
            <a:ext cx="36957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数値として扱う</a:t>
            </a:r>
          </a:p>
        </p:txBody>
      </p:sp>
      <p:sp>
        <p:nvSpPr>
          <p:cNvPr id="43" name="text-41">
            <a:extLst>
              <a:ext uri="{FF2B5EF4-FFF2-40B4-BE49-F238E27FC236}">
                <a16:creationId xmlns:a16="http://schemas.microsoft.com/office/drawing/2014/main" id="{12532D1E-B450-4A38-A381-13933E743DE7}"/>
              </a:ext>
            </a:extLst>
          </p:cNvPr>
          <p:cNvSpPr>
            <a:spLocks noGrp="1"/>
          </p:cNvSpPr>
          <p:nvPr/>
        </p:nvSpPr>
        <p:spPr>
          <a:xfrm>
            <a:off x="7486650" y="5353050"/>
            <a:ext cx="398145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「-」を0へ変換する処理ではない</a:t>
            </a:r>
          </a:p>
        </p:txBody>
      </p:sp>
      <p:sp>
        <p:nvSpPr>
          <p:cNvPr id="44" name="shape-42">
            <a:extLst>
              <a:ext uri="{FF2B5EF4-FFF2-40B4-BE49-F238E27FC236}">
                <a16:creationId xmlns:a16="http://schemas.microsoft.com/office/drawing/2014/main" id="{07224DB1-4C2F-45EC-B18F-90DA4E93DCF4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-43">
            <a:extLst>
              <a:ext uri="{FF2B5EF4-FFF2-40B4-BE49-F238E27FC236}">
                <a16:creationId xmlns:a16="http://schemas.microsoft.com/office/drawing/2014/main" id="{DDCCF22A-97A4-48D9-A3A7-65DDFF381CDB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「-」だけでは原因を区別できない。15欄の対応表と元図・ログを合わせて読む</a:t>
            </a:r>
          </a:p>
        </p:txBody>
      </p:sp>
      <p:sp>
        <p:nvSpPr>
          <p:cNvPr id="47" name="shape-3">
            <a:extLst>
              <a:ext uri="{FF2B5EF4-FFF2-40B4-BE49-F238E27FC236}">
                <a16:creationId xmlns:a16="http://schemas.microsoft.com/office/drawing/2014/main" id="{4677C63C-50B0-CF37-CC34-4DCBF4564957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9211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kicker-marker">
            <a:extLst>
              <a:ext uri="{FF2B5EF4-FFF2-40B4-BE49-F238E27FC236}">
                <a16:creationId xmlns:a16="http://schemas.microsoft.com/office/drawing/2014/main" id="{C414C8DA-1CD2-497B-BBDB-479F61EC55FD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EA7AB94A-5AD6-474B-BF23-BC4E4F3B8A99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16  EXCEL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E89F2838-9A3B-434C-B329-9DDAE00C6887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15欄へ転記し、既存の帳票数式へ引き継ぐ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0BE2B10D-2667-4DD6-8FC3-34CFB222D601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テンプレートの「使用値」A1:B15を更新します。数式の再計算はExcel側で確認します。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50E51888-7479-4BEF-9A70-CE2F0DC65F14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N1・Z1は案件条件に合わせて確認し、欠損値がある場合はOK/NGだけで判断しないでください。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4D0570C4-40AC-4477-94A8-4AF8876BEEA5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3C994F38-BA4E-4429-9C98-E67C189A10EA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2895600" cy="30670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4BE1AA69-71FD-4811-903A-45DB78F2A475}"/>
              </a:ext>
            </a:extLst>
          </p:cNvPr>
          <p:cNvSpPr>
            <a:spLocks noGrp="1"/>
          </p:cNvSpPr>
          <p:nvPr/>
        </p:nvSpPr>
        <p:spPr>
          <a:xfrm>
            <a:off x="819150" y="2276475"/>
            <a:ext cx="2476500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抽出結果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9E0D111E-239B-4648-9F52-E2DAAA988E9C}"/>
              </a:ext>
            </a:extLst>
          </p:cNvPr>
          <p:cNvSpPr>
            <a:spLocks noGrp="1"/>
          </p:cNvSpPr>
          <p:nvPr/>
        </p:nvSpPr>
        <p:spPr>
          <a:xfrm>
            <a:off x="819150" y="2809875"/>
            <a:ext cx="2476500" cy="41338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20A39137-E1E5-4EE3-9011-C8AE31CABA36}"/>
              </a:ext>
            </a:extLst>
          </p:cNvPr>
          <p:cNvSpPr>
            <a:spLocks noGrp="1"/>
          </p:cNvSpPr>
          <p:nvPr/>
        </p:nvSpPr>
        <p:spPr>
          <a:xfrm>
            <a:off x="819150" y="3223260"/>
            <a:ext cx="2476500" cy="41338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D42BBC87-6117-4966-95A5-012E8409ADB1}"/>
              </a:ext>
            </a:extLst>
          </p:cNvPr>
          <p:cNvSpPr>
            <a:spLocks noGrp="1"/>
          </p:cNvSpPr>
          <p:nvPr/>
        </p:nvSpPr>
        <p:spPr>
          <a:xfrm>
            <a:off x="819150" y="3636645"/>
            <a:ext cx="2476500" cy="41338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勾配</a:t>
            </a:r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7628BE73-FDC8-407E-8C06-D190D9F88695}"/>
              </a:ext>
            </a:extLst>
          </p:cNvPr>
          <p:cNvSpPr>
            <a:spLocks noGrp="1"/>
          </p:cNvSpPr>
          <p:nvPr/>
        </p:nvSpPr>
        <p:spPr>
          <a:xfrm>
            <a:off x="819150" y="4050030"/>
            <a:ext cx="2476500" cy="41338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縦断曲線</a:t>
            </a:r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ED0F3DAD-28DB-41B7-8CE4-4BA7627DE7E9}"/>
              </a:ext>
            </a:extLst>
          </p:cNvPr>
          <p:cNvSpPr>
            <a:spLocks noGrp="1"/>
          </p:cNvSpPr>
          <p:nvPr/>
        </p:nvSpPr>
        <p:spPr>
          <a:xfrm>
            <a:off x="819150" y="4463415"/>
            <a:ext cx="2476500" cy="41338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固定の「-」</a:t>
            </a:r>
          </a:p>
        </p:txBody>
      </p:sp>
      <p:sp>
        <p:nvSpPr>
          <p:cNvPr id="16" name="shape-14">
            <a:extLst>
              <a:ext uri="{FF2B5EF4-FFF2-40B4-BE49-F238E27FC236}">
                <a16:creationId xmlns:a16="http://schemas.microsoft.com/office/drawing/2014/main" id="{2B99594A-FC9C-4F98-A280-9836565F4336}"/>
              </a:ext>
            </a:extLst>
          </p:cNvPr>
          <p:cNvSpPr>
            <a:spLocks noGrp="1"/>
          </p:cNvSpPr>
          <p:nvPr/>
        </p:nvSpPr>
        <p:spPr>
          <a:xfrm>
            <a:off x="3714750" y="3571875"/>
            <a:ext cx="41910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-15">
            <a:extLst>
              <a:ext uri="{FF2B5EF4-FFF2-40B4-BE49-F238E27FC236}">
                <a16:creationId xmlns:a16="http://schemas.microsoft.com/office/drawing/2014/main" id="{090F95EB-C19A-4EFB-BA92-AE27600A8D08}"/>
              </a:ext>
            </a:extLst>
          </p:cNvPr>
          <p:cNvSpPr>
            <a:spLocks noGrp="1"/>
          </p:cNvSpPr>
          <p:nvPr/>
        </p:nvSpPr>
        <p:spPr>
          <a:xfrm>
            <a:off x="4362450" y="2152650"/>
            <a:ext cx="3171825" cy="3067050"/>
          </a:xfrm>
          <a:prstGeom prst="rect">
            <a:avLst/>
          </a:prstGeom>
          <a:solidFill>
            <a:srgbClr val="E8F7F1"/>
          </a:solidFill>
          <a:ln w="1143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BF56D425-5815-4078-BC75-C9C6FA4ABC55}"/>
              </a:ext>
            </a:extLst>
          </p:cNvPr>
          <p:cNvSpPr>
            <a:spLocks noGrp="1"/>
          </p:cNvSpPr>
          <p:nvPr/>
        </p:nvSpPr>
        <p:spPr>
          <a:xfrm>
            <a:off x="4562475" y="2276475"/>
            <a:ext cx="2771775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使用値 シート</a:t>
            </a:r>
          </a:p>
        </p:txBody>
      </p:sp>
      <p:sp>
        <p:nvSpPr>
          <p:cNvPr id="19" name="shape-17">
            <a:extLst>
              <a:ext uri="{FF2B5EF4-FFF2-40B4-BE49-F238E27FC236}">
                <a16:creationId xmlns:a16="http://schemas.microsoft.com/office/drawing/2014/main" id="{EA4037CD-91E9-4AFC-B3EF-19AB38B2B119}"/>
              </a:ext>
            </a:extLst>
          </p:cNvPr>
          <p:cNvSpPr>
            <a:spLocks noGrp="1"/>
          </p:cNvSpPr>
          <p:nvPr/>
        </p:nvSpPr>
        <p:spPr>
          <a:xfrm>
            <a:off x="4562475" y="2962275"/>
            <a:ext cx="2771775" cy="600075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5BC58A19-D5EE-485C-91B0-D5D097AE6150}"/>
              </a:ext>
            </a:extLst>
          </p:cNvPr>
          <p:cNvSpPr>
            <a:spLocks noGrp="1"/>
          </p:cNvSpPr>
          <p:nvPr/>
        </p:nvSpPr>
        <p:spPr>
          <a:xfrm>
            <a:off x="4676775" y="3076575"/>
            <a:ext cx="1228725" cy="3714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A列</a:t>
            </a:r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81212ACE-E7E9-4EB5-A31E-1078387F90EC}"/>
              </a:ext>
            </a:extLst>
          </p:cNvPr>
          <p:cNvSpPr>
            <a:spLocks noGrp="1"/>
          </p:cNvSpPr>
          <p:nvPr/>
        </p:nvSpPr>
        <p:spPr>
          <a:xfrm>
            <a:off x="6134100" y="3076575"/>
            <a:ext cx="1085850" cy="3714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B列</a:t>
            </a:r>
          </a:p>
        </p:txBody>
      </p:sp>
      <p:sp>
        <p:nvSpPr>
          <p:cNvPr id="22" name="shape-20">
            <a:extLst>
              <a:ext uri="{FF2B5EF4-FFF2-40B4-BE49-F238E27FC236}">
                <a16:creationId xmlns:a16="http://schemas.microsoft.com/office/drawing/2014/main" id="{1AC46EDF-D5A4-45F8-89B3-A3561FE8952E}"/>
              </a:ext>
            </a:extLst>
          </p:cNvPr>
          <p:cNvSpPr>
            <a:spLocks noGrp="1"/>
          </p:cNvSpPr>
          <p:nvPr/>
        </p:nvSpPr>
        <p:spPr>
          <a:xfrm>
            <a:off x="4562475" y="4162425"/>
            <a:ext cx="277177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3147B1F1-774D-408B-A3CA-FB0D4067BD90}"/>
              </a:ext>
            </a:extLst>
          </p:cNvPr>
          <p:cNvSpPr>
            <a:spLocks noGrp="1"/>
          </p:cNvSpPr>
          <p:nvPr/>
        </p:nvSpPr>
        <p:spPr>
          <a:xfrm>
            <a:off x="4676775" y="3676650"/>
            <a:ext cx="1228725" cy="3714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項目名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5B576E6B-6ABE-47F6-A3D7-0EB52E4A6F62}"/>
              </a:ext>
            </a:extLst>
          </p:cNvPr>
          <p:cNvSpPr>
            <a:spLocks noGrp="1"/>
          </p:cNvSpPr>
          <p:nvPr/>
        </p:nvSpPr>
        <p:spPr>
          <a:xfrm>
            <a:off x="6134100" y="3676650"/>
            <a:ext cx="1085850" cy="3714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抽出値</a:t>
            </a:r>
          </a:p>
        </p:txBody>
      </p:sp>
      <p:sp>
        <p:nvSpPr>
          <p:cNvPr id="25" name="shape-23">
            <a:extLst>
              <a:ext uri="{FF2B5EF4-FFF2-40B4-BE49-F238E27FC236}">
                <a16:creationId xmlns:a16="http://schemas.microsoft.com/office/drawing/2014/main" id="{F6F8865C-4E50-4265-9299-A0629AC4CF18}"/>
              </a:ext>
            </a:extLst>
          </p:cNvPr>
          <p:cNvSpPr>
            <a:spLocks noGrp="1"/>
          </p:cNvSpPr>
          <p:nvPr/>
        </p:nvSpPr>
        <p:spPr>
          <a:xfrm>
            <a:off x="4562475" y="4162425"/>
            <a:ext cx="2771775" cy="600075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-24">
            <a:extLst>
              <a:ext uri="{FF2B5EF4-FFF2-40B4-BE49-F238E27FC236}">
                <a16:creationId xmlns:a16="http://schemas.microsoft.com/office/drawing/2014/main" id="{3CFDBD39-FAE0-4F82-8B53-A96390BF892A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277177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4EF86F67-EA58-464D-8EE4-29A0A2434413}"/>
              </a:ext>
            </a:extLst>
          </p:cNvPr>
          <p:cNvSpPr>
            <a:spLocks noGrp="1"/>
          </p:cNvSpPr>
          <p:nvPr/>
        </p:nvSpPr>
        <p:spPr>
          <a:xfrm>
            <a:off x="4676775" y="4276725"/>
            <a:ext cx="1228725" cy="3714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A1〜A15</a:t>
            </a: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938D2FB0-D206-4DC0-87FE-7B080E4FA3C1}"/>
              </a:ext>
            </a:extLst>
          </p:cNvPr>
          <p:cNvSpPr>
            <a:spLocks noGrp="1"/>
          </p:cNvSpPr>
          <p:nvPr/>
        </p:nvSpPr>
        <p:spPr>
          <a:xfrm>
            <a:off x="6134100" y="4276725"/>
            <a:ext cx="1085850" cy="3714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B1〜B15</a:t>
            </a:r>
          </a:p>
        </p:txBody>
      </p:sp>
      <p:sp>
        <p:nvSpPr>
          <p:cNvPr id="29" name="text-27">
            <a:extLst>
              <a:ext uri="{FF2B5EF4-FFF2-40B4-BE49-F238E27FC236}">
                <a16:creationId xmlns:a16="http://schemas.microsoft.com/office/drawing/2014/main" id="{23941579-F39B-4F93-96D3-197B5777900D}"/>
              </a:ext>
            </a:extLst>
          </p:cNvPr>
          <p:cNvSpPr>
            <a:spLocks noGrp="1"/>
          </p:cNvSpPr>
          <p:nvPr/>
        </p:nvSpPr>
        <p:spPr>
          <a:xfrm>
            <a:off x="4562475" y="4857750"/>
            <a:ext cx="2771775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B列を消してから転記</a:t>
            </a:r>
          </a:p>
        </p:txBody>
      </p:sp>
      <p:sp>
        <p:nvSpPr>
          <p:cNvPr id="30" name="shape-28">
            <a:extLst>
              <a:ext uri="{FF2B5EF4-FFF2-40B4-BE49-F238E27FC236}">
                <a16:creationId xmlns:a16="http://schemas.microsoft.com/office/drawing/2014/main" id="{856B8F96-1D37-4AFC-8080-9C4EA5FA413A}"/>
              </a:ext>
            </a:extLst>
          </p:cNvPr>
          <p:cNvSpPr>
            <a:spLocks noGrp="1"/>
          </p:cNvSpPr>
          <p:nvPr/>
        </p:nvSpPr>
        <p:spPr>
          <a:xfrm>
            <a:off x="7743825" y="3571875"/>
            <a:ext cx="41910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-29">
            <a:extLst>
              <a:ext uri="{FF2B5EF4-FFF2-40B4-BE49-F238E27FC236}">
                <a16:creationId xmlns:a16="http://schemas.microsoft.com/office/drawing/2014/main" id="{83A2CF7F-5E45-4721-B167-D4060E5068BC}"/>
              </a:ext>
            </a:extLst>
          </p:cNvPr>
          <p:cNvSpPr>
            <a:spLocks noGrp="1"/>
          </p:cNvSpPr>
          <p:nvPr/>
        </p:nvSpPr>
        <p:spPr>
          <a:xfrm>
            <a:off x="8391525" y="2152650"/>
            <a:ext cx="3190875" cy="3067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07254F60-FA7E-40C1-B7EC-F14309E53354}"/>
              </a:ext>
            </a:extLst>
          </p:cNvPr>
          <p:cNvSpPr>
            <a:spLocks noGrp="1"/>
          </p:cNvSpPr>
          <p:nvPr/>
        </p:nvSpPr>
        <p:spPr>
          <a:xfrm>
            <a:off x="8582025" y="2276475"/>
            <a:ext cx="2809875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幾何構造表 シート</a:t>
            </a:r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60FD6301-3735-4A53-9865-ACE6689ECA1A}"/>
              </a:ext>
            </a:extLst>
          </p:cNvPr>
          <p:cNvSpPr>
            <a:spLocks noGrp="1"/>
          </p:cNvSpPr>
          <p:nvPr/>
        </p:nvSpPr>
        <p:spPr>
          <a:xfrm>
            <a:off x="8582025" y="2981325"/>
            <a:ext cx="2809875" cy="395288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U列：使用値を参照</a:t>
            </a:r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FBE4A20C-C0B8-4DD1-B840-C57D8D80E12F}"/>
              </a:ext>
            </a:extLst>
          </p:cNvPr>
          <p:cNvSpPr>
            <a:spLocks noGrp="1"/>
          </p:cNvSpPr>
          <p:nvPr/>
        </p:nvSpPr>
        <p:spPr>
          <a:xfrm>
            <a:off x="8582025" y="3376613"/>
            <a:ext cx="2809875" cy="395288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Y列：既存のOK/NG式</a:t>
            </a:r>
          </a:p>
        </p:txBody>
      </p:sp>
      <p:sp>
        <p:nvSpPr>
          <p:cNvPr id="35" name="text-33">
            <a:extLst>
              <a:ext uri="{FF2B5EF4-FFF2-40B4-BE49-F238E27FC236}">
                <a16:creationId xmlns:a16="http://schemas.microsoft.com/office/drawing/2014/main" id="{01D3B1ED-6127-43C9-AB10-0A8249998867}"/>
              </a:ext>
            </a:extLst>
          </p:cNvPr>
          <p:cNvSpPr>
            <a:spLocks noGrp="1"/>
          </p:cNvSpPr>
          <p:nvPr/>
        </p:nvSpPr>
        <p:spPr>
          <a:xfrm>
            <a:off x="8582025" y="4010025"/>
            <a:ext cx="2809875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N1：設計速度</a:t>
            </a:r>
          </a:p>
        </p:txBody>
      </p:sp>
      <p:sp>
        <p:nvSpPr>
          <p:cNvPr id="36" name="text-34">
            <a:extLst>
              <a:ext uri="{FF2B5EF4-FFF2-40B4-BE49-F238E27FC236}">
                <a16:creationId xmlns:a16="http://schemas.microsoft.com/office/drawing/2014/main" id="{F0D472AD-9C5E-4040-A197-CC45A975A116}"/>
              </a:ext>
            </a:extLst>
          </p:cNvPr>
          <p:cNvSpPr>
            <a:spLocks noGrp="1"/>
          </p:cNvSpPr>
          <p:nvPr/>
        </p:nvSpPr>
        <p:spPr>
          <a:xfrm>
            <a:off x="8582025" y="4343400"/>
            <a:ext cx="2809875" cy="3333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Z1：第4種道路か</a:t>
            </a:r>
          </a:p>
        </p:txBody>
      </p:sp>
      <p:sp>
        <p:nvSpPr>
          <p:cNvPr id="37" name="shape-35">
            <a:extLst>
              <a:ext uri="{FF2B5EF4-FFF2-40B4-BE49-F238E27FC236}">
                <a16:creationId xmlns:a16="http://schemas.microsoft.com/office/drawing/2014/main" id="{D323D1EC-AC90-42F6-B255-6D42A377927A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-36">
            <a:extLst>
              <a:ext uri="{FF2B5EF4-FFF2-40B4-BE49-F238E27FC236}">
                <a16:creationId xmlns:a16="http://schemas.microsoft.com/office/drawing/2014/main" id="{41FE2B98-FFA3-4F06-98F2-D5F11E674189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設計条件N1・Z1はスクリプトで更新しない。利用者が案件の条件と再計算結果を確認する</a:t>
            </a:r>
          </a:p>
        </p:txBody>
      </p:sp>
      <p:sp>
        <p:nvSpPr>
          <p:cNvPr id="40" name="shape-3">
            <a:extLst>
              <a:ext uri="{FF2B5EF4-FFF2-40B4-BE49-F238E27FC236}">
                <a16:creationId xmlns:a16="http://schemas.microsoft.com/office/drawing/2014/main" id="{4C318F57-B588-2589-580B-71B731722B84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11070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kicker-marker">
            <a:extLst>
              <a:ext uri="{FF2B5EF4-FFF2-40B4-BE49-F238E27FC236}">
                <a16:creationId xmlns:a16="http://schemas.microsoft.com/office/drawing/2014/main" id="{5962DFD7-C9BA-4F82-AA9B-8091AAD23735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6729A7F6-73AE-4EEE-8383-78C7B4664B1B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17  COVERAGE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048FE68E-87CC-4595-B311-501537C6B2B7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Excel保存の成功は、全項目の取得成功を意味しない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1E9452E4-6A15-4370-AF33-1F1FBD771D93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取得値が「-」でも、Excelを保存してDXFをusedへ移す場合があります。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3970B734-3EB7-4885-AC19-AB35F91144FB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保存と移動の成功は、抽出内容の正確性を保証しません。値の欠損を別途確認してください。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D3061206-BF86-47C3-9DAE-0CED6029BE30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17</a:t>
            </a: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3947FE12-7D33-4DDD-ABD6-8845B1BE568E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5219700" cy="3124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-8">
            <a:extLst>
              <a:ext uri="{FF2B5EF4-FFF2-40B4-BE49-F238E27FC236}">
                <a16:creationId xmlns:a16="http://schemas.microsoft.com/office/drawing/2014/main" id="{39F2D48D-9E16-4A5D-8495-7F9427E4F25E}"/>
              </a:ext>
            </a:extLst>
          </p:cNvPr>
          <p:cNvSpPr>
            <a:spLocks noGrp="1"/>
          </p:cNvSpPr>
          <p:nvPr/>
        </p:nvSpPr>
        <p:spPr>
          <a:xfrm>
            <a:off x="6153150" y="2162175"/>
            <a:ext cx="5429250" cy="312420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ED5281FB-ADF9-4140-81A4-52B2262C64EF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47244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Excelを保存できた場合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478980FA-A136-4833-9DB9-D5BFF6CCDC3F}"/>
              </a:ext>
            </a:extLst>
          </p:cNvPr>
          <p:cNvSpPr>
            <a:spLocks noGrp="1"/>
          </p:cNvSpPr>
          <p:nvPr/>
        </p:nvSpPr>
        <p:spPr>
          <a:xfrm>
            <a:off x="6400800" y="2324100"/>
            <a:ext cx="493395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DXFの処理・保存・移動が失敗</a:t>
            </a:r>
          </a:p>
        </p:txBody>
      </p:sp>
      <p:sp>
        <p:nvSpPr>
          <p:cNvPr id="13" name="shape-11">
            <a:extLst>
              <a:ext uri="{FF2B5EF4-FFF2-40B4-BE49-F238E27FC236}">
                <a16:creationId xmlns:a16="http://schemas.microsoft.com/office/drawing/2014/main" id="{B4CFE96B-F5D8-4342-B6FE-51EE98B21DC1}"/>
              </a:ext>
            </a:extLst>
          </p:cNvPr>
          <p:cNvSpPr>
            <a:spLocks noGrp="1"/>
          </p:cNvSpPr>
          <p:nvPr/>
        </p:nvSpPr>
        <p:spPr>
          <a:xfrm>
            <a:off x="925830" y="312610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7D0C63DD-64B4-40C1-92D6-9AD2254B2E96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449580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Excelを日時フォルダへ保存</a:t>
            </a:r>
          </a:p>
        </p:txBody>
      </p:sp>
      <p:sp>
        <p:nvSpPr>
          <p:cNvPr id="15" name="shape-13">
            <a:extLst>
              <a:ext uri="{FF2B5EF4-FFF2-40B4-BE49-F238E27FC236}">
                <a16:creationId xmlns:a16="http://schemas.microsoft.com/office/drawing/2014/main" id="{842709D5-6D56-4096-BF75-6A0D1B12782E}"/>
              </a:ext>
            </a:extLst>
          </p:cNvPr>
          <p:cNvSpPr>
            <a:spLocks noGrp="1"/>
          </p:cNvSpPr>
          <p:nvPr/>
        </p:nvSpPr>
        <p:spPr>
          <a:xfrm>
            <a:off x="925830" y="3783330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1FC8FC6E-BE82-4EE2-90D3-2DEDED01E9C7}"/>
              </a:ext>
            </a:extLst>
          </p:cNvPr>
          <p:cNvSpPr>
            <a:spLocks noGrp="1"/>
          </p:cNvSpPr>
          <p:nvPr/>
        </p:nvSpPr>
        <p:spPr>
          <a:xfrm>
            <a:off x="1085850" y="3609975"/>
            <a:ext cx="449580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DXFをusedへ移動</a:t>
            </a:r>
          </a:p>
        </p:txBody>
      </p:sp>
      <p:sp>
        <p:nvSpPr>
          <p:cNvPr id="17" name="shape-15">
            <a:extLst>
              <a:ext uri="{FF2B5EF4-FFF2-40B4-BE49-F238E27FC236}">
                <a16:creationId xmlns:a16="http://schemas.microsoft.com/office/drawing/2014/main" id="{35E82A04-5B9A-4A57-8DA3-9672841FC4CD}"/>
              </a:ext>
            </a:extLst>
          </p:cNvPr>
          <p:cNvSpPr>
            <a:spLocks noGrp="1"/>
          </p:cNvSpPr>
          <p:nvPr/>
        </p:nvSpPr>
        <p:spPr>
          <a:xfrm>
            <a:off x="925830" y="444055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354E41C7-D8B6-41DD-AE55-17A680410B1E}"/>
              </a:ext>
            </a:extLst>
          </p:cNvPr>
          <p:cNvSpPr>
            <a:spLocks noGrp="1"/>
          </p:cNvSpPr>
          <p:nvPr/>
        </p:nvSpPr>
        <p:spPr>
          <a:xfrm>
            <a:off x="1085850" y="4267200"/>
            <a:ext cx="4495800" cy="30670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一部または全欄が「-」でも</a:t>
            </a:r>
          </a:p>
        </p:txBody>
      </p:sp>
      <p:sp>
        <p:nvSpPr>
          <p:cNvPr id="19" name="text-17">
            <a:extLst>
              <a:ext uri="{FF2B5EF4-FFF2-40B4-BE49-F238E27FC236}">
                <a16:creationId xmlns:a16="http://schemas.microsoft.com/office/drawing/2014/main" id="{C4A67DAA-A8DF-45BB-B02C-9F1EB0FC7B50}"/>
              </a:ext>
            </a:extLst>
          </p:cNvPr>
          <p:cNvSpPr>
            <a:spLocks noGrp="1"/>
          </p:cNvSpPr>
          <p:nvPr/>
        </p:nvSpPr>
        <p:spPr>
          <a:xfrm>
            <a:off x="1085850" y="4573905"/>
            <a:ext cx="4495800" cy="30670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保存・移動される場合がある</a:t>
            </a:r>
          </a:p>
        </p:txBody>
      </p:sp>
      <p:sp>
        <p:nvSpPr>
          <p:cNvPr id="20" name="shape-18">
            <a:extLst>
              <a:ext uri="{FF2B5EF4-FFF2-40B4-BE49-F238E27FC236}">
                <a16:creationId xmlns:a16="http://schemas.microsoft.com/office/drawing/2014/main" id="{C083FF20-850E-4BE3-99FE-9882FE660307}"/>
              </a:ext>
            </a:extLst>
          </p:cNvPr>
          <p:cNvSpPr>
            <a:spLocks noGrp="1"/>
          </p:cNvSpPr>
          <p:nvPr/>
        </p:nvSpPr>
        <p:spPr>
          <a:xfrm>
            <a:off x="6469380" y="312610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FDBBD3A0-71FB-466A-83E3-874AB053595E}"/>
              </a:ext>
            </a:extLst>
          </p:cNvPr>
          <p:cNvSpPr>
            <a:spLocks noGrp="1"/>
          </p:cNvSpPr>
          <p:nvPr/>
        </p:nvSpPr>
        <p:spPr>
          <a:xfrm>
            <a:off x="6629400" y="2952750"/>
            <a:ext cx="47053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そのDXFの処理失敗をログへ記録</a:t>
            </a:r>
          </a:p>
        </p:txBody>
      </p:sp>
      <p:sp>
        <p:nvSpPr>
          <p:cNvPr id="22" name="shape-20">
            <a:extLst>
              <a:ext uri="{FF2B5EF4-FFF2-40B4-BE49-F238E27FC236}">
                <a16:creationId xmlns:a16="http://schemas.microsoft.com/office/drawing/2014/main" id="{60122D6A-1023-4690-9F50-BA4BA525DA40}"/>
              </a:ext>
            </a:extLst>
          </p:cNvPr>
          <p:cNvSpPr>
            <a:spLocks noGrp="1"/>
          </p:cNvSpPr>
          <p:nvPr/>
        </p:nvSpPr>
        <p:spPr>
          <a:xfrm>
            <a:off x="6469380" y="3783330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3D3760C0-7A03-4225-8389-ECF2ACFC0B92}"/>
              </a:ext>
            </a:extLst>
          </p:cNvPr>
          <p:cNvSpPr>
            <a:spLocks noGrp="1"/>
          </p:cNvSpPr>
          <p:nvPr/>
        </p:nvSpPr>
        <p:spPr>
          <a:xfrm>
            <a:off x="6629400" y="3609975"/>
            <a:ext cx="47053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通常はDXFがinputに残る</a:t>
            </a:r>
          </a:p>
        </p:txBody>
      </p:sp>
      <p:sp>
        <p:nvSpPr>
          <p:cNvPr id="24" name="shape-22">
            <a:extLst>
              <a:ext uri="{FF2B5EF4-FFF2-40B4-BE49-F238E27FC236}">
                <a16:creationId xmlns:a16="http://schemas.microsoft.com/office/drawing/2014/main" id="{84EEB681-7269-4BB3-B740-9B2930BBC533}"/>
              </a:ext>
            </a:extLst>
          </p:cNvPr>
          <p:cNvSpPr>
            <a:spLocks noGrp="1"/>
          </p:cNvSpPr>
          <p:nvPr/>
        </p:nvSpPr>
        <p:spPr>
          <a:xfrm>
            <a:off x="6469380" y="4440555"/>
            <a:ext cx="53340" cy="5334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08713C70-0941-4D91-888B-412994D150CA}"/>
              </a:ext>
            </a:extLst>
          </p:cNvPr>
          <p:cNvSpPr>
            <a:spLocks noGrp="1"/>
          </p:cNvSpPr>
          <p:nvPr/>
        </p:nvSpPr>
        <p:spPr>
          <a:xfrm>
            <a:off x="6629400" y="4267200"/>
            <a:ext cx="4705350" cy="30670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保存後に移動だけ失敗すると</a:t>
            </a:r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C35260FA-3F1A-4F23-A95E-67CD60AE8E61}"/>
              </a:ext>
            </a:extLst>
          </p:cNvPr>
          <p:cNvSpPr>
            <a:spLocks noGrp="1"/>
          </p:cNvSpPr>
          <p:nvPr/>
        </p:nvSpPr>
        <p:spPr>
          <a:xfrm>
            <a:off x="6629400" y="4573905"/>
            <a:ext cx="4705350" cy="30670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Excelとinputの両方に残り得る</a:t>
            </a:r>
          </a:p>
        </p:txBody>
      </p:sp>
      <p:sp>
        <p:nvSpPr>
          <p:cNvPr id="27" name="shape-25">
            <a:extLst>
              <a:ext uri="{FF2B5EF4-FFF2-40B4-BE49-F238E27FC236}">
                <a16:creationId xmlns:a16="http://schemas.microsoft.com/office/drawing/2014/main" id="{9AD2CC9F-8942-438D-8FDE-919ECA801C2D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A88D1486-526C-4980-99C1-874D51AB52CE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今回の合成検証では、空DXFも「全15欄が -」のExcelを作り、usedへ移動した</a:t>
            </a:r>
          </a:p>
        </p:txBody>
      </p:sp>
      <p:sp>
        <p:nvSpPr>
          <p:cNvPr id="30" name="shape-3">
            <a:extLst>
              <a:ext uri="{FF2B5EF4-FFF2-40B4-BE49-F238E27FC236}">
                <a16:creationId xmlns:a16="http://schemas.microsoft.com/office/drawing/2014/main" id="{153D105C-EB60-F7F5-7AD9-BEEE60B4FD6D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4526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kicker-marker">
            <a:extLst>
              <a:ext uri="{FF2B5EF4-FFF2-40B4-BE49-F238E27FC236}">
                <a16:creationId xmlns:a16="http://schemas.microsoft.com/office/drawing/2014/main" id="{35AF4D28-CB3D-4485-86E9-1CD0F12ABED2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BFBD6D82-FDA0-4541-9312-7627F05F2AE7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18  LIMITATIONS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ED6AD219-054A-46B0-9169-9B82636435A8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複合曲線と2段の縦断図は、元図で重点確認する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67797DF7-3D5D-47E0-B33D-67DEF5975DCC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現行実装で確認した注意点です。数値は説明用の合成入力で、現場の実測値ではありません。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EEE0DBF1-03F2-4739-BB17-914D24ECC698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複合曲線では意図した集計と異なる値になる場合があります。2段の縦断図にも取得制約があります。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AA182481-FE2B-4157-8CD2-F505678E83E3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18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D2A9B7BF-A39A-4D7B-8D76-B02F30A23FFA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71818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複合曲線の長さ</a:t>
            </a:r>
          </a:p>
        </p:txBody>
      </p:sp>
      <p:sp>
        <p:nvSpPr>
          <p:cNvPr id="10" name="shape-8">
            <a:extLst>
              <a:ext uri="{FF2B5EF4-FFF2-40B4-BE49-F238E27FC236}">
                <a16:creationId xmlns:a16="http://schemas.microsoft.com/office/drawing/2014/main" id="{78167A2B-F811-44F0-A5C2-03352596D72C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8267700" cy="89535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0528D21F-E777-4909-925C-BE0AB92BE49E}"/>
              </a:ext>
            </a:extLst>
          </p:cNvPr>
          <p:cNvSpPr>
            <a:spLocks noGrp="1"/>
          </p:cNvSpPr>
          <p:nvPr/>
        </p:nvSpPr>
        <p:spPr>
          <a:xfrm>
            <a:off x="723900" y="2743200"/>
            <a:ext cx="1962150" cy="666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並び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E0241EBA-8DEA-43EB-97F7-3A1589C99688}"/>
              </a:ext>
            </a:extLst>
          </p:cNvPr>
          <p:cNvSpPr>
            <a:spLocks noGrp="1"/>
          </p:cNvSpPr>
          <p:nvPr/>
        </p:nvSpPr>
        <p:spPr>
          <a:xfrm>
            <a:off x="2914650" y="2743200"/>
            <a:ext cx="2476500" cy="666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現行の採用例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A9A181F3-81B6-4309-9265-D135544B4C67}"/>
              </a:ext>
            </a:extLst>
          </p:cNvPr>
          <p:cNvSpPr>
            <a:spLocks noGrp="1"/>
          </p:cNvSpPr>
          <p:nvPr/>
        </p:nvSpPr>
        <p:spPr>
          <a:xfrm>
            <a:off x="5619750" y="2743200"/>
            <a:ext cx="3143250" cy="666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確認すべき点</a:t>
            </a:r>
          </a:p>
        </p:txBody>
      </p:sp>
      <p:sp>
        <p:nvSpPr>
          <p:cNvPr id="14" name="shape-12">
            <a:extLst>
              <a:ext uri="{FF2B5EF4-FFF2-40B4-BE49-F238E27FC236}">
                <a16:creationId xmlns:a16="http://schemas.microsoft.com/office/drawing/2014/main" id="{9D43A956-C1B1-4045-8C71-EEEC02642731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82677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873789FE-26D1-42CC-B48B-2980268F9FE7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1962150" cy="666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末尾の A–R–A</a:t>
            </a:r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B17F36D3-2E9E-406C-982B-D97F63E73EA3}"/>
              </a:ext>
            </a:extLst>
          </p:cNvPr>
          <p:cNvSpPr>
            <a:spLocks noGrp="1"/>
          </p:cNvSpPr>
          <p:nvPr/>
        </p:nvSpPr>
        <p:spPr>
          <a:xfrm>
            <a:off x="2914650" y="3638550"/>
            <a:ext cx="2476500" cy="666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中央RのLだけを採用</a:t>
            </a:r>
          </a:p>
        </p:txBody>
      </p:sp>
      <p:sp>
        <p:nvSpPr>
          <p:cNvPr id="17" name="text-15">
            <a:extLst>
              <a:ext uri="{FF2B5EF4-FFF2-40B4-BE49-F238E27FC236}">
                <a16:creationId xmlns:a16="http://schemas.microsoft.com/office/drawing/2014/main" id="{2AF3D5D2-04FF-4993-90CB-890EF5ABF546}"/>
              </a:ext>
            </a:extLst>
          </p:cNvPr>
          <p:cNvSpPr>
            <a:spLocks noGrp="1"/>
          </p:cNvSpPr>
          <p:nvPr/>
        </p:nvSpPr>
        <p:spPr>
          <a:xfrm>
            <a:off x="5619750" y="3638550"/>
            <a:ext cx="3143250" cy="666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前後Aの長さが含まれない</a:t>
            </a:r>
          </a:p>
        </p:txBody>
      </p:sp>
      <p:sp>
        <p:nvSpPr>
          <p:cNvPr id="18" name="shape-16">
            <a:extLst>
              <a:ext uri="{FF2B5EF4-FFF2-40B4-BE49-F238E27FC236}">
                <a16:creationId xmlns:a16="http://schemas.microsoft.com/office/drawing/2014/main" id="{CAD17B02-9BFE-44E5-95CE-01BBA8A598D7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8267700" cy="8953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-17">
            <a:extLst>
              <a:ext uri="{FF2B5EF4-FFF2-40B4-BE49-F238E27FC236}">
                <a16:creationId xmlns:a16="http://schemas.microsoft.com/office/drawing/2014/main" id="{AFEA539E-CB8D-4081-A105-06A588F5F876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82677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D6CD3DC1-0146-4028-ACF3-C0BD013E1D76}"/>
              </a:ext>
            </a:extLst>
          </p:cNvPr>
          <p:cNvSpPr>
            <a:spLocks noGrp="1"/>
          </p:cNvSpPr>
          <p:nvPr/>
        </p:nvSpPr>
        <p:spPr>
          <a:xfrm>
            <a:off x="723900" y="4533900"/>
            <a:ext cx="1962150" cy="666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同方向 A–R–A–R–A</a:t>
            </a:r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7966BCD2-384F-4FD2-9877-79A0FE511774}"/>
              </a:ext>
            </a:extLst>
          </p:cNvPr>
          <p:cNvSpPr>
            <a:spLocks noGrp="1"/>
          </p:cNvSpPr>
          <p:nvPr/>
        </p:nvSpPr>
        <p:spPr>
          <a:xfrm>
            <a:off x="2914650" y="4533900"/>
            <a:ext cx="2476500" cy="666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例：全L合計300に対し440</a:t>
            </a:r>
          </a:p>
        </p:txBody>
      </p:sp>
      <p:sp>
        <p:nvSpPr>
          <p:cNvPr id="22" name="text-20">
            <a:extLst>
              <a:ext uri="{FF2B5EF4-FFF2-40B4-BE49-F238E27FC236}">
                <a16:creationId xmlns:a16="http://schemas.microsoft.com/office/drawing/2014/main" id="{7CB03162-2311-44C8-BC3B-47473575B2CA}"/>
              </a:ext>
            </a:extLst>
          </p:cNvPr>
          <p:cNvSpPr>
            <a:spLocks noGrp="1"/>
          </p:cNvSpPr>
          <p:nvPr/>
        </p:nvSpPr>
        <p:spPr>
          <a:xfrm>
            <a:off x="5619750" y="4533900"/>
            <a:ext cx="3143250" cy="6667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後半のR/A値を長さへ加算</a:t>
            </a:r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8C7158FE-1A94-441A-B4D7-8D670E53CEA5}"/>
              </a:ext>
            </a:extLst>
          </p:cNvPr>
          <p:cNvSpPr>
            <a:spLocks noGrp="1"/>
          </p:cNvSpPr>
          <p:nvPr/>
        </p:nvSpPr>
        <p:spPr>
          <a:xfrm>
            <a:off x="9229725" y="2047875"/>
            <a:ext cx="2352675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2段の縦断図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481E263B-599C-4B82-AEDB-8E4E0C23846F}"/>
              </a:ext>
            </a:extLst>
          </p:cNvPr>
          <p:cNvSpPr>
            <a:spLocks noGrp="1"/>
          </p:cNvSpPr>
          <p:nvPr/>
        </p:nvSpPr>
        <p:spPr>
          <a:xfrm>
            <a:off x="9229725" y="2790825"/>
            <a:ext cx="2352675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X位置だけでは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B38673EE-D5E8-4A0E-B763-3FDF26BFCD40}"/>
              </a:ext>
            </a:extLst>
          </p:cNvPr>
          <p:cNvSpPr>
            <a:spLocks noGrp="1"/>
          </p:cNvSpPr>
          <p:nvPr/>
        </p:nvSpPr>
        <p:spPr>
          <a:xfrm>
            <a:off x="9229725" y="3190875"/>
            <a:ext cx="2352675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上段・下段が</a:t>
            </a:r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0BA2B1C1-CD2B-46AC-9AF9-BD6B795CC1E6}"/>
              </a:ext>
            </a:extLst>
          </p:cNvPr>
          <p:cNvSpPr>
            <a:spLocks noGrp="1"/>
          </p:cNvSpPr>
          <p:nvPr/>
        </p:nvSpPr>
        <p:spPr>
          <a:xfrm>
            <a:off x="9229725" y="3590925"/>
            <a:ext cx="2352675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混ざる可能性</a:t>
            </a:r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362809FF-B0B5-4FED-B556-545F9F5A5D02}"/>
              </a:ext>
            </a:extLst>
          </p:cNvPr>
          <p:cNvSpPr>
            <a:spLocks noGrp="1"/>
          </p:cNvSpPr>
          <p:nvPr/>
        </p:nvSpPr>
        <p:spPr>
          <a:xfrm>
            <a:off x="9229725" y="4267200"/>
            <a:ext cx="2352675" cy="3238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VCR / VCLの取得に</a:t>
            </a: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AD29C043-25B7-4069-9FF1-E874A5B89AFC}"/>
              </a:ext>
            </a:extLst>
          </p:cNvPr>
          <p:cNvSpPr>
            <a:spLocks noGrp="1"/>
          </p:cNvSpPr>
          <p:nvPr/>
        </p:nvSpPr>
        <p:spPr>
          <a:xfrm>
            <a:off x="9229725" y="4591050"/>
            <a:ext cx="2352675" cy="3238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制約ありと記載</a:t>
            </a:r>
          </a:p>
        </p:txBody>
      </p:sp>
      <p:sp>
        <p:nvSpPr>
          <p:cNvPr id="29" name="shape-27">
            <a:extLst>
              <a:ext uri="{FF2B5EF4-FFF2-40B4-BE49-F238E27FC236}">
                <a16:creationId xmlns:a16="http://schemas.microsoft.com/office/drawing/2014/main" id="{5B527290-C7FA-4B16-ABD9-A56C5ED72237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E0EC8F9E-32D0-4CE5-90B3-CBE7848DDC1E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複合曲線長・負号付き勾配・2段縦断図は、自動取得値をそのまま確定せず元図で確認する</a:t>
            </a:r>
          </a:p>
        </p:txBody>
      </p:sp>
      <p:sp>
        <p:nvSpPr>
          <p:cNvPr id="32" name="shape-3">
            <a:extLst>
              <a:ext uri="{FF2B5EF4-FFF2-40B4-BE49-F238E27FC236}">
                <a16:creationId xmlns:a16="http://schemas.microsoft.com/office/drawing/2014/main" id="{08F8EFEC-4C3B-C107-A1FD-F7AED3914F74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35682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kicker-marker">
            <a:extLst>
              <a:ext uri="{FF2B5EF4-FFF2-40B4-BE49-F238E27FC236}">
                <a16:creationId xmlns:a16="http://schemas.microsoft.com/office/drawing/2014/main" id="{BE087BBB-C2A5-4AC8-B337-E31CF2E8996B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5AFFBD21-05CD-4F0C-82F6-290ED9D69E5E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lang="en-US" altLang="ja-JP" sz="10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19</a:t>
            </a:r>
            <a:r>
              <a:rPr sz="10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  HUMAN CHECK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D71A4A1C-B73C-438B-B66F-786AAF43DB58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元図・使用値・設計条件を照合して、照査を完了する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24F1A1C9-78D2-4656-BA29-5103F516420B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帳票のOK表示だけで、確認を終えないでください。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530036FD-F490-4A44-8146-1CC1135751D3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元図との照合、未取得項目の補完、設計条件と数式の確認を行い、最終判断を記録してください。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CC0F9D67-CCA4-4092-823F-B1839567C473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lang="en-US" sz="900" b="0" dirty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19</a:t>
            </a:r>
            <a:endParaRPr sz="900" b="0" dirty="0">
              <a:solidFill>
                <a:srgbClr val="70777A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7ED65F0F-5B9D-4CDB-ACF9-147FC05505A4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3362325" cy="31908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-8">
            <a:extLst>
              <a:ext uri="{FF2B5EF4-FFF2-40B4-BE49-F238E27FC236}">
                <a16:creationId xmlns:a16="http://schemas.microsoft.com/office/drawing/2014/main" id="{0CE8F177-BA91-4FC2-82AB-6F3316DAE13C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3362325" cy="2667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-9">
            <a:extLst>
              <a:ext uri="{FF2B5EF4-FFF2-40B4-BE49-F238E27FC236}">
                <a16:creationId xmlns:a16="http://schemas.microsoft.com/office/drawing/2014/main" id="{B614FF3E-34D8-4946-8884-C9DEF6EFEBC0}"/>
              </a:ext>
            </a:extLst>
          </p:cNvPr>
          <p:cNvSpPr>
            <a:spLocks noGrp="1"/>
          </p:cNvSpPr>
          <p:nvPr/>
        </p:nvSpPr>
        <p:spPr>
          <a:xfrm>
            <a:off x="609600" y="2935288"/>
            <a:ext cx="33623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-10">
            <a:extLst>
              <a:ext uri="{FF2B5EF4-FFF2-40B4-BE49-F238E27FC236}">
                <a16:creationId xmlns:a16="http://schemas.microsoft.com/office/drawing/2014/main" id="{2791C01B-8E8F-4166-810C-B0EA7D516BC5}"/>
              </a:ext>
            </a:extLst>
          </p:cNvPr>
          <p:cNvSpPr>
            <a:spLocks noGrp="1"/>
          </p:cNvSpPr>
          <p:nvPr/>
        </p:nvSpPr>
        <p:spPr>
          <a:xfrm>
            <a:off x="609600" y="3422650"/>
            <a:ext cx="33623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-11">
            <a:extLst>
              <a:ext uri="{FF2B5EF4-FFF2-40B4-BE49-F238E27FC236}">
                <a16:creationId xmlns:a16="http://schemas.microsoft.com/office/drawing/2014/main" id="{E662BC38-AE4D-4D9F-8D3B-C6C90AFCFC88}"/>
              </a:ext>
            </a:extLst>
          </p:cNvPr>
          <p:cNvSpPr>
            <a:spLocks noGrp="1"/>
          </p:cNvSpPr>
          <p:nvPr/>
        </p:nvSpPr>
        <p:spPr>
          <a:xfrm>
            <a:off x="609600" y="3910013"/>
            <a:ext cx="33623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-12">
            <a:extLst>
              <a:ext uri="{FF2B5EF4-FFF2-40B4-BE49-F238E27FC236}">
                <a16:creationId xmlns:a16="http://schemas.microsoft.com/office/drawing/2014/main" id="{63CCBCB3-9AF7-416E-B717-1E3FD18239EF}"/>
              </a:ext>
            </a:extLst>
          </p:cNvPr>
          <p:cNvSpPr>
            <a:spLocks noGrp="1"/>
          </p:cNvSpPr>
          <p:nvPr/>
        </p:nvSpPr>
        <p:spPr>
          <a:xfrm>
            <a:off x="609600" y="4397375"/>
            <a:ext cx="33623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-13">
            <a:extLst>
              <a:ext uri="{FF2B5EF4-FFF2-40B4-BE49-F238E27FC236}">
                <a16:creationId xmlns:a16="http://schemas.microsoft.com/office/drawing/2014/main" id="{63BD4065-0201-464D-A8A8-5D373C6BEE7B}"/>
              </a:ext>
            </a:extLst>
          </p:cNvPr>
          <p:cNvSpPr>
            <a:spLocks noGrp="1"/>
          </p:cNvSpPr>
          <p:nvPr/>
        </p:nvSpPr>
        <p:spPr>
          <a:xfrm>
            <a:off x="609600" y="4884738"/>
            <a:ext cx="33623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-14">
            <a:extLst>
              <a:ext uri="{FF2B5EF4-FFF2-40B4-BE49-F238E27FC236}">
                <a16:creationId xmlns:a16="http://schemas.microsoft.com/office/drawing/2014/main" id="{4443962C-2AE3-4428-822B-D5303DD7DB42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33623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-15">
            <a:extLst>
              <a:ext uri="{FF2B5EF4-FFF2-40B4-BE49-F238E27FC236}">
                <a16:creationId xmlns:a16="http://schemas.microsoft.com/office/drawing/2014/main" id="{50C65264-AEEC-44EA-B501-1E940B799D30}"/>
              </a:ext>
            </a:extLst>
          </p:cNvPr>
          <p:cNvSpPr>
            <a:spLocks noGrp="1"/>
          </p:cNvSpPr>
          <p:nvPr/>
        </p:nvSpPr>
        <p:spPr>
          <a:xfrm>
            <a:off x="2795111" y="2181225"/>
            <a:ext cx="9525" cy="319087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E1F655D5-676D-4529-93B6-DF02CF2090E6}"/>
              </a:ext>
            </a:extLst>
          </p:cNvPr>
          <p:cNvSpPr>
            <a:spLocks noGrp="1"/>
          </p:cNvSpPr>
          <p:nvPr/>
        </p:nvSpPr>
        <p:spPr>
          <a:xfrm>
            <a:off x="704850" y="2181225"/>
            <a:ext cx="2017395" cy="2667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項目</a:t>
            </a:r>
          </a:p>
        </p:txBody>
      </p:sp>
      <p:sp>
        <p:nvSpPr>
          <p:cNvPr id="19" name="text-17">
            <a:extLst>
              <a:ext uri="{FF2B5EF4-FFF2-40B4-BE49-F238E27FC236}">
                <a16:creationId xmlns:a16="http://schemas.microsoft.com/office/drawing/2014/main" id="{068662AA-DACD-4E0B-97EC-A7B1FD821E0E}"/>
              </a:ext>
            </a:extLst>
          </p:cNvPr>
          <p:cNvSpPr>
            <a:spLocks noGrp="1"/>
          </p:cNvSpPr>
          <p:nvPr/>
        </p:nvSpPr>
        <p:spPr>
          <a:xfrm>
            <a:off x="2862358" y="2181225"/>
            <a:ext cx="1008697" cy="2667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使用値</a:t>
            </a:r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28E62CA7-71CB-49CC-8190-3CA058DFF95B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3362325" cy="3714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元図とExcelを並べる</a:t>
            </a:r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9A1DF6B1-14AF-42CB-8BA9-15E53915F04B}"/>
              </a:ext>
            </a:extLst>
          </p:cNvPr>
          <p:cNvSpPr>
            <a:spLocks noGrp="1"/>
          </p:cNvSpPr>
          <p:nvPr/>
        </p:nvSpPr>
        <p:spPr>
          <a:xfrm>
            <a:off x="4600575" y="2085975"/>
            <a:ext cx="6981825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確認チェックリスト</a:t>
            </a:r>
          </a:p>
        </p:txBody>
      </p:sp>
      <p:sp>
        <p:nvSpPr>
          <p:cNvPr id="22" name="shape-20">
            <a:extLst>
              <a:ext uri="{FF2B5EF4-FFF2-40B4-BE49-F238E27FC236}">
                <a16:creationId xmlns:a16="http://schemas.microsoft.com/office/drawing/2014/main" id="{4FD1ACF0-DF14-49CD-93D3-F9E9136C105A}"/>
              </a:ext>
            </a:extLst>
          </p:cNvPr>
          <p:cNvSpPr>
            <a:spLocks noGrp="1"/>
          </p:cNvSpPr>
          <p:nvPr/>
        </p:nvSpPr>
        <p:spPr>
          <a:xfrm>
            <a:off x="4638675" y="2695575"/>
            <a:ext cx="161925" cy="161925"/>
          </a:xfrm>
          <a:prstGeom prst="rect">
            <a:avLst/>
          </a:prstGeom>
          <a:solidFill>
            <a:srgbClr val="FFFFFF"/>
          </a:solidFill>
          <a:ln w="1143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6FDE985F-04BC-46A1-866A-E8AC959D7B3A}"/>
              </a:ext>
            </a:extLst>
          </p:cNvPr>
          <p:cNvSpPr>
            <a:spLocks noGrp="1"/>
          </p:cNvSpPr>
          <p:nvPr/>
        </p:nvSpPr>
        <p:spPr>
          <a:xfrm>
            <a:off x="4972050" y="2571750"/>
            <a:ext cx="66103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設計速度N1・第4種道路の指定Z1が正しい</a:t>
            </a:r>
          </a:p>
        </p:txBody>
      </p:sp>
      <p:sp>
        <p:nvSpPr>
          <p:cNvPr id="24" name="shape-22">
            <a:extLst>
              <a:ext uri="{FF2B5EF4-FFF2-40B4-BE49-F238E27FC236}">
                <a16:creationId xmlns:a16="http://schemas.microsoft.com/office/drawing/2014/main" id="{D5C386E9-9266-4AC3-A25D-A2C1FAE85560}"/>
              </a:ext>
            </a:extLst>
          </p:cNvPr>
          <p:cNvSpPr>
            <a:spLocks noGrp="1"/>
          </p:cNvSpPr>
          <p:nvPr/>
        </p:nvSpPr>
        <p:spPr>
          <a:xfrm>
            <a:off x="4638675" y="3238500"/>
            <a:ext cx="161925" cy="161925"/>
          </a:xfrm>
          <a:prstGeom prst="rect">
            <a:avLst/>
          </a:prstGeom>
          <a:solidFill>
            <a:srgbClr val="FFFFFF"/>
          </a:solidFill>
          <a:ln w="1143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FC6BA1BA-68AB-45F7-9F5D-DD6B6381DC10}"/>
              </a:ext>
            </a:extLst>
          </p:cNvPr>
          <p:cNvSpPr>
            <a:spLocks noGrp="1"/>
          </p:cNvSpPr>
          <p:nvPr/>
        </p:nvSpPr>
        <p:spPr>
          <a:xfrm>
            <a:off x="4972050" y="3114675"/>
            <a:ext cx="66103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半径・長さ・片勾配・縦断勾配を元図と照合した</a:t>
            </a:r>
          </a:p>
        </p:txBody>
      </p:sp>
      <p:sp>
        <p:nvSpPr>
          <p:cNvPr id="26" name="shape-24">
            <a:extLst>
              <a:ext uri="{FF2B5EF4-FFF2-40B4-BE49-F238E27FC236}">
                <a16:creationId xmlns:a16="http://schemas.microsoft.com/office/drawing/2014/main" id="{F540DF42-332B-42F5-897A-9388D2CBA1B9}"/>
              </a:ext>
            </a:extLst>
          </p:cNvPr>
          <p:cNvSpPr>
            <a:spLocks noGrp="1"/>
          </p:cNvSpPr>
          <p:nvPr/>
        </p:nvSpPr>
        <p:spPr>
          <a:xfrm>
            <a:off x="4638675" y="3781425"/>
            <a:ext cx="161925" cy="161925"/>
          </a:xfrm>
          <a:prstGeom prst="rect">
            <a:avLst/>
          </a:prstGeom>
          <a:solidFill>
            <a:srgbClr val="FFFFFF"/>
          </a:solidFill>
          <a:ln w="1143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BB64E4A4-D2FA-4955-BA05-548C28AB94AB}"/>
              </a:ext>
            </a:extLst>
          </p:cNvPr>
          <p:cNvSpPr>
            <a:spLocks noGrp="1"/>
          </p:cNvSpPr>
          <p:nvPr/>
        </p:nvSpPr>
        <p:spPr>
          <a:xfrm>
            <a:off x="4972050" y="3657600"/>
            <a:ext cx="66103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「-」を未対応と未取得に分けて確認した</a:t>
            </a:r>
          </a:p>
        </p:txBody>
      </p:sp>
      <p:sp>
        <p:nvSpPr>
          <p:cNvPr id="28" name="shape-26">
            <a:extLst>
              <a:ext uri="{FF2B5EF4-FFF2-40B4-BE49-F238E27FC236}">
                <a16:creationId xmlns:a16="http://schemas.microsoft.com/office/drawing/2014/main" id="{6B9FF332-A2DD-455E-8599-798B3C91B179}"/>
              </a:ext>
            </a:extLst>
          </p:cNvPr>
          <p:cNvSpPr>
            <a:spLocks noGrp="1"/>
          </p:cNvSpPr>
          <p:nvPr/>
        </p:nvSpPr>
        <p:spPr>
          <a:xfrm>
            <a:off x="4638675" y="4324350"/>
            <a:ext cx="161925" cy="161925"/>
          </a:xfrm>
          <a:prstGeom prst="rect">
            <a:avLst/>
          </a:prstGeom>
          <a:solidFill>
            <a:srgbClr val="FFFFFF"/>
          </a:solidFill>
          <a:ln w="1143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-27">
            <a:extLst>
              <a:ext uri="{FF2B5EF4-FFF2-40B4-BE49-F238E27FC236}">
                <a16:creationId xmlns:a16="http://schemas.microsoft.com/office/drawing/2014/main" id="{42FFF541-AB2D-4FAF-984D-C5A7727D64FC}"/>
              </a:ext>
            </a:extLst>
          </p:cNvPr>
          <p:cNvSpPr>
            <a:spLocks noGrp="1"/>
          </p:cNvSpPr>
          <p:nvPr/>
        </p:nvSpPr>
        <p:spPr>
          <a:xfrm>
            <a:off x="4972050" y="4200525"/>
            <a:ext cx="66103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複合曲線、負号付き勾配、2段縦断図を確認した</a:t>
            </a:r>
          </a:p>
        </p:txBody>
      </p:sp>
      <p:sp>
        <p:nvSpPr>
          <p:cNvPr id="30" name="shape-28">
            <a:extLst>
              <a:ext uri="{FF2B5EF4-FFF2-40B4-BE49-F238E27FC236}">
                <a16:creationId xmlns:a16="http://schemas.microsoft.com/office/drawing/2014/main" id="{96CADFBB-A469-48EB-9104-0B7A2F22A78B}"/>
              </a:ext>
            </a:extLst>
          </p:cNvPr>
          <p:cNvSpPr>
            <a:spLocks noGrp="1"/>
          </p:cNvSpPr>
          <p:nvPr/>
        </p:nvSpPr>
        <p:spPr>
          <a:xfrm>
            <a:off x="4638675" y="4867275"/>
            <a:ext cx="161925" cy="161925"/>
          </a:xfrm>
          <a:prstGeom prst="rect">
            <a:avLst/>
          </a:prstGeom>
          <a:solidFill>
            <a:srgbClr val="FFFFFF"/>
          </a:solidFill>
          <a:ln w="1143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-29">
            <a:extLst>
              <a:ext uri="{FF2B5EF4-FFF2-40B4-BE49-F238E27FC236}">
                <a16:creationId xmlns:a16="http://schemas.microsoft.com/office/drawing/2014/main" id="{CE4AE6FE-472E-42F4-9194-48CECA694C1C}"/>
              </a:ext>
            </a:extLst>
          </p:cNvPr>
          <p:cNvSpPr>
            <a:spLocks noGrp="1"/>
          </p:cNvSpPr>
          <p:nvPr/>
        </p:nvSpPr>
        <p:spPr>
          <a:xfrm>
            <a:off x="4972050" y="4743450"/>
            <a:ext cx="66103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Excelを再計算し、OK/NGの根拠まで確認した</a:t>
            </a:r>
          </a:p>
        </p:txBody>
      </p:sp>
      <p:sp>
        <p:nvSpPr>
          <p:cNvPr id="32" name="shape-30">
            <a:extLst>
              <a:ext uri="{FF2B5EF4-FFF2-40B4-BE49-F238E27FC236}">
                <a16:creationId xmlns:a16="http://schemas.microsoft.com/office/drawing/2014/main" id="{4DD48AC6-1C0E-439F-B4B7-C128F8832211}"/>
              </a:ext>
            </a:extLst>
          </p:cNvPr>
          <p:cNvSpPr>
            <a:spLocks noGrp="1"/>
          </p:cNvSpPr>
          <p:nvPr/>
        </p:nvSpPr>
        <p:spPr>
          <a:xfrm>
            <a:off x="4638675" y="5410200"/>
            <a:ext cx="161925" cy="161925"/>
          </a:xfrm>
          <a:prstGeom prst="rect">
            <a:avLst/>
          </a:prstGeom>
          <a:solidFill>
            <a:srgbClr val="FFFFFF"/>
          </a:solidFill>
          <a:ln w="11430">
            <a:solidFill>
              <a:srgbClr val="01A1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3C046B8A-0D77-4F4D-A968-5000F1084AF7}"/>
              </a:ext>
            </a:extLst>
          </p:cNvPr>
          <p:cNvSpPr>
            <a:spLocks noGrp="1"/>
          </p:cNvSpPr>
          <p:nvPr/>
        </p:nvSpPr>
        <p:spPr>
          <a:xfrm>
            <a:off x="4972050" y="5286375"/>
            <a:ext cx="6610350" cy="4191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未取得項目を補い、適用基準と最終判断を記録した</a:t>
            </a:r>
          </a:p>
        </p:txBody>
      </p:sp>
      <p:sp>
        <p:nvSpPr>
          <p:cNvPr id="35" name="shape-3">
            <a:extLst>
              <a:ext uri="{FF2B5EF4-FFF2-40B4-BE49-F238E27FC236}">
                <a16:creationId xmlns:a16="http://schemas.microsoft.com/office/drawing/2014/main" id="{C1236570-EBBC-7DEC-A233-387AE22994C4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84936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kicker-marker">
            <a:extLst>
              <a:ext uri="{FF2B5EF4-FFF2-40B4-BE49-F238E27FC236}">
                <a16:creationId xmlns:a16="http://schemas.microsoft.com/office/drawing/2014/main" id="{A2007AD7-C439-4B63-AC3A-9CA8978BBFC7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B78407F0-185D-4471-80AF-A043631B35E5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</a:t>
            </a:r>
            <a:r>
              <a:rPr lang="en-US" sz="10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0</a:t>
            </a:r>
            <a:r>
              <a:rPr sz="10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  APPENDIX / INPUT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160043DD-F2EC-453A-AE83-7FAF98404CEB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付録：読み取りに必要なDXFの条件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D80EFA3A-FDE3-46FE-85C4-D7D516D88206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現在のcontroller.py設定。表記やレイヤーが異なる場合は、管理担当者へ確認します。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3863208D-CC0E-4EB9-9F31-C63F2009C4DA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現在のcontroller.py設定と前処理に基づく条件です。表記やレイヤーが異なる場合は確認が必要です。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0AE1E4E8-63FA-40D6-9FBD-B9567855C281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 dirty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2</a:t>
            </a:r>
            <a:r>
              <a:rPr lang="en-US" sz="900" b="0" dirty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0</a:t>
            </a:r>
            <a:endParaRPr sz="900" b="0" dirty="0">
              <a:solidFill>
                <a:srgbClr val="70777A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BAAEB7B0-7EF7-438B-810B-E43662BDA0C9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10972800" cy="466725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3FA8EDD6-28E5-4BAE-BE75-9CB32ACCF6FC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25146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区分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34D0D0FF-C18B-4A61-9237-7B7B59D6D55A}"/>
              </a:ext>
            </a:extLst>
          </p:cNvPr>
          <p:cNvSpPr>
            <a:spLocks noGrp="1"/>
          </p:cNvSpPr>
          <p:nvPr/>
        </p:nvSpPr>
        <p:spPr>
          <a:xfrm>
            <a:off x="3467100" y="2143125"/>
            <a:ext cx="80010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現在の仕様・表記</a:t>
            </a:r>
          </a:p>
        </p:txBody>
      </p:sp>
      <p:sp>
        <p:nvSpPr>
          <p:cNvPr id="12" name="shape-10">
            <a:extLst>
              <a:ext uri="{FF2B5EF4-FFF2-40B4-BE49-F238E27FC236}">
                <a16:creationId xmlns:a16="http://schemas.microsoft.com/office/drawing/2014/main" id="{8403EC19-AE0C-4D48-9667-67640A123781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39D2DCF6-EE1E-45AB-9D3C-CA884F71E4B6}"/>
              </a:ext>
            </a:extLst>
          </p:cNvPr>
          <p:cNvSpPr>
            <a:spLocks noGrp="1"/>
          </p:cNvSpPr>
          <p:nvPr/>
        </p:nvSpPr>
        <p:spPr>
          <a:xfrm>
            <a:off x="723900" y="2609850"/>
            <a:ext cx="25146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空間・要素</a:t>
            </a:r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95B34F60-B38C-489D-90B6-BCF2712C1807}"/>
              </a:ext>
            </a:extLst>
          </p:cNvPr>
          <p:cNvSpPr>
            <a:spLocks noGrp="1"/>
          </p:cNvSpPr>
          <p:nvPr/>
        </p:nvSpPr>
        <p:spPr>
          <a:xfrm>
            <a:off x="3467100" y="2609850"/>
            <a:ext cx="80010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モデル空間：TEXT、LINE（MTEXT / LWPOLYLINEは前処理）</a:t>
            </a:r>
          </a:p>
        </p:txBody>
      </p:sp>
      <p:sp>
        <p:nvSpPr>
          <p:cNvPr id="15" name="shape-13">
            <a:extLst>
              <a:ext uri="{FF2B5EF4-FFF2-40B4-BE49-F238E27FC236}">
                <a16:creationId xmlns:a16="http://schemas.microsoft.com/office/drawing/2014/main" id="{2D2C59A0-1DB2-4028-9169-72F45229F74B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10972800" cy="466725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-14">
            <a:extLst>
              <a:ext uri="{FF2B5EF4-FFF2-40B4-BE49-F238E27FC236}">
                <a16:creationId xmlns:a16="http://schemas.microsoft.com/office/drawing/2014/main" id="{6CA22BF6-4435-4FF8-9BFF-D9D998B3D2C3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-15">
            <a:extLst>
              <a:ext uri="{FF2B5EF4-FFF2-40B4-BE49-F238E27FC236}">
                <a16:creationId xmlns:a16="http://schemas.microsoft.com/office/drawing/2014/main" id="{7064821C-B827-4B1A-B4EE-6D72D2AC8E0B}"/>
              </a:ext>
            </a:extLst>
          </p:cNvPr>
          <p:cNvSpPr>
            <a:spLocks noGrp="1"/>
          </p:cNvSpPr>
          <p:nvPr/>
        </p:nvSpPr>
        <p:spPr>
          <a:xfrm>
            <a:off x="723900" y="3076575"/>
            <a:ext cx="25146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帯文字レイヤー</a:t>
            </a:r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C9BC5026-29A1-466E-BE54-B33A704F9D4B}"/>
              </a:ext>
            </a:extLst>
          </p:cNvPr>
          <p:cNvSpPr>
            <a:spLocks noGrp="1"/>
          </p:cNvSpPr>
          <p:nvPr/>
        </p:nvSpPr>
        <p:spPr>
          <a:xfrm>
            <a:off x="3467100" y="3076575"/>
            <a:ext cx="80010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D-TTL-BAND</a:t>
            </a:r>
          </a:p>
        </p:txBody>
      </p:sp>
      <p:sp>
        <p:nvSpPr>
          <p:cNvPr id="19" name="shape-17">
            <a:extLst>
              <a:ext uri="{FF2B5EF4-FFF2-40B4-BE49-F238E27FC236}">
                <a16:creationId xmlns:a16="http://schemas.microsoft.com/office/drawing/2014/main" id="{0D618B22-B89E-4A5A-95E0-04B60C9924A2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4ACCAC20-5FC6-4F9F-B079-E147C8DE1766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25146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縦断曲線レイヤー</a:t>
            </a:r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3F2D0225-15A8-4A4C-A2AC-7119E889D416}"/>
              </a:ext>
            </a:extLst>
          </p:cNvPr>
          <p:cNvSpPr>
            <a:spLocks noGrp="1"/>
          </p:cNvSpPr>
          <p:nvPr/>
        </p:nvSpPr>
        <p:spPr>
          <a:xfrm>
            <a:off x="3467100" y="3543300"/>
            <a:ext cx="80010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D-STR-DIM ／ D-STR-HTXT</a:t>
            </a:r>
          </a:p>
        </p:txBody>
      </p:sp>
      <p:sp>
        <p:nvSpPr>
          <p:cNvPr id="22" name="shape-20">
            <a:extLst>
              <a:ext uri="{FF2B5EF4-FFF2-40B4-BE49-F238E27FC236}">
                <a16:creationId xmlns:a16="http://schemas.microsoft.com/office/drawing/2014/main" id="{D62EF331-52E0-45DF-AF89-2E3B9542F252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10972800" cy="466725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-21">
            <a:extLst>
              <a:ext uri="{FF2B5EF4-FFF2-40B4-BE49-F238E27FC236}">
                <a16:creationId xmlns:a16="http://schemas.microsoft.com/office/drawing/2014/main" id="{49147709-9BC1-4665-8C07-68A8E8D1CE4C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266F502D-8507-4516-893D-076DD37596D1}"/>
              </a:ext>
            </a:extLst>
          </p:cNvPr>
          <p:cNvSpPr>
            <a:spLocks noGrp="1"/>
          </p:cNvSpPr>
          <p:nvPr/>
        </p:nvSpPr>
        <p:spPr>
          <a:xfrm>
            <a:off x="723900" y="4010025"/>
            <a:ext cx="25146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曲率帯タイトル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288502C9-FE62-4C07-9339-366BCD1A1088}"/>
              </a:ext>
            </a:extLst>
          </p:cNvPr>
          <p:cNvSpPr>
            <a:spLocks noGrp="1"/>
          </p:cNvSpPr>
          <p:nvPr/>
        </p:nvSpPr>
        <p:spPr>
          <a:xfrm>
            <a:off x="3467100" y="4010025"/>
            <a:ext cx="80010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曲率・曲線・曲率図・曲線図・曲率方向・曲線方向</a:t>
            </a:r>
          </a:p>
        </p:txBody>
      </p:sp>
      <p:sp>
        <p:nvSpPr>
          <p:cNvPr id="26" name="shape-24">
            <a:extLst>
              <a:ext uri="{FF2B5EF4-FFF2-40B4-BE49-F238E27FC236}">
                <a16:creationId xmlns:a16="http://schemas.microsoft.com/office/drawing/2014/main" id="{9023661B-541F-4B6C-A454-F92D73ED684E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E0DB1A76-7CF7-4A1A-AF9B-8AC91D5E1D44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25146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片勾配／勾配タイトル</a:t>
            </a: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4082E4D8-5C6F-4155-B745-16C3EBB14B4D}"/>
              </a:ext>
            </a:extLst>
          </p:cNvPr>
          <p:cNvSpPr>
            <a:spLocks noGrp="1"/>
          </p:cNvSpPr>
          <p:nvPr/>
        </p:nvSpPr>
        <p:spPr>
          <a:xfrm>
            <a:off x="3467100" y="4476750"/>
            <a:ext cx="80010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片勾配すり付け図・片勾配すり付図・片勾配 ／ 勾配</a:t>
            </a:r>
          </a:p>
        </p:txBody>
      </p:sp>
      <p:sp>
        <p:nvSpPr>
          <p:cNvPr id="29" name="shape-27">
            <a:extLst>
              <a:ext uri="{FF2B5EF4-FFF2-40B4-BE49-F238E27FC236}">
                <a16:creationId xmlns:a16="http://schemas.microsoft.com/office/drawing/2014/main" id="{CC5F9A0B-A745-4033-8D05-8EF39AF9F4CB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10972800" cy="466725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-28">
            <a:extLst>
              <a:ext uri="{FF2B5EF4-FFF2-40B4-BE49-F238E27FC236}">
                <a16:creationId xmlns:a16="http://schemas.microsoft.com/office/drawing/2014/main" id="{ADBD40DB-638A-41FF-A67B-D7AC01872360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-29">
            <a:extLst>
              <a:ext uri="{FF2B5EF4-FFF2-40B4-BE49-F238E27FC236}">
                <a16:creationId xmlns:a16="http://schemas.microsoft.com/office/drawing/2014/main" id="{0C8EE1C6-4773-4305-93B3-4774D223266B}"/>
              </a:ext>
            </a:extLst>
          </p:cNvPr>
          <p:cNvSpPr>
            <a:spLocks noGrp="1"/>
          </p:cNvSpPr>
          <p:nvPr/>
        </p:nvSpPr>
        <p:spPr>
          <a:xfrm>
            <a:off x="723900" y="4943475"/>
            <a:ext cx="25146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数値の主な表記</a:t>
            </a:r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CA4529B7-A18C-41A7-B151-024E459BE7AA}"/>
              </a:ext>
            </a:extLst>
          </p:cNvPr>
          <p:cNvSpPr>
            <a:spLocks noGrp="1"/>
          </p:cNvSpPr>
          <p:nvPr/>
        </p:nvSpPr>
        <p:spPr>
          <a:xfrm>
            <a:off x="3467100" y="4943475"/>
            <a:ext cx="80010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R=、A=、L= / L1= / LC= / L2=、a/b、i= / I=</a:t>
            </a:r>
          </a:p>
        </p:txBody>
      </p:sp>
      <p:sp>
        <p:nvSpPr>
          <p:cNvPr id="33" name="shape-31">
            <a:extLst>
              <a:ext uri="{FF2B5EF4-FFF2-40B4-BE49-F238E27FC236}">
                <a16:creationId xmlns:a16="http://schemas.microsoft.com/office/drawing/2014/main" id="{D07FA936-1A84-42CE-A8FB-3CF963FAC438}"/>
              </a:ext>
            </a:extLst>
          </p:cNvPr>
          <p:cNvSpPr>
            <a:spLocks noGrp="1"/>
          </p:cNvSpPr>
          <p:nvPr/>
        </p:nvSpPr>
        <p:spPr>
          <a:xfrm>
            <a:off x="609600" y="576262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8892965E-3DD3-4902-B0B1-072980F0E3EA}"/>
              </a:ext>
            </a:extLst>
          </p:cNvPr>
          <p:cNvSpPr>
            <a:spLocks noGrp="1"/>
          </p:cNvSpPr>
          <p:nvPr/>
        </p:nvSpPr>
        <p:spPr>
          <a:xfrm>
            <a:off x="723900" y="5410200"/>
            <a:ext cx="25146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縦断曲線の表記</a:t>
            </a:r>
          </a:p>
        </p:txBody>
      </p:sp>
      <p:sp>
        <p:nvSpPr>
          <p:cNvPr id="35" name="text-33">
            <a:extLst>
              <a:ext uri="{FF2B5EF4-FFF2-40B4-BE49-F238E27FC236}">
                <a16:creationId xmlns:a16="http://schemas.microsoft.com/office/drawing/2014/main" id="{FD1C7A17-CDB9-4BBE-AB84-5D55849A8669}"/>
              </a:ext>
            </a:extLst>
          </p:cNvPr>
          <p:cNvSpPr>
            <a:spLocks noGrp="1"/>
          </p:cNvSpPr>
          <p:nvPr/>
        </p:nvSpPr>
        <p:spPr>
          <a:xfrm>
            <a:off x="3467100" y="5410200"/>
            <a:ext cx="8001000" cy="2381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半径：VCR= または R= ／ 長さ：VCL=</a:t>
            </a:r>
          </a:p>
        </p:txBody>
      </p:sp>
      <p:sp>
        <p:nvSpPr>
          <p:cNvPr id="36" name="shape-34">
            <a:extLst>
              <a:ext uri="{FF2B5EF4-FFF2-40B4-BE49-F238E27FC236}">
                <a16:creationId xmlns:a16="http://schemas.microsoft.com/office/drawing/2014/main" id="{B0C62D45-A78D-4C1D-8649-751481C4EC63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-35">
            <a:extLst>
              <a:ext uri="{FF2B5EF4-FFF2-40B4-BE49-F238E27FC236}">
                <a16:creationId xmlns:a16="http://schemas.microsoft.com/office/drawing/2014/main" id="{0EAD96FA-876E-4619-83A9-1186B0C4BD54}"/>
              </a:ext>
            </a:extLst>
          </p:cNvPr>
          <p:cNvSpPr>
            <a:spLocks noGrp="1"/>
          </p:cNvSpPr>
          <p:nvPr/>
        </p:nvSpPr>
        <p:spPr>
          <a:xfrm>
            <a:off x="781050" y="600075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INSERT内部の展開、画像文字、旧POLYLINEの分解は確認できない。LWPOLYLINEは頂点を直線化</a:t>
            </a:r>
          </a:p>
        </p:txBody>
      </p:sp>
      <p:sp>
        <p:nvSpPr>
          <p:cNvPr id="39" name="shape-3">
            <a:extLst>
              <a:ext uri="{FF2B5EF4-FFF2-40B4-BE49-F238E27FC236}">
                <a16:creationId xmlns:a16="http://schemas.microsoft.com/office/drawing/2014/main" id="{FB7DCC6F-DA29-5CBB-5824-B3068D3CC3A1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04437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kicker-marker">
            <a:extLst>
              <a:ext uri="{FF2B5EF4-FFF2-40B4-BE49-F238E27FC236}">
                <a16:creationId xmlns:a16="http://schemas.microsoft.com/office/drawing/2014/main" id="{832625A7-39E1-41C8-B9C6-A31E909AA10E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18BCCCC2-0A97-421E-8A00-00A8A0DD88F2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</a:t>
            </a:r>
            <a:r>
              <a:rPr lang="en-US" sz="10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1</a:t>
            </a:r>
            <a:r>
              <a:rPr sz="10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  APPENDIX / MAPPING 1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D7351515-536D-4152-90AE-BABC28C3DA9B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付録：15欄の取得元と採用規則 ①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821BC112-93EC-400F-9C75-4FC5D09AC23E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B1〜B8。「使用値」シートへ入る値の一覧です。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92E72640-65CD-4995-A80D-C2A2FA152716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B1〜B8の取得規則です。抽出対象の欄でも、文字・位置・対応条件によって「-」になる場合があります。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C1894A96-6FD4-43A7-AC87-380E7B6D6CDF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 dirty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2</a:t>
            </a:r>
            <a:r>
              <a:rPr lang="en-US" sz="900" b="0" dirty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1</a:t>
            </a:r>
            <a:endParaRPr sz="900" b="0" dirty="0">
              <a:solidFill>
                <a:srgbClr val="70777A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32C825F6-42B9-4650-A6E7-8A65214810E0}"/>
              </a:ext>
            </a:extLst>
          </p:cNvPr>
          <p:cNvSpPr>
            <a:spLocks noGrp="1"/>
          </p:cNvSpPr>
          <p:nvPr/>
        </p:nvSpPr>
        <p:spPr>
          <a:xfrm>
            <a:off x="609600" y="1990725"/>
            <a:ext cx="10972800" cy="447675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B10F4BAB-739C-4CE4-96C4-49175E26C1AF}"/>
              </a:ext>
            </a:extLst>
          </p:cNvPr>
          <p:cNvSpPr>
            <a:spLocks noGrp="1"/>
          </p:cNvSpPr>
          <p:nvPr/>
        </p:nvSpPr>
        <p:spPr>
          <a:xfrm>
            <a:off x="723900" y="2105025"/>
            <a:ext cx="4953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セル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0E99933E-2D87-4D64-AB2B-7819469AC2CC}"/>
              </a:ext>
            </a:extLst>
          </p:cNvPr>
          <p:cNvSpPr>
            <a:spLocks noGrp="1"/>
          </p:cNvSpPr>
          <p:nvPr/>
        </p:nvSpPr>
        <p:spPr>
          <a:xfrm>
            <a:off x="1447800" y="2105025"/>
            <a:ext cx="39624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帳票項目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D710140B-3AD3-4F2C-86A9-547DB6E11351}"/>
              </a:ext>
            </a:extLst>
          </p:cNvPr>
          <p:cNvSpPr>
            <a:spLocks noGrp="1"/>
          </p:cNvSpPr>
          <p:nvPr/>
        </p:nvSpPr>
        <p:spPr>
          <a:xfrm>
            <a:off x="5638800" y="2105025"/>
            <a:ext cx="44767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取得元・採用規則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71C86046-C5B4-442F-B71F-834EB8986552}"/>
              </a:ext>
            </a:extLst>
          </p:cNvPr>
          <p:cNvSpPr>
            <a:spLocks noGrp="1"/>
          </p:cNvSpPr>
          <p:nvPr/>
        </p:nvSpPr>
        <p:spPr>
          <a:xfrm>
            <a:off x="10344150" y="2105025"/>
            <a:ext cx="11239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状態</a:t>
            </a:r>
          </a:p>
        </p:txBody>
      </p:sp>
      <p:sp>
        <p:nvSpPr>
          <p:cNvPr id="14" name="shape-12">
            <a:extLst>
              <a:ext uri="{FF2B5EF4-FFF2-40B4-BE49-F238E27FC236}">
                <a16:creationId xmlns:a16="http://schemas.microsoft.com/office/drawing/2014/main" id="{5712543B-801A-4842-A2C4-9334C4021491}"/>
              </a:ext>
            </a:extLst>
          </p:cNvPr>
          <p:cNvSpPr>
            <a:spLocks noGrp="1"/>
          </p:cNvSpPr>
          <p:nvPr/>
        </p:nvSpPr>
        <p:spPr>
          <a:xfrm>
            <a:off x="609600" y="288607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B5D0581B-13F6-42DE-BE6E-2BB84BE4ABBC}"/>
              </a:ext>
            </a:extLst>
          </p:cNvPr>
          <p:cNvSpPr>
            <a:spLocks noGrp="1"/>
          </p:cNvSpPr>
          <p:nvPr/>
        </p:nvSpPr>
        <p:spPr>
          <a:xfrm>
            <a:off x="723900" y="2552700"/>
            <a:ext cx="4953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B1</a:t>
            </a:r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169F01EB-2966-4ED2-8E88-CF79CE0FE006}"/>
              </a:ext>
            </a:extLst>
          </p:cNvPr>
          <p:cNvSpPr>
            <a:spLocks noGrp="1"/>
          </p:cNvSpPr>
          <p:nvPr/>
        </p:nvSpPr>
        <p:spPr>
          <a:xfrm>
            <a:off x="1447800" y="2552700"/>
            <a:ext cx="39624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最小曲線半径</a:t>
            </a:r>
          </a:p>
        </p:txBody>
      </p:sp>
      <p:sp>
        <p:nvSpPr>
          <p:cNvPr id="17" name="text-15">
            <a:extLst>
              <a:ext uri="{FF2B5EF4-FFF2-40B4-BE49-F238E27FC236}">
                <a16:creationId xmlns:a16="http://schemas.microsoft.com/office/drawing/2014/main" id="{95BD6910-52FE-4F41-939F-68D7B09AC08A}"/>
              </a:ext>
            </a:extLst>
          </p:cNvPr>
          <p:cNvSpPr>
            <a:spLocks noGrp="1"/>
          </p:cNvSpPr>
          <p:nvPr/>
        </p:nvSpPr>
        <p:spPr>
          <a:xfrm>
            <a:off x="5638800" y="2552700"/>
            <a:ext cx="44767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対応付け後のRの最小</a:t>
            </a:r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2B8F4E7B-5E83-4E55-BC6F-9785CEE872AD}"/>
              </a:ext>
            </a:extLst>
          </p:cNvPr>
          <p:cNvSpPr>
            <a:spLocks noGrp="1"/>
          </p:cNvSpPr>
          <p:nvPr/>
        </p:nvSpPr>
        <p:spPr>
          <a:xfrm>
            <a:off x="10344150" y="2552700"/>
            <a:ext cx="11239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19" name="shape-17">
            <a:extLst>
              <a:ext uri="{FF2B5EF4-FFF2-40B4-BE49-F238E27FC236}">
                <a16:creationId xmlns:a16="http://schemas.microsoft.com/office/drawing/2014/main" id="{EEDC5CB9-1E2A-4537-A75E-7BE5EDA6A8C1}"/>
              </a:ext>
            </a:extLst>
          </p:cNvPr>
          <p:cNvSpPr>
            <a:spLocks noGrp="1"/>
          </p:cNvSpPr>
          <p:nvPr/>
        </p:nvSpPr>
        <p:spPr>
          <a:xfrm>
            <a:off x="609600" y="2886075"/>
            <a:ext cx="10972800" cy="447675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-18">
            <a:extLst>
              <a:ext uri="{FF2B5EF4-FFF2-40B4-BE49-F238E27FC236}">
                <a16:creationId xmlns:a16="http://schemas.microsoft.com/office/drawing/2014/main" id="{9DBB030F-7FA4-46D3-B22E-E2353C8979E6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32D17B08-AED7-481A-9684-A853A3DC78F6}"/>
              </a:ext>
            </a:extLst>
          </p:cNvPr>
          <p:cNvSpPr>
            <a:spLocks noGrp="1"/>
          </p:cNvSpPr>
          <p:nvPr/>
        </p:nvSpPr>
        <p:spPr>
          <a:xfrm>
            <a:off x="723900" y="3000375"/>
            <a:ext cx="4953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B2</a:t>
            </a:r>
          </a:p>
        </p:txBody>
      </p:sp>
      <p:sp>
        <p:nvSpPr>
          <p:cNvPr id="22" name="text-20">
            <a:extLst>
              <a:ext uri="{FF2B5EF4-FFF2-40B4-BE49-F238E27FC236}">
                <a16:creationId xmlns:a16="http://schemas.microsoft.com/office/drawing/2014/main" id="{DE212458-55DF-414A-96BB-EC7C64288853}"/>
              </a:ext>
            </a:extLst>
          </p:cNvPr>
          <p:cNvSpPr>
            <a:spLocks noGrp="1"/>
          </p:cNvSpPr>
          <p:nvPr/>
        </p:nvSpPr>
        <p:spPr>
          <a:xfrm>
            <a:off x="1447800" y="3000375"/>
            <a:ext cx="39624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最小緩和曲線長</a:t>
            </a:r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B1755879-0CBE-4B67-AA72-2CB0D58D1A5B}"/>
              </a:ext>
            </a:extLst>
          </p:cNvPr>
          <p:cNvSpPr>
            <a:spLocks noGrp="1"/>
          </p:cNvSpPr>
          <p:nvPr/>
        </p:nvSpPr>
        <p:spPr>
          <a:xfrm>
            <a:off x="5638800" y="3000375"/>
            <a:ext cx="44767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Aに対応するLの最小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738C1B5D-56E3-4A5B-8134-3438FBC0CB3B}"/>
              </a:ext>
            </a:extLst>
          </p:cNvPr>
          <p:cNvSpPr>
            <a:spLocks noGrp="1"/>
          </p:cNvSpPr>
          <p:nvPr/>
        </p:nvSpPr>
        <p:spPr>
          <a:xfrm>
            <a:off x="10344150" y="3000375"/>
            <a:ext cx="11239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25" name="shape-23">
            <a:extLst>
              <a:ext uri="{FF2B5EF4-FFF2-40B4-BE49-F238E27FC236}">
                <a16:creationId xmlns:a16="http://schemas.microsoft.com/office/drawing/2014/main" id="{581B84FF-A278-4FE1-99AA-A94F34766ADB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18084E1E-B274-4723-A9F7-3DFE9A455CC1}"/>
              </a:ext>
            </a:extLst>
          </p:cNvPr>
          <p:cNvSpPr>
            <a:spLocks noGrp="1"/>
          </p:cNvSpPr>
          <p:nvPr/>
        </p:nvSpPr>
        <p:spPr>
          <a:xfrm>
            <a:off x="723900" y="3448050"/>
            <a:ext cx="4953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B3</a:t>
            </a:r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4F88DA5A-EB2D-4DEC-907E-571313F7AB90}"/>
              </a:ext>
            </a:extLst>
          </p:cNvPr>
          <p:cNvSpPr>
            <a:spLocks noGrp="1"/>
          </p:cNvSpPr>
          <p:nvPr/>
        </p:nvSpPr>
        <p:spPr>
          <a:xfrm>
            <a:off x="1447800" y="3448050"/>
            <a:ext cx="39624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緩和曲線を省略出来る曲線半径</a:t>
            </a: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01CD7BFA-AF04-4B6C-8112-5D57C8C4B2DC}"/>
              </a:ext>
            </a:extLst>
          </p:cNvPr>
          <p:cNvSpPr>
            <a:spLocks noGrp="1"/>
          </p:cNvSpPr>
          <p:nvPr/>
        </p:nvSpPr>
        <p:spPr>
          <a:xfrm>
            <a:off x="5638800" y="3448050"/>
            <a:ext cx="44767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直前・直後の非R位置にAがないRの最小</a:t>
            </a:r>
          </a:p>
        </p:txBody>
      </p:sp>
      <p:sp>
        <p:nvSpPr>
          <p:cNvPr id="29" name="text-27">
            <a:extLst>
              <a:ext uri="{FF2B5EF4-FFF2-40B4-BE49-F238E27FC236}">
                <a16:creationId xmlns:a16="http://schemas.microsoft.com/office/drawing/2014/main" id="{648687EB-342E-424A-A34A-13351A5F4317}"/>
              </a:ext>
            </a:extLst>
          </p:cNvPr>
          <p:cNvSpPr>
            <a:spLocks noGrp="1"/>
          </p:cNvSpPr>
          <p:nvPr/>
        </p:nvSpPr>
        <p:spPr>
          <a:xfrm>
            <a:off x="10344150" y="3448050"/>
            <a:ext cx="11239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30" name="shape-28">
            <a:extLst>
              <a:ext uri="{FF2B5EF4-FFF2-40B4-BE49-F238E27FC236}">
                <a16:creationId xmlns:a16="http://schemas.microsoft.com/office/drawing/2014/main" id="{33E84FB5-77D5-45E8-8AA3-643719D863EE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10972800" cy="447675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-29">
            <a:extLst>
              <a:ext uri="{FF2B5EF4-FFF2-40B4-BE49-F238E27FC236}">
                <a16:creationId xmlns:a16="http://schemas.microsoft.com/office/drawing/2014/main" id="{97046C8E-D6DA-4345-A858-8064795151B8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98313415-41FD-4823-97BF-1B1C7B6C8541}"/>
              </a:ext>
            </a:extLst>
          </p:cNvPr>
          <p:cNvSpPr>
            <a:spLocks noGrp="1"/>
          </p:cNvSpPr>
          <p:nvPr/>
        </p:nvSpPr>
        <p:spPr>
          <a:xfrm>
            <a:off x="723900" y="3895725"/>
            <a:ext cx="4953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B4</a:t>
            </a:r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4EA2360D-1559-4049-9DF4-4434A850FAE8}"/>
              </a:ext>
            </a:extLst>
          </p:cNvPr>
          <p:cNvSpPr>
            <a:spLocks noGrp="1"/>
          </p:cNvSpPr>
          <p:nvPr/>
        </p:nvSpPr>
        <p:spPr>
          <a:xfrm>
            <a:off x="1447800" y="3895725"/>
            <a:ext cx="39624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最小曲線長（80km/h未満）</a:t>
            </a:r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51736F09-4084-4823-AEE8-D89E712E22E9}"/>
              </a:ext>
            </a:extLst>
          </p:cNvPr>
          <p:cNvSpPr>
            <a:spLocks noGrp="1"/>
          </p:cNvSpPr>
          <p:nvPr/>
        </p:nvSpPr>
        <p:spPr>
          <a:xfrm>
            <a:off x="5638800" y="3895725"/>
            <a:ext cx="44767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R比2の条件などで候補を作り最小</a:t>
            </a:r>
          </a:p>
        </p:txBody>
      </p:sp>
      <p:sp>
        <p:nvSpPr>
          <p:cNvPr id="35" name="text-33">
            <a:extLst>
              <a:ext uri="{FF2B5EF4-FFF2-40B4-BE49-F238E27FC236}">
                <a16:creationId xmlns:a16="http://schemas.microsoft.com/office/drawing/2014/main" id="{E4E06BB1-E4F6-456F-B9FE-D68DFABA1AE5}"/>
              </a:ext>
            </a:extLst>
          </p:cNvPr>
          <p:cNvSpPr>
            <a:spLocks noGrp="1"/>
          </p:cNvSpPr>
          <p:nvPr/>
        </p:nvSpPr>
        <p:spPr>
          <a:xfrm>
            <a:off x="10344150" y="3895725"/>
            <a:ext cx="11239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36" name="shape-34">
            <a:extLst>
              <a:ext uri="{FF2B5EF4-FFF2-40B4-BE49-F238E27FC236}">
                <a16:creationId xmlns:a16="http://schemas.microsoft.com/office/drawing/2014/main" id="{30CEE173-722E-4200-A33D-4063215D910C}"/>
              </a:ext>
            </a:extLst>
          </p:cNvPr>
          <p:cNvSpPr>
            <a:spLocks noGrp="1"/>
          </p:cNvSpPr>
          <p:nvPr/>
        </p:nvSpPr>
        <p:spPr>
          <a:xfrm>
            <a:off x="609600" y="467677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-35">
            <a:extLst>
              <a:ext uri="{FF2B5EF4-FFF2-40B4-BE49-F238E27FC236}">
                <a16:creationId xmlns:a16="http://schemas.microsoft.com/office/drawing/2014/main" id="{916CD7B8-82EF-4011-B4E9-A9C987B136CC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4953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B5</a:t>
            </a:r>
          </a:p>
        </p:txBody>
      </p:sp>
      <p:sp>
        <p:nvSpPr>
          <p:cNvPr id="38" name="text-36">
            <a:extLst>
              <a:ext uri="{FF2B5EF4-FFF2-40B4-BE49-F238E27FC236}">
                <a16:creationId xmlns:a16="http://schemas.microsoft.com/office/drawing/2014/main" id="{0068C21F-B1B3-45B5-AE2E-89FCDE3B1EBC}"/>
              </a:ext>
            </a:extLst>
          </p:cNvPr>
          <p:cNvSpPr>
            <a:spLocks noGrp="1"/>
          </p:cNvSpPr>
          <p:nvPr/>
        </p:nvSpPr>
        <p:spPr>
          <a:xfrm>
            <a:off x="1447800" y="4343400"/>
            <a:ext cx="39624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最小曲線長（80km/h以上）</a:t>
            </a:r>
          </a:p>
        </p:txBody>
      </p:sp>
      <p:sp>
        <p:nvSpPr>
          <p:cNvPr id="39" name="text-37">
            <a:extLst>
              <a:ext uri="{FF2B5EF4-FFF2-40B4-BE49-F238E27FC236}">
                <a16:creationId xmlns:a16="http://schemas.microsoft.com/office/drawing/2014/main" id="{53BA72D4-6419-434C-A95B-F915661FF219}"/>
              </a:ext>
            </a:extLst>
          </p:cNvPr>
          <p:cNvSpPr>
            <a:spLocks noGrp="1"/>
          </p:cNvSpPr>
          <p:nvPr/>
        </p:nvSpPr>
        <p:spPr>
          <a:xfrm>
            <a:off x="5638800" y="4343400"/>
            <a:ext cx="44767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R比1.5の条件などで候補を作り最小</a:t>
            </a:r>
          </a:p>
        </p:txBody>
      </p:sp>
      <p:sp>
        <p:nvSpPr>
          <p:cNvPr id="40" name="text-38">
            <a:extLst>
              <a:ext uri="{FF2B5EF4-FFF2-40B4-BE49-F238E27FC236}">
                <a16:creationId xmlns:a16="http://schemas.microsoft.com/office/drawing/2014/main" id="{6D17E0B0-0F9F-43F2-A2F8-677B4511565A}"/>
              </a:ext>
            </a:extLst>
          </p:cNvPr>
          <p:cNvSpPr>
            <a:spLocks noGrp="1"/>
          </p:cNvSpPr>
          <p:nvPr/>
        </p:nvSpPr>
        <p:spPr>
          <a:xfrm>
            <a:off x="10344150" y="4343400"/>
            <a:ext cx="11239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41" name="shape-39">
            <a:extLst>
              <a:ext uri="{FF2B5EF4-FFF2-40B4-BE49-F238E27FC236}">
                <a16:creationId xmlns:a16="http://schemas.microsoft.com/office/drawing/2014/main" id="{D2CBB854-9892-45DA-81A2-396F99C579F0}"/>
              </a:ext>
            </a:extLst>
          </p:cNvPr>
          <p:cNvSpPr>
            <a:spLocks noGrp="1"/>
          </p:cNvSpPr>
          <p:nvPr/>
        </p:nvSpPr>
        <p:spPr>
          <a:xfrm>
            <a:off x="609600" y="4676775"/>
            <a:ext cx="10972800" cy="447675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-40">
            <a:extLst>
              <a:ext uri="{FF2B5EF4-FFF2-40B4-BE49-F238E27FC236}">
                <a16:creationId xmlns:a16="http://schemas.microsoft.com/office/drawing/2014/main" id="{39391B00-70C9-4157-ADB5-781CA6365588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-41">
            <a:extLst>
              <a:ext uri="{FF2B5EF4-FFF2-40B4-BE49-F238E27FC236}">
                <a16:creationId xmlns:a16="http://schemas.microsoft.com/office/drawing/2014/main" id="{1EF6C20A-374A-4B2F-9D6F-EA2FA034E8EF}"/>
              </a:ext>
            </a:extLst>
          </p:cNvPr>
          <p:cNvSpPr>
            <a:spLocks noGrp="1"/>
          </p:cNvSpPr>
          <p:nvPr/>
        </p:nvSpPr>
        <p:spPr>
          <a:xfrm>
            <a:off x="723900" y="4791075"/>
            <a:ext cx="4953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B6</a:t>
            </a:r>
          </a:p>
        </p:txBody>
      </p:sp>
      <p:sp>
        <p:nvSpPr>
          <p:cNvPr id="44" name="text-42">
            <a:extLst>
              <a:ext uri="{FF2B5EF4-FFF2-40B4-BE49-F238E27FC236}">
                <a16:creationId xmlns:a16="http://schemas.microsoft.com/office/drawing/2014/main" id="{2A97381B-47CD-4271-A4CE-4665A62E0F1B}"/>
              </a:ext>
            </a:extLst>
          </p:cNvPr>
          <p:cNvSpPr>
            <a:spLocks noGrp="1"/>
          </p:cNvSpPr>
          <p:nvPr/>
        </p:nvSpPr>
        <p:spPr>
          <a:xfrm>
            <a:off x="1447800" y="4791075"/>
            <a:ext cx="39624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片勾配打切半径</a:t>
            </a:r>
          </a:p>
        </p:txBody>
      </p:sp>
      <p:sp>
        <p:nvSpPr>
          <p:cNvPr id="45" name="text-43">
            <a:extLst>
              <a:ext uri="{FF2B5EF4-FFF2-40B4-BE49-F238E27FC236}">
                <a16:creationId xmlns:a16="http://schemas.microsoft.com/office/drawing/2014/main" id="{B51AFA3E-21AF-493B-B311-0BEE0D036670}"/>
              </a:ext>
            </a:extLst>
          </p:cNvPr>
          <p:cNvSpPr>
            <a:spLocks noGrp="1"/>
          </p:cNvSpPr>
          <p:nvPr/>
        </p:nvSpPr>
        <p:spPr>
          <a:xfrm>
            <a:off x="5638800" y="4791075"/>
            <a:ext cx="44767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取得処理なし</a:t>
            </a:r>
          </a:p>
        </p:txBody>
      </p:sp>
      <p:sp>
        <p:nvSpPr>
          <p:cNvPr id="46" name="text-44">
            <a:extLst>
              <a:ext uri="{FF2B5EF4-FFF2-40B4-BE49-F238E27FC236}">
                <a16:creationId xmlns:a16="http://schemas.microsoft.com/office/drawing/2014/main" id="{DE30AFFC-3970-495E-BCA0-45EAAEB812C1}"/>
              </a:ext>
            </a:extLst>
          </p:cNvPr>
          <p:cNvSpPr>
            <a:spLocks noGrp="1"/>
          </p:cNvSpPr>
          <p:nvPr/>
        </p:nvSpPr>
        <p:spPr>
          <a:xfrm>
            <a:off x="10344150" y="4791075"/>
            <a:ext cx="11239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「-」固定</a:t>
            </a:r>
          </a:p>
        </p:txBody>
      </p:sp>
      <p:sp>
        <p:nvSpPr>
          <p:cNvPr id="47" name="shape-45">
            <a:extLst>
              <a:ext uri="{FF2B5EF4-FFF2-40B4-BE49-F238E27FC236}">
                <a16:creationId xmlns:a16="http://schemas.microsoft.com/office/drawing/2014/main" id="{CFDCFBA8-FD34-4A49-9F75-F46DE9752162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-46">
            <a:extLst>
              <a:ext uri="{FF2B5EF4-FFF2-40B4-BE49-F238E27FC236}">
                <a16:creationId xmlns:a16="http://schemas.microsoft.com/office/drawing/2014/main" id="{C3ED76E8-D416-4CC2-ADD4-B187709865AA}"/>
              </a:ext>
            </a:extLst>
          </p:cNvPr>
          <p:cNvSpPr>
            <a:spLocks noGrp="1"/>
          </p:cNvSpPr>
          <p:nvPr/>
        </p:nvSpPr>
        <p:spPr>
          <a:xfrm>
            <a:off x="723900" y="5238750"/>
            <a:ext cx="4953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B7</a:t>
            </a:r>
          </a:p>
        </p:txBody>
      </p:sp>
      <p:sp>
        <p:nvSpPr>
          <p:cNvPr id="49" name="text-47">
            <a:extLst>
              <a:ext uri="{FF2B5EF4-FFF2-40B4-BE49-F238E27FC236}">
                <a16:creationId xmlns:a16="http://schemas.microsoft.com/office/drawing/2014/main" id="{D1B3F042-80BC-44D7-A53A-F9359B1A85F5}"/>
              </a:ext>
            </a:extLst>
          </p:cNvPr>
          <p:cNvSpPr>
            <a:spLocks noGrp="1"/>
          </p:cNvSpPr>
          <p:nvPr/>
        </p:nvSpPr>
        <p:spPr>
          <a:xfrm>
            <a:off x="1447800" y="5238750"/>
            <a:ext cx="39624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片勾配摺付率</a:t>
            </a:r>
          </a:p>
        </p:txBody>
      </p:sp>
      <p:sp>
        <p:nvSpPr>
          <p:cNvPr id="50" name="text-48">
            <a:extLst>
              <a:ext uri="{FF2B5EF4-FFF2-40B4-BE49-F238E27FC236}">
                <a16:creationId xmlns:a16="http://schemas.microsoft.com/office/drawing/2014/main" id="{1E30262A-AA07-42E9-89DF-F55D9837FA70}"/>
              </a:ext>
            </a:extLst>
          </p:cNvPr>
          <p:cNvSpPr>
            <a:spLocks noGrp="1"/>
          </p:cNvSpPr>
          <p:nvPr/>
        </p:nvSpPr>
        <p:spPr>
          <a:xfrm>
            <a:off x="5638800" y="5238750"/>
            <a:ext cx="44767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帯内の分数を数値比較し最大</a:t>
            </a:r>
          </a:p>
        </p:txBody>
      </p:sp>
      <p:sp>
        <p:nvSpPr>
          <p:cNvPr id="51" name="text-49">
            <a:extLst>
              <a:ext uri="{FF2B5EF4-FFF2-40B4-BE49-F238E27FC236}">
                <a16:creationId xmlns:a16="http://schemas.microsoft.com/office/drawing/2014/main" id="{00277618-DBA9-44C3-A60D-D38885071208}"/>
              </a:ext>
            </a:extLst>
          </p:cNvPr>
          <p:cNvSpPr>
            <a:spLocks noGrp="1"/>
          </p:cNvSpPr>
          <p:nvPr/>
        </p:nvSpPr>
        <p:spPr>
          <a:xfrm>
            <a:off x="10344150" y="5238750"/>
            <a:ext cx="11239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52" name="shape-50">
            <a:extLst>
              <a:ext uri="{FF2B5EF4-FFF2-40B4-BE49-F238E27FC236}">
                <a16:creationId xmlns:a16="http://schemas.microsoft.com/office/drawing/2014/main" id="{F3DF58A7-72D2-4A49-A4A7-A5E3971DCF96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47675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-51">
            <a:extLst>
              <a:ext uri="{FF2B5EF4-FFF2-40B4-BE49-F238E27FC236}">
                <a16:creationId xmlns:a16="http://schemas.microsoft.com/office/drawing/2014/main" id="{E66CD644-4ABD-4621-BA48-C84764769EDF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-52">
            <a:extLst>
              <a:ext uri="{FF2B5EF4-FFF2-40B4-BE49-F238E27FC236}">
                <a16:creationId xmlns:a16="http://schemas.microsoft.com/office/drawing/2014/main" id="{E549FC0A-9534-41F7-BCAE-9BC9C1A09100}"/>
              </a:ext>
            </a:extLst>
          </p:cNvPr>
          <p:cNvSpPr>
            <a:spLocks noGrp="1"/>
          </p:cNvSpPr>
          <p:nvPr/>
        </p:nvSpPr>
        <p:spPr>
          <a:xfrm>
            <a:off x="723900" y="5686425"/>
            <a:ext cx="4953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B8</a:t>
            </a:r>
          </a:p>
        </p:txBody>
      </p:sp>
      <p:sp>
        <p:nvSpPr>
          <p:cNvPr id="55" name="text-53">
            <a:extLst>
              <a:ext uri="{FF2B5EF4-FFF2-40B4-BE49-F238E27FC236}">
                <a16:creationId xmlns:a16="http://schemas.microsoft.com/office/drawing/2014/main" id="{CDAC0B32-FD99-4588-BB7A-07B3EEF1C92C}"/>
              </a:ext>
            </a:extLst>
          </p:cNvPr>
          <p:cNvSpPr>
            <a:spLocks noGrp="1"/>
          </p:cNvSpPr>
          <p:nvPr/>
        </p:nvSpPr>
        <p:spPr>
          <a:xfrm>
            <a:off x="1447800" y="5686425"/>
            <a:ext cx="396240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最急縦断勾配</a:t>
            </a:r>
          </a:p>
        </p:txBody>
      </p:sp>
      <p:sp>
        <p:nvSpPr>
          <p:cNvPr id="56" name="text-54">
            <a:extLst>
              <a:ext uri="{FF2B5EF4-FFF2-40B4-BE49-F238E27FC236}">
                <a16:creationId xmlns:a16="http://schemas.microsoft.com/office/drawing/2014/main" id="{F3C60314-15F7-4F53-8AE9-72DEC3112700}"/>
              </a:ext>
            </a:extLst>
          </p:cNvPr>
          <p:cNvSpPr>
            <a:spLocks noGrp="1"/>
          </p:cNvSpPr>
          <p:nvPr/>
        </p:nvSpPr>
        <p:spPr>
          <a:xfrm>
            <a:off x="5638800" y="5686425"/>
            <a:ext cx="44767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i=/I=を数値化し符号付き最大</a:t>
            </a:r>
          </a:p>
        </p:txBody>
      </p:sp>
      <p:sp>
        <p:nvSpPr>
          <p:cNvPr id="57" name="text-55">
            <a:extLst>
              <a:ext uri="{FF2B5EF4-FFF2-40B4-BE49-F238E27FC236}">
                <a16:creationId xmlns:a16="http://schemas.microsoft.com/office/drawing/2014/main" id="{29325F7A-02E1-4954-9321-4098E3A8E5F8}"/>
              </a:ext>
            </a:extLst>
          </p:cNvPr>
          <p:cNvSpPr>
            <a:spLocks noGrp="1"/>
          </p:cNvSpPr>
          <p:nvPr/>
        </p:nvSpPr>
        <p:spPr>
          <a:xfrm>
            <a:off x="10344150" y="5686425"/>
            <a:ext cx="1123950" cy="2190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58" name="text-56">
            <a:extLst>
              <a:ext uri="{FF2B5EF4-FFF2-40B4-BE49-F238E27FC236}">
                <a16:creationId xmlns:a16="http://schemas.microsoft.com/office/drawing/2014/main" id="{73BA58FF-29D4-40E7-9940-8D00887C3E4A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9728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2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抽出欄にも「-」が入る場合があります。B4・B5の複合曲線に関する制約は18ページ参照。</a:t>
            </a:r>
          </a:p>
        </p:txBody>
      </p:sp>
      <p:sp>
        <p:nvSpPr>
          <p:cNvPr id="60" name="shape-3">
            <a:extLst>
              <a:ext uri="{FF2B5EF4-FFF2-40B4-BE49-F238E27FC236}">
                <a16:creationId xmlns:a16="http://schemas.microsoft.com/office/drawing/2014/main" id="{69F75260-DC4C-A547-C7E7-5AAC96EFAE8A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31957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kicker-marker">
            <a:extLst>
              <a:ext uri="{FF2B5EF4-FFF2-40B4-BE49-F238E27FC236}">
                <a16:creationId xmlns:a16="http://schemas.microsoft.com/office/drawing/2014/main" id="{5D7AC3DC-31F5-4817-94D2-BCD54008DE14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9ADC66AB-30F2-4948-BA4B-F412F575E989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</a:t>
            </a:r>
            <a:r>
              <a:rPr lang="en-US" sz="10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</a:t>
            </a:r>
            <a:r>
              <a:rPr sz="10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  APPENDIX / MAPPING 2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B415AE99-7049-4D42-92A9-F96712032797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付録：15欄の取得元と採用規則 ②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C7310054-58F5-4CBE-BCE0-5D65998E020F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B9〜B15。固定の「-」は、今回の実装で値を取得しない欄です。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E980E9A4-BC3B-4192-84BF-3F800D00E2BC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B6・B9・B10・B14・B15は取得処理がありません。必要な値は評価者が確認して補います。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3C4F4562-C75C-4244-B81B-A227E431CC8E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 dirty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2</a:t>
            </a:r>
            <a:r>
              <a:rPr lang="en-US" sz="900" b="0" dirty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2</a:t>
            </a:r>
            <a:endParaRPr sz="900" b="0" dirty="0">
              <a:solidFill>
                <a:srgbClr val="70777A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81EBABC5-4C89-4F99-94D1-DACD3E0A14DC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10972800" cy="47625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7D0711C0-8AEF-42F6-B59D-79B13859B4D7}"/>
              </a:ext>
            </a:extLst>
          </p:cNvPr>
          <p:cNvSpPr>
            <a:spLocks noGrp="1"/>
          </p:cNvSpPr>
          <p:nvPr/>
        </p:nvSpPr>
        <p:spPr>
          <a:xfrm>
            <a:off x="723900" y="2162175"/>
            <a:ext cx="4953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セル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EFB1A914-2AB3-4768-A888-01B202D5D0B2}"/>
              </a:ext>
            </a:extLst>
          </p:cNvPr>
          <p:cNvSpPr>
            <a:spLocks noGrp="1"/>
          </p:cNvSpPr>
          <p:nvPr/>
        </p:nvSpPr>
        <p:spPr>
          <a:xfrm>
            <a:off x="1447800" y="2162175"/>
            <a:ext cx="39624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帳票項目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67E99AF0-D321-480C-B195-FB81F0D53984}"/>
              </a:ext>
            </a:extLst>
          </p:cNvPr>
          <p:cNvSpPr>
            <a:spLocks noGrp="1"/>
          </p:cNvSpPr>
          <p:nvPr/>
        </p:nvSpPr>
        <p:spPr>
          <a:xfrm>
            <a:off x="5638800" y="2162175"/>
            <a:ext cx="44767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取得元・採用規則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E7EF3825-7FE6-4BD6-80F2-4F53008DB47F}"/>
              </a:ext>
            </a:extLst>
          </p:cNvPr>
          <p:cNvSpPr>
            <a:spLocks noGrp="1"/>
          </p:cNvSpPr>
          <p:nvPr/>
        </p:nvSpPr>
        <p:spPr>
          <a:xfrm>
            <a:off x="10344150" y="216217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状態</a:t>
            </a:r>
          </a:p>
        </p:txBody>
      </p:sp>
      <p:sp>
        <p:nvSpPr>
          <p:cNvPr id="14" name="shape-12">
            <a:extLst>
              <a:ext uri="{FF2B5EF4-FFF2-40B4-BE49-F238E27FC236}">
                <a16:creationId xmlns:a16="http://schemas.microsoft.com/office/drawing/2014/main" id="{8E2E3919-02E4-400E-A9B1-44A2F7F03A8B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B72A9F0B-AEC7-4AAF-94AB-DDD8AD613AA2}"/>
              </a:ext>
            </a:extLst>
          </p:cNvPr>
          <p:cNvSpPr>
            <a:spLocks noGrp="1"/>
          </p:cNvSpPr>
          <p:nvPr/>
        </p:nvSpPr>
        <p:spPr>
          <a:xfrm>
            <a:off x="723900" y="2638425"/>
            <a:ext cx="4953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B9</a:t>
            </a:r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98CA2A95-7C65-4CFB-BB6F-D7B9E827CDD7}"/>
              </a:ext>
            </a:extLst>
          </p:cNvPr>
          <p:cNvSpPr>
            <a:spLocks noGrp="1"/>
          </p:cNvSpPr>
          <p:nvPr/>
        </p:nvSpPr>
        <p:spPr>
          <a:xfrm>
            <a:off x="1447800" y="2638425"/>
            <a:ext cx="39624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特例縦断勾配の制限長（%）</a:t>
            </a:r>
          </a:p>
        </p:txBody>
      </p:sp>
      <p:sp>
        <p:nvSpPr>
          <p:cNvPr id="17" name="text-15">
            <a:extLst>
              <a:ext uri="{FF2B5EF4-FFF2-40B4-BE49-F238E27FC236}">
                <a16:creationId xmlns:a16="http://schemas.microsoft.com/office/drawing/2014/main" id="{DE872427-879A-4C23-9212-6FE1005F3FC4}"/>
              </a:ext>
            </a:extLst>
          </p:cNvPr>
          <p:cNvSpPr>
            <a:spLocks noGrp="1"/>
          </p:cNvSpPr>
          <p:nvPr/>
        </p:nvSpPr>
        <p:spPr>
          <a:xfrm>
            <a:off x="5638800" y="2638425"/>
            <a:ext cx="44767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取得処理なし</a:t>
            </a:r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57E6F367-4EF3-49B4-B908-B00E0E0D4758}"/>
              </a:ext>
            </a:extLst>
          </p:cNvPr>
          <p:cNvSpPr>
            <a:spLocks noGrp="1"/>
          </p:cNvSpPr>
          <p:nvPr/>
        </p:nvSpPr>
        <p:spPr>
          <a:xfrm>
            <a:off x="10344150" y="263842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「-」固定</a:t>
            </a:r>
          </a:p>
        </p:txBody>
      </p:sp>
      <p:sp>
        <p:nvSpPr>
          <p:cNvPr id="19" name="shape-17">
            <a:extLst>
              <a:ext uri="{FF2B5EF4-FFF2-40B4-BE49-F238E27FC236}">
                <a16:creationId xmlns:a16="http://schemas.microsoft.com/office/drawing/2014/main" id="{FA1DBD54-2113-44E2-A419-2EE08B1CA4DC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10972800" cy="4762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-18">
            <a:extLst>
              <a:ext uri="{FF2B5EF4-FFF2-40B4-BE49-F238E27FC236}">
                <a16:creationId xmlns:a16="http://schemas.microsoft.com/office/drawing/2014/main" id="{BF584FBB-541E-40B6-815B-71E3BCE76465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7EE6FE7D-EE11-41DA-B805-C403BDC545C7}"/>
              </a:ext>
            </a:extLst>
          </p:cNvPr>
          <p:cNvSpPr>
            <a:spLocks noGrp="1"/>
          </p:cNvSpPr>
          <p:nvPr/>
        </p:nvSpPr>
        <p:spPr>
          <a:xfrm>
            <a:off x="723900" y="3114675"/>
            <a:ext cx="4953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B10</a:t>
            </a:r>
          </a:p>
        </p:txBody>
      </p:sp>
      <p:sp>
        <p:nvSpPr>
          <p:cNvPr id="22" name="text-20">
            <a:extLst>
              <a:ext uri="{FF2B5EF4-FFF2-40B4-BE49-F238E27FC236}">
                <a16:creationId xmlns:a16="http://schemas.microsoft.com/office/drawing/2014/main" id="{9D5EC18C-2F47-479E-8B16-F4E3B6FF836A}"/>
              </a:ext>
            </a:extLst>
          </p:cNvPr>
          <p:cNvSpPr>
            <a:spLocks noGrp="1"/>
          </p:cNvSpPr>
          <p:nvPr/>
        </p:nvSpPr>
        <p:spPr>
          <a:xfrm>
            <a:off x="1447800" y="3114675"/>
            <a:ext cx="39624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特例縦断勾配の制限長（m）</a:t>
            </a:r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73F20758-3593-4CC5-897A-712CFFFC4F22}"/>
              </a:ext>
            </a:extLst>
          </p:cNvPr>
          <p:cNvSpPr>
            <a:spLocks noGrp="1"/>
          </p:cNvSpPr>
          <p:nvPr/>
        </p:nvSpPr>
        <p:spPr>
          <a:xfrm>
            <a:off x="5638800" y="3114675"/>
            <a:ext cx="44767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取得処理なし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BF26F0CD-DC10-4F6C-91B8-68000D69E5FA}"/>
              </a:ext>
            </a:extLst>
          </p:cNvPr>
          <p:cNvSpPr>
            <a:spLocks noGrp="1"/>
          </p:cNvSpPr>
          <p:nvPr/>
        </p:nvSpPr>
        <p:spPr>
          <a:xfrm>
            <a:off x="10344150" y="311467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「-」固定</a:t>
            </a:r>
          </a:p>
        </p:txBody>
      </p:sp>
      <p:sp>
        <p:nvSpPr>
          <p:cNvPr id="25" name="shape-23">
            <a:extLst>
              <a:ext uri="{FF2B5EF4-FFF2-40B4-BE49-F238E27FC236}">
                <a16:creationId xmlns:a16="http://schemas.microsoft.com/office/drawing/2014/main" id="{D72C03EA-1A48-4F24-A732-E2CD20B508CD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765B8E6A-C7CF-44DC-93C6-7B01DA80F0CC}"/>
              </a:ext>
            </a:extLst>
          </p:cNvPr>
          <p:cNvSpPr>
            <a:spLocks noGrp="1"/>
          </p:cNvSpPr>
          <p:nvPr/>
        </p:nvSpPr>
        <p:spPr>
          <a:xfrm>
            <a:off x="723900" y="3590925"/>
            <a:ext cx="4953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B11</a:t>
            </a:r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05D013E0-E55E-442E-BC27-B139C4C2BA99}"/>
              </a:ext>
            </a:extLst>
          </p:cNvPr>
          <p:cNvSpPr>
            <a:spLocks noGrp="1"/>
          </p:cNvSpPr>
          <p:nvPr/>
        </p:nvSpPr>
        <p:spPr>
          <a:xfrm>
            <a:off x="1447800" y="3590925"/>
            <a:ext cx="39624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縦断曲線半径（凸曲線）</a:t>
            </a: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7B33CC77-3C48-485E-8356-252744314B54}"/>
              </a:ext>
            </a:extLst>
          </p:cNvPr>
          <p:cNvSpPr>
            <a:spLocks noGrp="1"/>
          </p:cNvSpPr>
          <p:nvPr/>
        </p:nvSpPr>
        <p:spPr>
          <a:xfrm>
            <a:off x="5638800" y="3590925"/>
            <a:ext cx="44767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左右勾配で凸に分類した半径の最小</a:t>
            </a:r>
          </a:p>
        </p:txBody>
      </p:sp>
      <p:sp>
        <p:nvSpPr>
          <p:cNvPr id="29" name="text-27">
            <a:extLst>
              <a:ext uri="{FF2B5EF4-FFF2-40B4-BE49-F238E27FC236}">
                <a16:creationId xmlns:a16="http://schemas.microsoft.com/office/drawing/2014/main" id="{388F3EDD-740F-4E49-87B7-5C9009C46EF9}"/>
              </a:ext>
            </a:extLst>
          </p:cNvPr>
          <p:cNvSpPr>
            <a:spLocks noGrp="1"/>
          </p:cNvSpPr>
          <p:nvPr/>
        </p:nvSpPr>
        <p:spPr>
          <a:xfrm>
            <a:off x="10344150" y="359092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30" name="shape-28">
            <a:extLst>
              <a:ext uri="{FF2B5EF4-FFF2-40B4-BE49-F238E27FC236}">
                <a16:creationId xmlns:a16="http://schemas.microsoft.com/office/drawing/2014/main" id="{689FB623-8393-4309-B1CA-7839A4D66F55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10972800" cy="4762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-29">
            <a:extLst>
              <a:ext uri="{FF2B5EF4-FFF2-40B4-BE49-F238E27FC236}">
                <a16:creationId xmlns:a16="http://schemas.microsoft.com/office/drawing/2014/main" id="{1BF17C31-385F-43CA-99EF-AB3E31C93447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57C0FF2E-0EEC-4199-BCF7-E772CCFD49D3}"/>
              </a:ext>
            </a:extLst>
          </p:cNvPr>
          <p:cNvSpPr>
            <a:spLocks noGrp="1"/>
          </p:cNvSpPr>
          <p:nvPr/>
        </p:nvSpPr>
        <p:spPr>
          <a:xfrm>
            <a:off x="723900" y="4067175"/>
            <a:ext cx="4953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B12</a:t>
            </a:r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614494EF-631C-444A-B87E-B355EE8B9FF7}"/>
              </a:ext>
            </a:extLst>
          </p:cNvPr>
          <p:cNvSpPr>
            <a:spLocks noGrp="1"/>
          </p:cNvSpPr>
          <p:nvPr/>
        </p:nvSpPr>
        <p:spPr>
          <a:xfrm>
            <a:off x="1447800" y="4067175"/>
            <a:ext cx="39624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縦断曲線半径（凹曲線）</a:t>
            </a:r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ECA1ADFC-559E-4789-9C68-86F8E0ACF2ED}"/>
              </a:ext>
            </a:extLst>
          </p:cNvPr>
          <p:cNvSpPr>
            <a:spLocks noGrp="1"/>
          </p:cNvSpPr>
          <p:nvPr/>
        </p:nvSpPr>
        <p:spPr>
          <a:xfrm>
            <a:off x="5638800" y="4067175"/>
            <a:ext cx="44767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左右勾配で凹に分類した半径の最小</a:t>
            </a:r>
          </a:p>
        </p:txBody>
      </p:sp>
      <p:sp>
        <p:nvSpPr>
          <p:cNvPr id="35" name="text-33">
            <a:extLst>
              <a:ext uri="{FF2B5EF4-FFF2-40B4-BE49-F238E27FC236}">
                <a16:creationId xmlns:a16="http://schemas.microsoft.com/office/drawing/2014/main" id="{C872DFCA-42FF-47A0-B40C-E4E5F56BCEF1}"/>
              </a:ext>
            </a:extLst>
          </p:cNvPr>
          <p:cNvSpPr>
            <a:spLocks noGrp="1"/>
          </p:cNvSpPr>
          <p:nvPr/>
        </p:nvSpPr>
        <p:spPr>
          <a:xfrm>
            <a:off x="10344150" y="406717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36" name="shape-34">
            <a:extLst>
              <a:ext uri="{FF2B5EF4-FFF2-40B4-BE49-F238E27FC236}">
                <a16:creationId xmlns:a16="http://schemas.microsoft.com/office/drawing/2014/main" id="{7F5BE6AC-DE66-4360-9F8E-37391E9905FA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-35">
            <a:extLst>
              <a:ext uri="{FF2B5EF4-FFF2-40B4-BE49-F238E27FC236}">
                <a16:creationId xmlns:a16="http://schemas.microsoft.com/office/drawing/2014/main" id="{4576462D-C0C6-46FB-B8E5-3090C11E82D0}"/>
              </a:ext>
            </a:extLst>
          </p:cNvPr>
          <p:cNvSpPr>
            <a:spLocks noGrp="1"/>
          </p:cNvSpPr>
          <p:nvPr/>
        </p:nvSpPr>
        <p:spPr>
          <a:xfrm>
            <a:off x="723900" y="4543425"/>
            <a:ext cx="4953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B13</a:t>
            </a:r>
          </a:p>
        </p:txBody>
      </p:sp>
      <p:sp>
        <p:nvSpPr>
          <p:cNvPr id="38" name="text-36">
            <a:extLst>
              <a:ext uri="{FF2B5EF4-FFF2-40B4-BE49-F238E27FC236}">
                <a16:creationId xmlns:a16="http://schemas.microsoft.com/office/drawing/2014/main" id="{56A2D95B-BB70-4FFC-9111-C2A0595A5C82}"/>
              </a:ext>
            </a:extLst>
          </p:cNvPr>
          <p:cNvSpPr>
            <a:spLocks noGrp="1"/>
          </p:cNvSpPr>
          <p:nvPr/>
        </p:nvSpPr>
        <p:spPr>
          <a:xfrm>
            <a:off x="1447800" y="4543425"/>
            <a:ext cx="39624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縦断曲線長</a:t>
            </a:r>
          </a:p>
        </p:txBody>
      </p:sp>
      <p:sp>
        <p:nvSpPr>
          <p:cNvPr id="39" name="text-37">
            <a:extLst>
              <a:ext uri="{FF2B5EF4-FFF2-40B4-BE49-F238E27FC236}">
                <a16:creationId xmlns:a16="http://schemas.microsoft.com/office/drawing/2014/main" id="{A66E88E4-8A99-4114-853B-D5A0EFCD99AF}"/>
              </a:ext>
            </a:extLst>
          </p:cNvPr>
          <p:cNvSpPr>
            <a:spLocks noGrp="1"/>
          </p:cNvSpPr>
          <p:nvPr/>
        </p:nvSpPr>
        <p:spPr>
          <a:xfrm>
            <a:off x="5638800" y="4543425"/>
            <a:ext cx="44767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指定DSTRレイヤーのVCL最小</a:t>
            </a:r>
          </a:p>
        </p:txBody>
      </p:sp>
      <p:sp>
        <p:nvSpPr>
          <p:cNvPr id="40" name="text-38">
            <a:extLst>
              <a:ext uri="{FF2B5EF4-FFF2-40B4-BE49-F238E27FC236}">
                <a16:creationId xmlns:a16="http://schemas.microsoft.com/office/drawing/2014/main" id="{50B0E486-807A-48FF-A94E-B853BFAEA3FB}"/>
              </a:ext>
            </a:extLst>
          </p:cNvPr>
          <p:cNvSpPr>
            <a:spLocks noGrp="1"/>
          </p:cNvSpPr>
          <p:nvPr/>
        </p:nvSpPr>
        <p:spPr>
          <a:xfrm>
            <a:off x="10344150" y="454342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抽出</a:t>
            </a:r>
          </a:p>
        </p:txBody>
      </p:sp>
      <p:sp>
        <p:nvSpPr>
          <p:cNvPr id="41" name="shape-39">
            <a:extLst>
              <a:ext uri="{FF2B5EF4-FFF2-40B4-BE49-F238E27FC236}">
                <a16:creationId xmlns:a16="http://schemas.microsoft.com/office/drawing/2014/main" id="{10273941-F30F-454B-9C4C-BDB3EEB584D2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10972800" cy="476250"/>
          </a:xfrm>
          <a:prstGeom prst="rect">
            <a:avLst/>
          </a:prstGeom>
          <a:solidFill>
            <a:srgbClr val="F3F5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-40">
            <a:extLst>
              <a:ext uri="{FF2B5EF4-FFF2-40B4-BE49-F238E27FC236}">
                <a16:creationId xmlns:a16="http://schemas.microsoft.com/office/drawing/2014/main" id="{66D3849E-D0DB-4F68-9BCB-9A6FE731D144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-41">
            <a:extLst>
              <a:ext uri="{FF2B5EF4-FFF2-40B4-BE49-F238E27FC236}">
                <a16:creationId xmlns:a16="http://schemas.microsoft.com/office/drawing/2014/main" id="{E40A5A0C-E4B8-454B-859F-45F723DAAF2C}"/>
              </a:ext>
            </a:extLst>
          </p:cNvPr>
          <p:cNvSpPr>
            <a:spLocks noGrp="1"/>
          </p:cNvSpPr>
          <p:nvPr/>
        </p:nvSpPr>
        <p:spPr>
          <a:xfrm>
            <a:off x="723900" y="5019675"/>
            <a:ext cx="4953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B14</a:t>
            </a:r>
          </a:p>
        </p:txBody>
      </p:sp>
      <p:sp>
        <p:nvSpPr>
          <p:cNvPr id="44" name="text-42">
            <a:extLst>
              <a:ext uri="{FF2B5EF4-FFF2-40B4-BE49-F238E27FC236}">
                <a16:creationId xmlns:a16="http://schemas.microsoft.com/office/drawing/2014/main" id="{1BA44D47-586A-4E92-84D6-1CE0E3020425}"/>
              </a:ext>
            </a:extLst>
          </p:cNvPr>
          <p:cNvSpPr>
            <a:spLocks noGrp="1"/>
          </p:cNvSpPr>
          <p:nvPr/>
        </p:nvSpPr>
        <p:spPr>
          <a:xfrm>
            <a:off x="1447800" y="5019675"/>
            <a:ext cx="39624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視距</a:t>
            </a:r>
          </a:p>
        </p:txBody>
      </p:sp>
      <p:sp>
        <p:nvSpPr>
          <p:cNvPr id="45" name="text-43">
            <a:extLst>
              <a:ext uri="{FF2B5EF4-FFF2-40B4-BE49-F238E27FC236}">
                <a16:creationId xmlns:a16="http://schemas.microsoft.com/office/drawing/2014/main" id="{97F409DB-12F3-493F-BD79-BCD2D8F4936E}"/>
              </a:ext>
            </a:extLst>
          </p:cNvPr>
          <p:cNvSpPr>
            <a:spLocks noGrp="1"/>
          </p:cNvSpPr>
          <p:nvPr/>
        </p:nvSpPr>
        <p:spPr>
          <a:xfrm>
            <a:off x="5638800" y="5019675"/>
            <a:ext cx="44767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取得処理なし</a:t>
            </a:r>
          </a:p>
        </p:txBody>
      </p:sp>
      <p:sp>
        <p:nvSpPr>
          <p:cNvPr id="46" name="text-44">
            <a:extLst>
              <a:ext uri="{FF2B5EF4-FFF2-40B4-BE49-F238E27FC236}">
                <a16:creationId xmlns:a16="http://schemas.microsoft.com/office/drawing/2014/main" id="{A0FA3B64-9F25-4A2F-8A20-50F063191C81}"/>
              </a:ext>
            </a:extLst>
          </p:cNvPr>
          <p:cNvSpPr>
            <a:spLocks noGrp="1"/>
          </p:cNvSpPr>
          <p:nvPr/>
        </p:nvSpPr>
        <p:spPr>
          <a:xfrm>
            <a:off x="10344150" y="501967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「-」固定</a:t>
            </a:r>
          </a:p>
        </p:txBody>
      </p:sp>
      <p:sp>
        <p:nvSpPr>
          <p:cNvPr id="47" name="shape-45">
            <a:extLst>
              <a:ext uri="{FF2B5EF4-FFF2-40B4-BE49-F238E27FC236}">
                <a16:creationId xmlns:a16="http://schemas.microsoft.com/office/drawing/2014/main" id="{55911759-182B-4453-BE25-C565D553F601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972800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-46">
            <a:extLst>
              <a:ext uri="{FF2B5EF4-FFF2-40B4-BE49-F238E27FC236}">
                <a16:creationId xmlns:a16="http://schemas.microsoft.com/office/drawing/2014/main" id="{0A378E7E-F9D2-4A24-9BE6-9FC617CCACE1}"/>
              </a:ext>
            </a:extLst>
          </p:cNvPr>
          <p:cNvSpPr>
            <a:spLocks noGrp="1"/>
          </p:cNvSpPr>
          <p:nvPr/>
        </p:nvSpPr>
        <p:spPr>
          <a:xfrm>
            <a:off x="723900" y="5495925"/>
            <a:ext cx="4953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B15</a:t>
            </a:r>
          </a:p>
        </p:txBody>
      </p:sp>
      <p:sp>
        <p:nvSpPr>
          <p:cNvPr id="49" name="text-47">
            <a:extLst>
              <a:ext uri="{FF2B5EF4-FFF2-40B4-BE49-F238E27FC236}">
                <a16:creationId xmlns:a16="http://schemas.microsoft.com/office/drawing/2014/main" id="{16A93EB6-E08C-439B-9186-0E9AD4529D5F}"/>
              </a:ext>
            </a:extLst>
          </p:cNvPr>
          <p:cNvSpPr>
            <a:spLocks noGrp="1"/>
          </p:cNvSpPr>
          <p:nvPr/>
        </p:nvSpPr>
        <p:spPr>
          <a:xfrm>
            <a:off x="1447800" y="5495925"/>
            <a:ext cx="396240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合成勾配</a:t>
            </a:r>
          </a:p>
        </p:txBody>
      </p:sp>
      <p:sp>
        <p:nvSpPr>
          <p:cNvPr id="50" name="text-48">
            <a:extLst>
              <a:ext uri="{FF2B5EF4-FFF2-40B4-BE49-F238E27FC236}">
                <a16:creationId xmlns:a16="http://schemas.microsoft.com/office/drawing/2014/main" id="{6A554EF0-F816-4BC7-8F08-382E1E7149C1}"/>
              </a:ext>
            </a:extLst>
          </p:cNvPr>
          <p:cNvSpPr>
            <a:spLocks noGrp="1"/>
          </p:cNvSpPr>
          <p:nvPr/>
        </p:nvSpPr>
        <p:spPr>
          <a:xfrm>
            <a:off x="5638800" y="5495925"/>
            <a:ext cx="44767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取得処理なし</a:t>
            </a:r>
          </a:p>
        </p:txBody>
      </p:sp>
      <p:sp>
        <p:nvSpPr>
          <p:cNvPr id="51" name="text-49">
            <a:extLst>
              <a:ext uri="{FF2B5EF4-FFF2-40B4-BE49-F238E27FC236}">
                <a16:creationId xmlns:a16="http://schemas.microsoft.com/office/drawing/2014/main" id="{9CA1D755-B165-4B3C-9302-6C740D765671}"/>
              </a:ext>
            </a:extLst>
          </p:cNvPr>
          <p:cNvSpPr>
            <a:spLocks noGrp="1"/>
          </p:cNvSpPr>
          <p:nvPr/>
        </p:nvSpPr>
        <p:spPr>
          <a:xfrm>
            <a:off x="10344150" y="5495925"/>
            <a:ext cx="1123950" cy="2476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「-」固定</a:t>
            </a:r>
          </a:p>
        </p:txBody>
      </p:sp>
      <p:sp>
        <p:nvSpPr>
          <p:cNvPr id="52" name="shape-50">
            <a:extLst>
              <a:ext uri="{FF2B5EF4-FFF2-40B4-BE49-F238E27FC236}">
                <a16:creationId xmlns:a16="http://schemas.microsoft.com/office/drawing/2014/main" id="{7D8DBE57-503F-4E78-A07E-CBEF9B78E7A3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-51">
            <a:extLst>
              <a:ext uri="{FF2B5EF4-FFF2-40B4-BE49-F238E27FC236}">
                <a16:creationId xmlns:a16="http://schemas.microsoft.com/office/drawing/2014/main" id="{6BCCFDC1-3D0C-4DBF-A1A5-356BF82A0D84}"/>
              </a:ext>
            </a:extLst>
          </p:cNvPr>
          <p:cNvSpPr>
            <a:spLocks noGrp="1"/>
          </p:cNvSpPr>
          <p:nvPr/>
        </p:nvSpPr>
        <p:spPr>
          <a:xfrm>
            <a:off x="781050" y="6067425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固定の未対応は B6・B9・B10・B14・B15 の5欄。必要な値は人が確認して補う</a:t>
            </a:r>
          </a:p>
        </p:txBody>
      </p:sp>
      <p:sp>
        <p:nvSpPr>
          <p:cNvPr id="55" name="shape-3">
            <a:extLst>
              <a:ext uri="{FF2B5EF4-FFF2-40B4-BE49-F238E27FC236}">
                <a16:creationId xmlns:a16="http://schemas.microsoft.com/office/drawing/2014/main" id="{91D3AE5E-9174-171E-2EDA-EA90D6B4128D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41551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kicker-marker">
            <a:extLst>
              <a:ext uri="{FF2B5EF4-FFF2-40B4-BE49-F238E27FC236}">
                <a16:creationId xmlns:a16="http://schemas.microsoft.com/office/drawing/2014/main" id="{C4CDEE87-3529-404A-8FEF-DA297322F7C1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38100" cy="209550"/>
          </a:xfrm>
          <a:prstGeom prst="rect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4AC68D20-17A4-477B-9BCF-318D6EB5249C}"/>
              </a:ext>
            </a:extLst>
          </p:cNvPr>
          <p:cNvSpPr>
            <a:spLocks noGrp="1"/>
          </p:cNvSpPr>
          <p:nvPr/>
        </p:nvSpPr>
        <p:spPr>
          <a:xfrm>
            <a:off x="762000" y="352425"/>
            <a:ext cx="10477500" cy="2095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2</a:t>
            </a:r>
            <a:r>
              <a:rPr lang="en-US" sz="10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3</a:t>
            </a:r>
            <a:r>
              <a:rPr sz="1050" b="1" dirty="0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  APPENDIX / RECOVERY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F098C3F3-D9F8-4EC4-96D0-11E9A7B86331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1049000" cy="5715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付録：未取得・異常時は、元図と記録をそろえる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5C81E976-5F56-4288-97FF-933473258E69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図面・帳票・ログはローカルで保管し、組織内の管理担当者へ引き継ぎます。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F913D137-547A-4F9D-93CA-42074BE276E1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C7477"/>
                </a:solidFill>
                <a:latin typeface="Noto Sans JP"/>
                <a:ea typeface="Noto Sans JP"/>
                <a:cs typeface="Noto Sans JP"/>
              </a:rPr>
              <a:t>元DXF・出力Excel・ログと発生手順を保管してください。古いログは削除されるため、早めに保全します。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A5F63BBD-DD13-4AAD-868F-73F620936E4F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3810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>
              <a:defRPr sz="900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 dirty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2</a:t>
            </a:r>
            <a:r>
              <a:rPr lang="en-US" sz="900" b="0" dirty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3</a:t>
            </a:r>
            <a:endParaRPr sz="900" b="0" dirty="0">
              <a:solidFill>
                <a:srgbClr val="70777A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9" name="shape-7">
            <a:extLst>
              <a:ext uri="{FF2B5EF4-FFF2-40B4-BE49-F238E27FC236}">
                <a16:creationId xmlns:a16="http://schemas.microsoft.com/office/drawing/2014/main" id="{5CDFAF17-5B79-4141-AAB5-6C6B86465822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323850" cy="32385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78460EA8-6605-43BB-97E4-B704D11644A3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323850" cy="3238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5567C7DE-222E-4DD5-8821-94E5B49782B6}"/>
              </a:ext>
            </a:extLst>
          </p:cNvPr>
          <p:cNvSpPr>
            <a:spLocks noGrp="1"/>
          </p:cNvSpPr>
          <p:nvPr/>
        </p:nvSpPr>
        <p:spPr>
          <a:xfrm>
            <a:off x="609600" y="2771775"/>
            <a:ext cx="2428875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欄を特定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D53EAFE8-63AD-4F1C-BC8D-02699FA5FDBB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2428875" cy="4667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項目名・値・セル番地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D674BE62-7F2D-48A9-A782-C9A568A20C3C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2428875" cy="4667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「-」か異常値かを記録</a:t>
            </a:r>
          </a:p>
        </p:txBody>
      </p:sp>
      <p:sp>
        <p:nvSpPr>
          <p:cNvPr id="14" name="shape-12">
            <a:extLst>
              <a:ext uri="{FF2B5EF4-FFF2-40B4-BE49-F238E27FC236}">
                <a16:creationId xmlns:a16="http://schemas.microsoft.com/office/drawing/2014/main" id="{17467E31-EB15-406D-A0FB-EB5762823128}"/>
              </a:ext>
            </a:extLst>
          </p:cNvPr>
          <p:cNvSpPr>
            <a:spLocks noGrp="1"/>
          </p:cNvSpPr>
          <p:nvPr/>
        </p:nvSpPr>
        <p:spPr>
          <a:xfrm>
            <a:off x="609600" y="4657725"/>
            <a:ext cx="242887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-13">
            <a:extLst>
              <a:ext uri="{FF2B5EF4-FFF2-40B4-BE49-F238E27FC236}">
                <a16:creationId xmlns:a16="http://schemas.microsoft.com/office/drawing/2014/main" id="{19560B69-4DF5-44BA-8A78-35E119FD6254}"/>
              </a:ext>
            </a:extLst>
          </p:cNvPr>
          <p:cNvSpPr>
            <a:spLocks noGrp="1"/>
          </p:cNvSpPr>
          <p:nvPr/>
        </p:nvSpPr>
        <p:spPr>
          <a:xfrm>
            <a:off x="3152775" y="3733800"/>
            <a:ext cx="19050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-14">
            <a:extLst>
              <a:ext uri="{FF2B5EF4-FFF2-40B4-BE49-F238E27FC236}">
                <a16:creationId xmlns:a16="http://schemas.microsoft.com/office/drawing/2014/main" id="{8C360416-7C58-454F-B1CD-D0CA80D7304F}"/>
              </a:ext>
            </a:extLst>
          </p:cNvPr>
          <p:cNvSpPr>
            <a:spLocks noGrp="1"/>
          </p:cNvSpPr>
          <p:nvPr/>
        </p:nvSpPr>
        <p:spPr>
          <a:xfrm>
            <a:off x="3457575" y="2181225"/>
            <a:ext cx="323850" cy="32385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-15">
            <a:extLst>
              <a:ext uri="{FF2B5EF4-FFF2-40B4-BE49-F238E27FC236}">
                <a16:creationId xmlns:a16="http://schemas.microsoft.com/office/drawing/2014/main" id="{34D60708-FC50-4D32-8365-BF7DE9A90EC9}"/>
              </a:ext>
            </a:extLst>
          </p:cNvPr>
          <p:cNvSpPr>
            <a:spLocks noGrp="1"/>
          </p:cNvSpPr>
          <p:nvPr/>
        </p:nvSpPr>
        <p:spPr>
          <a:xfrm>
            <a:off x="3457575" y="2181225"/>
            <a:ext cx="323850" cy="3238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9D15953A-F13E-419C-A87D-FFF10ACBB7B0}"/>
              </a:ext>
            </a:extLst>
          </p:cNvPr>
          <p:cNvSpPr>
            <a:spLocks noGrp="1"/>
          </p:cNvSpPr>
          <p:nvPr/>
        </p:nvSpPr>
        <p:spPr>
          <a:xfrm>
            <a:off x="3457575" y="2771775"/>
            <a:ext cx="2428875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元図を保管</a:t>
            </a:r>
          </a:p>
        </p:txBody>
      </p:sp>
      <p:sp>
        <p:nvSpPr>
          <p:cNvPr id="19" name="text-17">
            <a:extLst>
              <a:ext uri="{FF2B5EF4-FFF2-40B4-BE49-F238E27FC236}">
                <a16:creationId xmlns:a16="http://schemas.microsoft.com/office/drawing/2014/main" id="{07C44D04-3A14-4B43-AF75-19D30F1A967D}"/>
              </a:ext>
            </a:extLst>
          </p:cNvPr>
          <p:cNvSpPr>
            <a:spLocks noGrp="1"/>
          </p:cNvSpPr>
          <p:nvPr/>
        </p:nvSpPr>
        <p:spPr>
          <a:xfrm>
            <a:off x="3457575" y="3486150"/>
            <a:ext cx="2428875" cy="4667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input と usedを確認</a:t>
            </a:r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9C42A5E1-73EB-4E0D-998B-84FEFE23F30A}"/>
              </a:ext>
            </a:extLst>
          </p:cNvPr>
          <p:cNvSpPr>
            <a:spLocks noGrp="1"/>
          </p:cNvSpPr>
          <p:nvPr/>
        </p:nvSpPr>
        <p:spPr>
          <a:xfrm>
            <a:off x="3457575" y="3952875"/>
            <a:ext cx="2428875" cy="4667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出力Excelも保管</a:t>
            </a:r>
          </a:p>
        </p:txBody>
      </p:sp>
      <p:sp>
        <p:nvSpPr>
          <p:cNvPr id="21" name="shape-19">
            <a:extLst>
              <a:ext uri="{FF2B5EF4-FFF2-40B4-BE49-F238E27FC236}">
                <a16:creationId xmlns:a16="http://schemas.microsoft.com/office/drawing/2014/main" id="{56F90C89-79E2-4F07-B5A5-7D3B4D07D32D}"/>
              </a:ext>
            </a:extLst>
          </p:cNvPr>
          <p:cNvSpPr>
            <a:spLocks noGrp="1"/>
          </p:cNvSpPr>
          <p:nvPr/>
        </p:nvSpPr>
        <p:spPr>
          <a:xfrm>
            <a:off x="3457575" y="4657725"/>
            <a:ext cx="242887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-20">
            <a:extLst>
              <a:ext uri="{FF2B5EF4-FFF2-40B4-BE49-F238E27FC236}">
                <a16:creationId xmlns:a16="http://schemas.microsoft.com/office/drawing/2014/main" id="{9A597D9B-4D66-4D8E-ACC2-777685C625C9}"/>
              </a:ext>
            </a:extLst>
          </p:cNvPr>
          <p:cNvSpPr>
            <a:spLocks noGrp="1"/>
          </p:cNvSpPr>
          <p:nvPr/>
        </p:nvSpPr>
        <p:spPr>
          <a:xfrm>
            <a:off x="6000750" y="3733800"/>
            <a:ext cx="19050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-21">
            <a:extLst>
              <a:ext uri="{FF2B5EF4-FFF2-40B4-BE49-F238E27FC236}">
                <a16:creationId xmlns:a16="http://schemas.microsoft.com/office/drawing/2014/main" id="{68293E34-DC0F-46B4-B122-7BCD1A254109}"/>
              </a:ext>
            </a:extLst>
          </p:cNvPr>
          <p:cNvSpPr>
            <a:spLocks noGrp="1"/>
          </p:cNvSpPr>
          <p:nvPr/>
        </p:nvSpPr>
        <p:spPr>
          <a:xfrm>
            <a:off x="6305550" y="2181225"/>
            <a:ext cx="323850" cy="32385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E96D55FB-C64D-48E2-8F23-02FD09501DEE}"/>
              </a:ext>
            </a:extLst>
          </p:cNvPr>
          <p:cNvSpPr>
            <a:spLocks noGrp="1"/>
          </p:cNvSpPr>
          <p:nvPr/>
        </p:nvSpPr>
        <p:spPr>
          <a:xfrm>
            <a:off x="6305550" y="2181225"/>
            <a:ext cx="323850" cy="3238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7CC35536-DDFD-4EE0-A064-596F27316F4B}"/>
              </a:ext>
            </a:extLst>
          </p:cNvPr>
          <p:cNvSpPr>
            <a:spLocks noGrp="1"/>
          </p:cNvSpPr>
          <p:nvPr/>
        </p:nvSpPr>
        <p:spPr>
          <a:xfrm>
            <a:off x="6305550" y="2771775"/>
            <a:ext cx="2428875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条件を確認</a:t>
            </a:r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BA55186E-CF5B-4528-A445-AA61FB82140A}"/>
              </a:ext>
            </a:extLst>
          </p:cNvPr>
          <p:cNvSpPr>
            <a:spLocks noGrp="1"/>
          </p:cNvSpPr>
          <p:nvPr/>
        </p:nvSpPr>
        <p:spPr>
          <a:xfrm>
            <a:off x="6305550" y="3486150"/>
            <a:ext cx="2428875" cy="4667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レイヤー・帯・表記</a:t>
            </a:r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9318989D-782C-4143-A0A1-F22511ED587B}"/>
              </a:ext>
            </a:extLst>
          </p:cNvPr>
          <p:cNvSpPr>
            <a:spLocks noGrp="1"/>
          </p:cNvSpPr>
          <p:nvPr/>
        </p:nvSpPr>
        <p:spPr>
          <a:xfrm>
            <a:off x="6305550" y="3952875"/>
            <a:ext cx="2428875" cy="4667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元図の位置関係を確認</a:t>
            </a:r>
          </a:p>
        </p:txBody>
      </p:sp>
      <p:sp>
        <p:nvSpPr>
          <p:cNvPr id="28" name="shape-26">
            <a:extLst>
              <a:ext uri="{FF2B5EF4-FFF2-40B4-BE49-F238E27FC236}">
                <a16:creationId xmlns:a16="http://schemas.microsoft.com/office/drawing/2014/main" id="{8E05F996-433D-475D-97AA-B99F95F4546E}"/>
              </a:ext>
            </a:extLst>
          </p:cNvPr>
          <p:cNvSpPr>
            <a:spLocks noGrp="1"/>
          </p:cNvSpPr>
          <p:nvPr/>
        </p:nvSpPr>
        <p:spPr>
          <a:xfrm>
            <a:off x="6305550" y="4657725"/>
            <a:ext cx="242887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-27">
            <a:extLst>
              <a:ext uri="{FF2B5EF4-FFF2-40B4-BE49-F238E27FC236}">
                <a16:creationId xmlns:a16="http://schemas.microsoft.com/office/drawing/2014/main" id="{590CA0C7-4BE5-480B-9DD5-07AD8481041F}"/>
              </a:ext>
            </a:extLst>
          </p:cNvPr>
          <p:cNvSpPr>
            <a:spLocks noGrp="1"/>
          </p:cNvSpPr>
          <p:nvPr/>
        </p:nvSpPr>
        <p:spPr>
          <a:xfrm>
            <a:off x="8848725" y="3733800"/>
            <a:ext cx="190500" cy="152400"/>
          </a:xfrm>
          <a:prstGeom prst="rightArrow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-28">
            <a:extLst>
              <a:ext uri="{FF2B5EF4-FFF2-40B4-BE49-F238E27FC236}">
                <a16:creationId xmlns:a16="http://schemas.microsoft.com/office/drawing/2014/main" id="{6EFBBEE8-7F3E-43C2-B589-A236BEB3266F}"/>
              </a:ext>
            </a:extLst>
          </p:cNvPr>
          <p:cNvSpPr>
            <a:spLocks noGrp="1"/>
          </p:cNvSpPr>
          <p:nvPr/>
        </p:nvSpPr>
        <p:spPr>
          <a:xfrm>
            <a:off x="9153525" y="2181225"/>
            <a:ext cx="323850" cy="323850"/>
          </a:xfrm>
          <a:prstGeom prst="ellipse">
            <a:avLst/>
          </a:prstGeom>
          <a:solidFill>
            <a:srgbClr val="01A17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-29">
            <a:extLst>
              <a:ext uri="{FF2B5EF4-FFF2-40B4-BE49-F238E27FC236}">
                <a16:creationId xmlns:a16="http://schemas.microsoft.com/office/drawing/2014/main" id="{E75233FE-8F50-4FB9-96E4-80B0AEAD764F}"/>
              </a:ext>
            </a:extLst>
          </p:cNvPr>
          <p:cNvSpPr>
            <a:spLocks noGrp="1"/>
          </p:cNvSpPr>
          <p:nvPr/>
        </p:nvSpPr>
        <p:spPr>
          <a:xfrm>
            <a:off x="9153525" y="2181225"/>
            <a:ext cx="323850" cy="3238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E3CA4996-F950-4DF4-86F9-0B940B82141C}"/>
              </a:ext>
            </a:extLst>
          </p:cNvPr>
          <p:cNvSpPr>
            <a:spLocks noGrp="1"/>
          </p:cNvSpPr>
          <p:nvPr/>
        </p:nvSpPr>
        <p:spPr>
          <a:xfrm>
            <a:off x="9153525" y="2771775"/>
            <a:ext cx="2428875" cy="409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担当者へ引継ぎ</a:t>
            </a:r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1511C662-C1E4-4880-90FC-C8B294FB40EE}"/>
              </a:ext>
            </a:extLst>
          </p:cNvPr>
          <p:cNvSpPr>
            <a:spLocks noGrp="1"/>
          </p:cNvSpPr>
          <p:nvPr/>
        </p:nvSpPr>
        <p:spPr>
          <a:xfrm>
            <a:off x="9153525" y="3486150"/>
            <a:ext cx="2428875" cy="4667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DXF・Excel・ログ</a:t>
            </a:r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8F699B59-72F2-432E-B650-C78E04406AC6}"/>
              </a:ext>
            </a:extLst>
          </p:cNvPr>
          <p:cNvSpPr>
            <a:spLocks noGrp="1"/>
          </p:cNvSpPr>
          <p:nvPr/>
        </p:nvSpPr>
        <p:spPr>
          <a:xfrm>
            <a:off x="9153525" y="3952875"/>
            <a:ext cx="2428875" cy="4667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70777A"/>
                </a:solidFill>
                <a:latin typeface="Noto Sans JP"/>
                <a:ea typeface="Noto Sans JP"/>
                <a:cs typeface="Noto Sans JP"/>
              </a:rPr>
              <a:t>発生手順をそろえる</a:t>
            </a:r>
          </a:p>
        </p:txBody>
      </p:sp>
      <p:sp>
        <p:nvSpPr>
          <p:cNvPr id="35" name="shape-33">
            <a:extLst>
              <a:ext uri="{FF2B5EF4-FFF2-40B4-BE49-F238E27FC236}">
                <a16:creationId xmlns:a16="http://schemas.microsoft.com/office/drawing/2014/main" id="{C660B622-8FF6-44AC-BE89-7E78810FA275}"/>
              </a:ext>
            </a:extLst>
          </p:cNvPr>
          <p:cNvSpPr>
            <a:spLocks noGrp="1"/>
          </p:cNvSpPr>
          <p:nvPr/>
        </p:nvSpPr>
        <p:spPr>
          <a:xfrm>
            <a:off x="9153525" y="4657725"/>
            <a:ext cx="242887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-34">
            <a:extLst>
              <a:ext uri="{FF2B5EF4-FFF2-40B4-BE49-F238E27FC236}">
                <a16:creationId xmlns:a16="http://schemas.microsoft.com/office/drawing/2014/main" id="{9719AA7F-17BC-404B-930E-DD7507543BA1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4476750" cy="40005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_logs / run_日時.log</a:t>
            </a:r>
          </a:p>
        </p:txBody>
      </p:sp>
      <p:sp>
        <p:nvSpPr>
          <p:cNvPr id="37" name="text-35">
            <a:extLst>
              <a:ext uri="{FF2B5EF4-FFF2-40B4-BE49-F238E27FC236}">
                <a16:creationId xmlns:a16="http://schemas.microsoft.com/office/drawing/2014/main" id="{DA95EDEB-477F-4BE6-B499-5C4527C6DEE0}"/>
              </a:ext>
            </a:extLst>
          </p:cNvPr>
          <p:cNvSpPr>
            <a:spLocks noGrp="1"/>
          </p:cNvSpPr>
          <p:nvPr/>
        </p:nvSpPr>
        <p:spPr>
          <a:xfrm>
            <a:off x="5238750" y="5105400"/>
            <a:ext cx="6343650" cy="42862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設定値も記録。7日より古いログは削除されるため、早めに保管。</a:t>
            </a:r>
          </a:p>
        </p:txBody>
      </p:sp>
      <p:sp>
        <p:nvSpPr>
          <p:cNvPr id="38" name="shape-36">
            <a:extLst>
              <a:ext uri="{FF2B5EF4-FFF2-40B4-BE49-F238E27FC236}">
                <a16:creationId xmlns:a16="http://schemas.microsoft.com/office/drawing/2014/main" id="{8433D2BA-B67C-4280-9156-24FC1FB792F2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57200"/>
          </a:xfrm>
          <a:prstGeom prst="rect">
            <a:avLst/>
          </a:prstGeom>
          <a:solidFill>
            <a:srgbClr val="E8F7F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-37">
            <a:extLst>
              <a:ext uri="{FF2B5EF4-FFF2-40B4-BE49-F238E27FC236}">
                <a16:creationId xmlns:a16="http://schemas.microsoft.com/office/drawing/2014/main" id="{FE73A91F-A0DB-4415-82F8-67AD36EA6B2E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629900" cy="2286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1A173"/>
                </a:solidFill>
                <a:latin typeface="Noto Sans JP"/>
                <a:ea typeface="Noto Sans JP"/>
                <a:cs typeface="Noto Sans JP"/>
              </a:rPr>
              <a:t>全件失敗でも「DXFなし」と表示され得る。完了画面だけで判断せず、ログと残存ファイルを確認する</a:t>
            </a:r>
          </a:p>
        </p:txBody>
      </p:sp>
      <p:sp>
        <p:nvSpPr>
          <p:cNvPr id="41" name="shape-3">
            <a:extLst>
              <a:ext uri="{FF2B5EF4-FFF2-40B4-BE49-F238E27FC236}">
                <a16:creationId xmlns:a16="http://schemas.microsoft.com/office/drawing/2014/main" id="{3B821BF7-3BB3-8503-F269-001FA099D90D}"/>
              </a:ext>
            </a:extLst>
          </p:cNvPr>
          <p:cNvSpPr>
            <a:spLocks noGrp="1"/>
          </p:cNvSpPr>
          <p:nvPr/>
        </p:nvSpPr>
        <p:spPr>
          <a:xfrm flipV="1">
            <a:off x="457200" y="6429375"/>
            <a:ext cx="11160000" cy="3600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917097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1896</Words>
  <Application>Microsoft Office PowerPoint</Application>
  <DocSecurity>0</DocSecurity>
  <PresentationFormat>ワイド画面</PresentationFormat>
  <Paragraphs>561</Paragraphs>
  <Slides>24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6" baseType="lpstr">
      <vt:lpstr>Noto Sans JP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Kyosuke Homma</cp:lastModifiedBy>
  <cp:revision>2</cp:revision>
  <dcterms:created xsi:type="dcterms:W3CDTF">2026-09-16T22:25:11Z</dcterms:created>
  <dcterms:modified xsi:type="dcterms:W3CDTF">2026-09-17T00:56:54Z</dcterms:modified>
</cp:coreProperties>
</file>